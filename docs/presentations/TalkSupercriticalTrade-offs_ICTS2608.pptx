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1"/>
  </p:notesMasterIdLst>
  <p:sldIdLst>
    <p:sldId id="256" r:id="rId2"/>
    <p:sldId id="368" r:id="rId3"/>
    <p:sldId id="346" r:id="rId4"/>
    <p:sldId id="326" r:id="rId5"/>
    <p:sldId id="399" r:id="rId6"/>
    <p:sldId id="401" r:id="rId7"/>
    <p:sldId id="400" r:id="rId8"/>
    <p:sldId id="402" r:id="rId9"/>
    <p:sldId id="374" r:id="rId10"/>
    <p:sldId id="307" r:id="rId11"/>
    <p:sldId id="380" r:id="rId12"/>
    <p:sldId id="378" r:id="rId13"/>
    <p:sldId id="373" r:id="rId14"/>
    <p:sldId id="379" r:id="rId15"/>
    <p:sldId id="398" r:id="rId16"/>
    <p:sldId id="397" r:id="rId17"/>
    <p:sldId id="376" r:id="rId18"/>
    <p:sldId id="315" r:id="rId19"/>
    <p:sldId id="348" r:id="rId20"/>
    <p:sldId id="330" r:id="rId21"/>
    <p:sldId id="404" r:id="rId22"/>
    <p:sldId id="386" r:id="rId23"/>
    <p:sldId id="335" r:id="rId24"/>
    <p:sldId id="318" r:id="rId25"/>
    <p:sldId id="319" r:id="rId26"/>
    <p:sldId id="321" r:id="rId27"/>
    <p:sldId id="334" r:id="rId28"/>
    <p:sldId id="329" r:id="rId29"/>
    <p:sldId id="314" r:id="rId30"/>
    <p:sldId id="403" r:id="rId31"/>
    <p:sldId id="351" r:id="rId32"/>
    <p:sldId id="394" r:id="rId33"/>
    <p:sldId id="381" r:id="rId34"/>
    <p:sldId id="393" r:id="rId35"/>
    <p:sldId id="391" r:id="rId36"/>
    <p:sldId id="382" r:id="rId37"/>
    <p:sldId id="369" r:id="rId38"/>
    <p:sldId id="395" r:id="rId39"/>
    <p:sldId id="361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28FB"/>
    <a:srgbClr val="FC560C"/>
    <a:srgbClr val="3DE741"/>
    <a:srgbClr val="FFCC00"/>
    <a:srgbClr val="14AC00"/>
    <a:srgbClr val="00B400"/>
    <a:srgbClr val="7030A0"/>
    <a:srgbClr val="00A000"/>
    <a:srgbClr val="00CC00"/>
    <a:srgbClr val="62C2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19" autoAdjust="0"/>
    <p:restoredTop sz="74288" autoAdjust="0"/>
  </p:normalViewPr>
  <p:slideViewPr>
    <p:cSldViewPr snapToGrid="0">
      <p:cViewPr varScale="1">
        <p:scale>
          <a:sx n="113" d="100"/>
          <a:sy n="113" d="100"/>
        </p:scale>
        <p:origin x="1090" y="65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B97188-824A-4B8C-BCDD-25926F1392A8}" type="datetimeFigureOut">
              <a:rPr lang="en-GB" smtClean="0"/>
              <a:t>19/08/2026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E4C4D5-B6FD-4167-8F9E-487CFF619BF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893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Thanks. </a:t>
            </a:r>
          </a:p>
          <a:p>
            <a:r>
              <a:rPr lang="en-GB" dirty="0"/>
              <a:t>Name </a:t>
            </a:r>
          </a:p>
          <a:p>
            <a:r>
              <a:rPr lang="en-GB" dirty="0"/>
              <a:t>Title </a:t>
            </a:r>
          </a:p>
          <a:p>
            <a:r>
              <a:rPr lang="en-GB" dirty="0"/>
              <a:t>Joint w/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72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Imagine comp model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Time, space,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Dashed lines: worst case upper bounds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Trivial brute force algo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Trade-off: can optimize both at the expense of the other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Impossible to optimize both: no instance for a given task in this region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22983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 his 2016 paper, ….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Red box extends beyond dashed line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e.g. space might need to be </a:t>
            </a:r>
            <a:r>
              <a:rPr lang="en-GB" dirty="0" err="1"/>
              <a:t>superlinear</a:t>
            </a:r>
            <a:r>
              <a:rPr lang="en-GB" dirty="0"/>
              <a:t>, or even </a:t>
            </a:r>
            <a:r>
              <a:rPr lang="en-GB" dirty="0" err="1"/>
              <a:t>superpolynomial</a:t>
            </a: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Later called supercritical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59658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40360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CE039-B401-1B07-119B-5B5784CFE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239F9D-F848-AF18-7017-D89F0047DD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E76D29-2F39-E1C8-C51F-2606ACDC8B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Any questions about this?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B6889-D1F0-7CE8-05B7-C91CE231BE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58635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zh-CN" dirty="0"/>
              <a:t>ANY QUESTIONS SO FAR?</a:t>
            </a:r>
          </a:p>
          <a:p>
            <a:endParaRPr lang="en-GB" altLang="zh-CN" dirty="0"/>
          </a:p>
          <a:p>
            <a:r>
              <a:rPr lang="en-GB" altLang="zh-CN" dirty="0"/>
              <a:t>Our result is that, as long as the parameter c is below k-1,</a:t>
            </a:r>
            <a:r>
              <a:rPr lang="en-GB" dirty="0"/>
              <a:t> the condensed </a:t>
            </a:r>
            <a:r>
              <a:rPr lang="en-GB" dirty="0" err="1"/>
              <a:t>Tseitin</a:t>
            </a:r>
            <a:r>
              <a:rPr lang="en-GB" dirty="0"/>
              <a:t> formula is refutable in width k+3, but if you stay in width </a:t>
            </a:r>
            <a:r>
              <a:rPr lang="en-GB" dirty="0" err="1"/>
              <a:t>k+c</a:t>
            </a:r>
            <a:r>
              <a:rPr lang="en-GB" dirty="0"/>
              <a:t> world, then any proof has depth that is formula size to the k over (c+1).</a:t>
            </a:r>
          </a:p>
          <a:p>
            <a:endParaRPr lang="en-GB" dirty="0"/>
          </a:p>
          <a:p>
            <a:r>
              <a:rPr lang="en-GB" dirty="0"/>
              <a:t>Here, we can take k to be n/(2 ln n), in order for the moduli to exist.</a:t>
            </a:r>
          </a:p>
          <a:p>
            <a:endParaRPr lang="en-GB" dirty="0"/>
          </a:p>
          <a:p>
            <a:r>
              <a:rPr lang="en-GB" dirty="0"/>
              <a:t>Then, as examples, if we let c be any constant, then the depth lower bound here is </a:t>
            </a:r>
            <a:r>
              <a:rPr lang="en-GB" dirty="0" err="1"/>
              <a:t>subexponential</a:t>
            </a:r>
            <a:r>
              <a:rPr lang="en-GB" dirty="0"/>
              <a:t> in the formula size.</a:t>
            </a:r>
          </a:p>
          <a:p>
            <a:r>
              <a:rPr lang="en-GB" dirty="0"/>
              <a:t>And c up to about 2k, the depth remains super-linear.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82370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Soundness: Can only derive correct things (Sat </a:t>
            </a:r>
            <a:r>
              <a:rPr lang="en-GB" dirty="0" err="1"/>
              <a:t>assn</a:t>
            </a:r>
            <a:r>
              <a:rPr lang="en-GB" dirty="0"/>
              <a:t> above is sat </a:t>
            </a:r>
            <a:r>
              <a:rPr lang="en-GB" dirty="0" err="1"/>
              <a:t>assn</a:t>
            </a:r>
            <a:r>
              <a:rPr lang="en-GB" dirty="0"/>
              <a:t> below), completeness.</a:t>
            </a:r>
          </a:p>
          <a:p>
            <a:endParaRPr lang="en-GB" dirty="0"/>
          </a:p>
          <a:p>
            <a:r>
              <a:rPr lang="en-GB" dirty="0"/>
              <a:t>Depth need not be larger…</a:t>
            </a:r>
          </a:p>
          <a:p>
            <a:endParaRPr lang="en-GB" dirty="0"/>
          </a:p>
          <a:p>
            <a:r>
              <a:rPr lang="en-GB" dirty="0"/>
              <a:t>Complexity of formula: minimum over all Refs</a:t>
            </a:r>
          </a:p>
          <a:p>
            <a:endParaRPr lang="en-GB" dirty="0"/>
          </a:p>
          <a:p>
            <a:r>
              <a:rPr lang="en-GB" dirty="0"/>
              <a:t>Interested in </a:t>
            </a:r>
            <a:r>
              <a:rPr lang="en-GB" dirty="0" err="1"/>
              <a:t>asymptotics</a:t>
            </a:r>
            <a:r>
              <a:rPr lang="en-GB" dirty="0"/>
              <a:t> for families  of formulas</a:t>
            </a:r>
          </a:p>
          <a:p>
            <a:endParaRPr lang="en-GB" dirty="0"/>
          </a:p>
          <a:p>
            <a:r>
              <a:rPr lang="en-GB" dirty="0"/>
              <a:t>Trivial worst case bounds: both width, depth: #vars, size. Not hard but no time.</a:t>
            </a:r>
          </a:p>
          <a:p>
            <a:endParaRPr lang="en-GB" dirty="0"/>
          </a:p>
          <a:p>
            <a:r>
              <a:rPr lang="en-GB" dirty="0"/>
              <a:t>Say what is treelike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340989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Depth </a:t>
            </a:r>
            <a:r>
              <a:rPr lang="en-GB" dirty="0" err="1"/>
              <a:t>witdth</a:t>
            </a:r>
            <a:r>
              <a:rPr lang="en-GB" dirty="0"/>
              <a:t>: …. Similar result for size…</a:t>
            </a:r>
          </a:p>
          <a:p>
            <a:r>
              <a:rPr lang="en-GB" dirty="0"/>
              <a:t>Treelike</a:t>
            </a:r>
          </a:p>
          <a:p>
            <a:r>
              <a:rPr lang="en-GB" dirty="0"/>
              <a:t>GIST: all supercritical in input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82370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3F503-4AE8-8495-6703-AEEDB2D67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60442CF-DE84-F567-5D7E-D1F9130A98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73C6385A-8571-E9E6-73DE-AE0D0C4A91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Can encode a CNF as linear inequalities,</a:t>
            </a:r>
          </a:p>
          <a:p>
            <a:r>
              <a:rPr lang="en-GB" dirty="0"/>
              <a:t>see here the Resolution proof from before </a:t>
            </a:r>
          </a:p>
          <a:p>
            <a:r>
              <a:rPr lang="en-GB" dirty="0"/>
              <a:t>( CP simulates Res )</a:t>
            </a:r>
          </a:p>
          <a:p>
            <a:r>
              <a:rPr lang="en-GB" dirty="0"/>
              <a:t>Captures reasoning done </a:t>
            </a:r>
          </a:p>
          <a:p>
            <a:r>
              <a:rPr lang="en-GB" dirty="0"/>
              <a:t>Division sound over integers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FE48642-62B2-5DB1-F440-A301FA12A4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30249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With proof systems at hand, define formula. One of main work horses in proof complexity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67544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3ED67-AB1B-8F87-C8BF-F88C5F830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A8859D-2718-6F31-086D-43FDCBC0E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CCBC1C-F4A3-B3A5-B9AC-92DB4F8629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39779-2164-991B-66C9-A30FC16120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12650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40446-37C1-FD28-D30F-8967871B5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3D228F-9788-1132-1F74-B48052E065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85DA5-6327-2DBD-822B-ACF86E0807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70BE14-7470-0032-E017-4EDFF618B3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12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17683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330AF-234E-A079-F460-58F608A85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043D31A-179B-3C77-9D7F-79FADDC108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CFBA950-BB00-1339-C087-65EBA0FA2A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C7030D7-215D-9C63-25F8-81B4368E40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37618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F09DC-AD6C-DA1C-D22F-FDB9BD531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AB264A-8E0F-CDE2-D0EC-B444EAAD2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507BD8-0AD0-688B-2F4D-373B0053E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20687E-F370-5FF6-1035-5D9DE41D6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773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6C1D7-4CB3-BA40-A393-7FBF84C1E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7F34DE-CA2E-AD7A-C126-7710DACC8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AAFDA1-C1C7-D457-5B50-70A5611DF8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Structure of our proof and paper</a:t>
            </a:r>
          </a:p>
          <a:p>
            <a:endParaRPr lang="en-GB" dirty="0"/>
          </a:p>
          <a:p>
            <a:r>
              <a:rPr lang="en-GB" dirty="0"/>
              <a:t>Little time: focus on width vs depth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4341DE-B23D-86C6-8700-03A1A9D42D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82876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E7BB0-E0C5-3C1B-7629-68DEA6826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7FEA36A8-CE21-6A59-EC92-746ED6C9BE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E448477-5F9C-97F2-5721-363C4CF2B5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Soundness: Can only derive correct things (Sat </a:t>
            </a:r>
            <a:r>
              <a:rPr lang="en-GB" dirty="0" err="1"/>
              <a:t>assn</a:t>
            </a:r>
            <a:r>
              <a:rPr lang="en-GB" dirty="0"/>
              <a:t> above is sat </a:t>
            </a:r>
            <a:r>
              <a:rPr lang="en-GB" dirty="0" err="1"/>
              <a:t>assn</a:t>
            </a:r>
            <a:r>
              <a:rPr lang="en-GB" dirty="0"/>
              <a:t> below), completeness.</a:t>
            </a:r>
          </a:p>
          <a:p>
            <a:endParaRPr lang="en-GB" dirty="0"/>
          </a:p>
          <a:p>
            <a:r>
              <a:rPr lang="en-GB" dirty="0"/>
              <a:t>Depth need not be larger…</a:t>
            </a:r>
          </a:p>
          <a:p>
            <a:endParaRPr lang="en-GB" dirty="0"/>
          </a:p>
          <a:p>
            <a:r>
              <a:rPr lang="en-GB" dirty="0"/>
              <a:t>Complexity of formula: minimum over all Refs</a:t>
            </a:r>
          </a:p>
          <a:p>
            <a:endParaRPr lang="en-GB" dirty="0"/>
          </a:p>
          <a:p>
            <a:r>
              <a:rPr lang="en-GB" dirty="0"/>
              <a:t>Interested in </a:t>
            </a:r>
            <a:r>
              <a:rPr lang="en-GB" dirty="0" err="1"/>
              <a:t>asymptotics</a:t>
            </a:r>
            <a:r>
              <a:rPr lang="en-GB" dirty="0"/>
              <a:t> for families  of formulas</a:t>
            </a:r>
          </a:p>
          <a:p>
            <a:endParaRPr lang="en-GB" dirty="0"/>
          </a:p>
          <a:p>
            <a:r>
              <a:rPr lang="en-GB" dirty="0"/>
              <a:t>Trivial worst case bounds: both width, depth: #vars, size. Not hard but no time.</a:t>
            </a:r>
          </a:p>
          <a:p>
            <a:endParaRPr lang="en-GB" dirty="0"/>
          </a:p>
          <a:p>
            <a:r>
              <a:rPr lang="en-GB" dirty="0"/>
              <a:t>Say what is treelike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4F54C4-F1E6-1A07-1E98-F5A2B320A8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16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53937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7EFBE-5E4E-D367-4E8B-5B6D5FFAB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0971E6-2FDF-45DD-2B9C-D79427A11C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69C22E-6F08-970D-F493-CF1E5B74D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6E231-6D19-2DCA-4B18-445AF9A887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56235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94855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3B9A3-FA7D-EFD3-EDE4-10D698C86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B42D52-51BE-F73A-6E83-A9AAEB61D1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F70DD-DEA2-4708-F3A3-C02EB0C4CB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Say correspondence not exact</a:t>
            </a:r>
          </a:p>
          <a:p>
            <a:r>
              <a:rPr lang="en-GB" dirty="0"/>
              <a:t>Say that L is the length of the cylinder, k the height</a:t>
            </a:r>
          </a:p>
          <a:p>
            <a:endParaRPr lang="en-GB" dirty="0"/>
          </a:p>
          <a:p>
            <a:r>
              <a:rPr lang="en-GB" dirty="0"/>
              <a:t>+3 is due to inexact correspondence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7F7E7F-BE55-1F78-4262-4440765F19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92410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78584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EEDAD-72D0-7548-E0FC-2F5BEA843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77A4AF-D1A1-FAD8-A469-D6EC66EB9C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5B1E89-DCB3-003F-F7C6-C76BB5725B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FB7AE-446E-9B67-BBD5-D44CC27368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972296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40863-EC2C-3B82-C76C-F929DDB47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FDF3CD-63BA-7F6D-C8A1-F5B8FF5543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212FBF-0371-F46F-D1E4-561FAC7176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CE67C3-A293-B1FB-B51B-EE8B3A5224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429021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23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79259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08267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83705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Say bullets, then</a:t>
            </a:r>
          </a:p>
          <a:p>
            <a:r>
              <a:rPr lang="en-GB"/>
              <a:t>Virtual cordon: what could the cops occupy in the next move (while maintaining positions on unique rows)?</a:t>
            </a:r>
          </a:p>
          <a:p>
            <a:r>
              <a:rPr lang="en-GB"/>
              <a:t>Cone shape: condition on unique rows.</a:t>
            </a:r>
          </a:p>
          <a:p>
            <a:r>
              <a:rPr lang="en-GB"/>
              <a:t>Unique rows: will force to move slowly (choice of moduli)</a:t>
            </a:r>
          </a:p>
          <a:p>
            <a:r>
              <a:rPr lang="en-GB"/>
              <a:t>Note that our choice of c =&gt; unique row</a:t>
            </a:r>
          </a:p>
          <a:p>
            <a:r>
              <a:rPr lang="en-GB"/>
              <a:t>Induction on the rounds: Initially at least half away, little progress per round.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28320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For “full consumer information”, no time to get into details; stay tuned for part 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314151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107925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29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95560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6C1D7-4CB3-BA40-A393-7FBF84C1E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7F34DE-CA2E-AD7A-C126-7710DACC82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AAFDA1-C1C7-D457-5B50-70A5611DF8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Structure of our proof and paper</a:t>
            </a:r>
          </a:p>
          <a:p>
            <a:endParaRPr lang="en-GB" dirty="0"/>
          </a:p>
          <a:p>
            <a:r>
              <a:rPr lang="en-GB" dirty="0"/>
              <a:t>Little time: focus on width vs depth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4341DE-B23D-86C6-8700-03A1A9D42D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30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82876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0DE5E-9797-DE58-7E73-23A532B6A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08DB3E-94A8-CE29-2989-94CEDD8CEB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963CC9-2B45-2EBC-34EB-21714696F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E5EC54-46F3-0920-3CB3-10504C8C82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31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568318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44DA2-1C0B-25E8-61BF-4C5E53F0C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A05A20-A949-48DB-BE85-FE93BBDD5F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9B12A2-5514-F6A2-9847-C739B2C72F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Explanation for functions, can be extended to CNFs in straightforward way.  </a:t>
            </a:r>
          </a:p>
          <a:p>
            <a:r>
              <a:rPr lang="en-GB" dirty="0"/>
              <a:t>Compose with index function.</a:t>
            </a:r>
          </a:p>
          <a:p>
            <a:r>
              <a:rPr lang="en-GB" dirty="0"/>
              <a:t>Input has two parts: … ; Alice gets ….. Bob gets …. Alice picks out a position in Bobs string.</a:t>
            </a:r>
          </a:p>
          <a:p>
            <a:r>
              <a:rPr lang="en-GB" dirty="0"/>
              <a:t>N inputs </a:t>
            </a:r>
            <a:r>
              <a:rPr lang="en-GB" dirty="0">
                <a:sym typeface="Wingdings" panose="05000000000000000000" pitchFamily="2" charset="2"/>
              </a:rPr>
              <a:t> need to do this n times.</a:t>
            </a:r>
          </a:p>
          <a:p>
            <a:r>
              <a:rPr lang="en-GB" dirty="0">
                <a:sym typeface="Wingdings" panose="05000000000000000000" pitchFamily="2" charset="2"/>
              </a:rPr>
              <a:t>Get function f </a:t>
            </a:r>
            <a:r>
              <a:rPr lang="en-GB" dirty="0" err="1">
                <a:sym typeface="Wingdings" panose="05000000000000000000" pitchFamily="2" charset="2"/>
              </a:rPr>
              <a:t>circ</a:t>
            </a:r>
            <a:r>
              <a:rPr lang="en-GB" dirty="0">
                <a:sym typeface="Wingdings" panose="05000000000000000000" pitchFamily="2" charset="2"/>
              </a:rPr>
              <a:t> IND taking inputs from …, first compute IND for all n bits, then apply f.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B42EA-8B7C-86DC-C66D-F16E00065F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32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60309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A063B-E260-120D-DF8A-D0357AE33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937C6C-6FB8-6725-72B2-51C74C9C5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D66F0A-22B7-37DD-358C-E18FEC054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9CBB9E-C2D8-0F2F-1E7F-C32CDC2B80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33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10361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6F191-BC1E-FD0C-3550-FFB941F27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690B13-0588-1FCD-99D8-393110FFA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584B2E-30CF-8E59-EB26-0CF1FF8E8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2D4C95-722A-1C93-D2CC-72C083716F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34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853497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0035F-A04A-3D24-2C3B-4F9D43B86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829835-B893-96ED-5039-4F6A835420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293645-D60D-0F87-3BAB-81FBB1EAB6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1DF49D-6D22-A5DD-88F1-D388311DDF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35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642946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4E45-0481-133B-0892-3208D359F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021E62-D4BE-A2AF-570A-7023E4154F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FC383B-B76E-7CF8-3418-CCB2126D2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C76D1A-AF03-6EAC-5615-0AC0F0134D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36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66924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65208-38FC-BD7F-3F69-B1B3EBB7B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F7B53A-77DD-C440-8491-6666654036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F54A9D-C019-BEAA-8BCC-1703987160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79CCBE-5A8D-B54F-F117-AF8A8635C7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37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28852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70278-CF01-15E4-1400-EAE25F22C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C9CA70-62DC-35D9-3B60-36D9B9AC3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3DD493-12F9-540D-2BD4-7319F12589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61B0A0-D24F-C1C7-AC8F-5327B32170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38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157275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A25E4-3660-A921-4A9F-558C75BF0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2B6FA9-B2D6-9563-4206-BB7811BDFE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2407D4-A039-B62C-EA79-79850967D7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As mentioned before, here are some directions for future research. </a:t>
            </a:r>
          </a:p>
          <a:p>
            <a:r>
              <a:rPr lang="en-GB" dirty="0"/>
              <a:t>To summarize ….. Main open problems: </a:t>
            </a:r>
            <a:r>
              <a:rPr lang="en-GB" dirty="0" err="1"/>
              <a:t>sc</a:t>
            </a:r>
            <a:r>
              <a:rPr lang="en-GB" dirty="0"/>
              <a:t> trade-offs for PM, </a:t>
            </a:r>
            <a:r>
              <a:rPr lang="en-GB" dirty="0" err="1"/>
              <a:t>Tseitin</a:t>
            </a:r>
            <a:r>
              <a:rPr lang="en-GB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CB330-8CBA-6689-09FC-008B542902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E4C4D5-B6FD-4167-8F9E-487CFF619BFD}" type="slidenum">
              <a:rPr lang="en-GB" smtClean="0"/>
              <a:t>39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37514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7EB4C-CF70-EF39-6015-D60F80F24D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3A7366-2930-1B20-D299-F88F162A8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82D1D-09DE-8C26-7FD2-AC28E88EF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568E6-C317-0443-8D42-19A4098865EE}" type="datetime1">
              <a:rPr lang="en-GB" smtClean="0"/>
              <a:t>19/08/2026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D64B6-F75F-5F6C-A2D6-0CE1DE381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D.A. Janett -- Supercritical </a:t>
            </a:r>
            <a:r>
              <a:rPr lang="en-GB" dirty="0" err="1"/>
              <a:t>Tradeoffs</a:t>
            </a:r>
            <a:r>
              <a:rPr lang="en-GB" dirty="0"/>
              <a:t> For Resolution Depth-Width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36A51-E7EB-9699-39BA-A429FA7AD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41408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17BA3-E186-E718-B402-0BEC4AB23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768CB-41FF-452E-059C-5EE4B3743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5E6E31-F144-3770-8E76-935AB055B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904780-FFA4-3045-A9DF-411202C2E85B}" type="datetime1">
              <a:rPr lang="en-GB" smtClean="0"/>
              <a:t>19/08/2026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A88C09-58F8-84D4-C930-D7578E24F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D.A. Janett -- Supercritical </a:t>
            </a:r>
            <a:r>
              <a:rPr lang="en-GB" dirty="0" err="1"/>
              <a:t>Tradeoffs</a:t>
            </a:r>
            <a:r>
              <a:rPr lang="en-GB" dirty="0"/>
              <a:t> For Resolution Depth-Width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25ACC-3344-7FD9-8B0B-FF14F68A2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4618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CF9BB-6FBD-88C5-8A39-2681F70B4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B44FBC-5446-0EDB-CF07-38C568681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B2EEE-77EC-CE0E-6701-C2A95B009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AD80E-E91F-984B-BCB6-AD09BB248129}" type="datetime1">
              <a:rPr lang="en-GB" smtClean="0"/>
              <a:t>19/08/2026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EDA37-4F00-DC14-BC69-9F993DED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D.A. Janett -- Supercritical </a:t>
            </a:r>
            <a:r>
              <a:rPr lang="en-GB" dirty="0" err="1"/>
              <a:t>Tradeoffs</a:t>
            </a:r>
            <a:r>
              <a:rPr lang="en-GB" dirty="0"/>
              <a:t> For Resolution Depth-Width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AB7C7-8E69-0AC8-78D6-5A1EDF9CD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677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D17C3-3822-0EC8-BAE5-93560A620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D9D547-AC85-C678-2C49-E6ABF17224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57053-73B9-A8DC-141E-23791DD940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67064-C640-7082-0E41-EAAB7D174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52DF7-B166-3041-9FF2-B1B38309C640}" type="datetime1">
              <a:rPr lang="en-GB" smtClean="0"/>
              <a:t>19/08/2026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A645B1-2C08-DEEE-D55F-00C0EF881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D.A. Janett -- Supercritical </a:t>
            </a:r>
            <a:r>
              <a:rPr lang="en-GB" dirty="0" err="1"/>
              <a:t>Tradeoffs</a:t>
            </a:r>
            <a:r>
              <a:rPr lang="en-GB" dirty="0"/>
              <a:t> For Resolution Depth-Width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3BF9D-B0E0-7C4A-0CD7-6D1E974E1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2340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E98E9-015F-F4EB-29DE-6407C6E06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72440D-BB28-7B8C-47D5-591B90C08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D87B68-BD55-F4B0-13FF-B94226FD4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2758AC-A1CD-4058-C298-0CA9121498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20147F-D5CA-6ED1-2B91-E8581E230B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B9E136-D2DB-CEA1-34CB-126B19B78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B79EF-93CB-E44B-8223-D211B2B620EA}" type="datetime1">
              <a:rPr lang="en-GB" smtClean="0"/>
              <a:t>19/08/2026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206719-9FB1-B5F9-DB0B-DCB8D1537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D.A. Janett -- Supercritical </a:t>
            </a:r>
            <a:r>
              <a:rPr lang="en-GB" dirty="0" err="1"/>
              <a:t>Tradeoffs</a:t>
            </a:r>
            <a:r>
              <a:rPr lang="en-GB" dirty="0"/>
              <a:t> For Resolution Depth-Width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00D878-FECB-8818-9F81-AA42F58B9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6607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79107-FA80-A0AE-14B4-E7DBAC8D3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60952E-976D-0913-5FA6-CB755A577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CBCC7-B367-8042-B921-CB5D15F1F8AD}" type="datetime1">
              <a:rPr lang="en-GB" smtClean="0"/>
              <a:t>19/08/2026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A7100C-E176-076B-B7D3-9E5D12D6A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D.A. Janett -- Supercritical </a:t>
            </a:r>
            <a:r>
              <a:rPr lang="en-GB" dirty="0" err="1"/>
              <a:t>Tradeoffs</a:t>
            </a:r>
            <a:r>
              <a:rPr lang="en-GB" dirty="0"/>
              <a:t> For Resolution Depth-Width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E66D20-15C9-88BF-2AF2-04B3470E1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38687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BB5804-6639-D198-69ED-B96F5BC96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87C36-4578-3D48-9DD9-445303BB9332}" type="datetime1">
              <a:rPr lang="en-GB" smtClean="0"/>
              <a:t>19/08/2026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47F572-41B0-0980-EF1E-1C4C9616F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D.A. Janett -- Supercritical </a:t>
            </a:r>
            <a:r>
              <a:rPr lang="en-GB" dirty="0" err="1"/>
              <a:t>Tradeoffs</a:t>
            </a:r>
            <a:r>
              <a:rPr lang="en-GB" dirty="0"/>
              <a:t> For Resolution Depth-Width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6FD89-A9FD-B9A3-615D-CAC5C06FA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745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9A8DD-96DB-C4FD-0093-FE8150335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3255E-DAE1-16C0-0195-623381BD9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8B94E8-174C-3BF8-C500-228EA6EB9A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D5AA00-34A0-3AC2-7A70-5A356F58F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EFEEC1-8CF3-FD45-B9C7-4CE2323CB8D8}" type="datetime1">
              <a:rPr lang="en-GB" smtClean="0"/>
              <a:t>19/08/2026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F78CB9-9908-27D5-7094-5209AE096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D.A. Janett -- Supercritical </a:t>
            </a:r>
            <a:r>
              <a:rPr lang="en-GB" dirty="0" err="1"/>
              <a:t>Tradeoffs</a:t>
            </a:r>
            <a:r>
              <a:rPr lang="en-GB" dirty="0"/>
              <a:t> For Resolution Depth-Width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9E628A-500E-2FDA-CA2D-F370A04A9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3419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0F57F-4ABC-CF77-F253-B7304880D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E5AC76-ABB0-748F-A277-E43EC53212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F65322-BA24-5A4B-D100-E1975A6E6D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F0078-41FD-6555-F906-F1A9297C6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1016B-1D87-2242-8347-0347BDBDBBD0}" type="datetime1">
              <a:rPr lang="en-GB" smtClean="0"/>
              <a:t>19/08/2026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A0BA9-C089-AA2A-1625-822B5D843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D.A. Janett -- Supercritical </a:t>
            </a:r>
            <a:r>
              <a:rPr lang="en-GB" dirty="0" err="1"/>
              <a:t>Tradeoffs</a:t>
            </a:r>
            <a:r>
              <a:rPr lang="en-GB" dirty="0"/>
              <a:t> For Resolution Depth-Width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0021F-60A4-7004-1E00-4F4E0E971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0734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7C6BE-2E91-EB8A-3FE8-A11CE4A42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0BD31C-3DEB-C774-FCFF-1899625D10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92D4F-7269-36AE-A5B8-8CF881808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C5569-69FB-C342-BFA6-30E645E7CBC3}" type="datetime1">
              <a:rPr lang="en-GB" smtClean="0"/>
              <a:t>19/08/2026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6D77C-0B9F-9538-1C2E-2339B873E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D.A. Janett -- Supercritical </a:t>
            </a:r>
            <a:r>
              <a:rPr lang="en-GB" dirty="0" err="1"/>
              <a:t>Tradeoffs</a:t>
            </a:r>
            <a:r>
              <a:rPr lang="en-GB" dirty="0"/>
              <a:t> For Resolution Depth-Width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36872-EF63-8123-6E0E-7C9D9C2BF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8183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68CFF0-5524-6F8B-3165-0B463BA740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ADDBD4-95C2-DCB6-79AD-3D505307ED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B5EDC0-B987-E16E-4622-2D0AD59CE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30938-6F25-574A-A432-10F8FC337AFE}" type="datetime1">
              <a:rPr lang="en-GB" smtClean="0"/>
              <a:t>19/08/2026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13008-2B9E-B599-0A4D-CBAEB1D7A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D.A. Janett -- Supercritical </a:t>
            </a:r>
            <a:r>
              <a:rPr lang="en-GB" dirty="0" err="1"/>
              <a:t>Tradeoffs</a:t>
            </a:r>
            <a:r>
              <a:rPr lang="en-GB" dirty="0"/>
              <a:t> For Resolution Depth-Width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729C4-2B6D-3D11-F68B-CC1D933BE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35032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93AE7B-9788-6D81-8770-D6CF129CA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41C990-F08E-9894-A682-72CD94C2D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F3F89-C210-A43A-0E92-A8B349E99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368C67-A329-6B44-BF02-393CE39DE9B7}" type="datetime1">
              <a:rPr lang="en-GB" smtClean="0"/>
              <a:t>19/08/2026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28746-B708-9484-5397-BF658886AE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 dirty="0"/>
              <a:t>D.A. Janett -- Supercritical </a:t>
            </a:r>
            <a:r>
              <a:rPr lang="en-GB" dirty="0" err="1"/>
              <a:t>Tradeoffs</a:t>
            </a:r>
            <a:r>
              <a:rPr lang="en-GB" dirty="0"/>
              <a:t> For Resolution Depth-Width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DC0EA-A011-ED80-F99C-2978F3430E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30D112-B9FF-4E08-90B6-37EA964743A0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7958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3" Type="http://schemas.openxmlformats.org/officeDocument/2006/relationships/image" Target="../media/image28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45.png"/><Relationship Id="rId20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19" Type="http://schemas.openxmlformats.org/officeDocument/2006/relationships/image" Target="../media/image48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5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6.png"/><Relationship Id="rId18" Type="http://schemas.openxmlformats.org/officeDocument/2006/relationships/image" Target="../media/image71.png"/><Relationship Id="rId3" Type="http://schemas.openxmlformats.org/officeDocument/2006/relationships/image" Target="../media/image311.png"/><Relationship Id="rId21" Type="http://schemas.openxmlformats.org/officeDocument/2006/relationships/image" Target="../media/image74.png"/><Relationship Id="rId7" Type="http://schemas.openxmlformats.org/officeDocument/2006/relationships/image" Target="../media/image32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5" Type="http://schemas.openxmlformats.org/officeDocument/2006/relationships/image" Target="../media/image49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69.png"/><Relationship Id="rId20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24" Type="http://schemas.openxmlformats.org/officeDocument/2006/relationships/image" Target="../media/image77.png"/><Relationship Id="rId5" Type="http://schemas.openxmlformats.org/officeDocument/2006/relationships/image" Target="../media/image310.png"/><Relationship Id="rId15" Type="http://schemas.openxmlformats.org/officeDocument/2006/relationships/image" Target="../media/image68.png"/><Relationship Id="rId23" Type="http://schemas.openxmlformats.org/officeDocument/2006/relationships/image" Target="../media/image76.png"/><Relationship Id="rId10" Type="http://schemas.openxmlformats.org/officeDocument/2006/relationships/image" Target="../media/image63.png"/><Relationship Id="rId19" Type="http://schemas.openxmlformats.org/officeDocument/2006/relationships/image" Target="../media/image72.png"/><Relationship Id="rId4" Type="http://schemas.openxmlformats.org/officeDocument/2006/relationships/image" Target="../media/image300.png"/><Relationship Id="rId9" Type="http://schemas.openxmlformats.org/officeDocument/2006/relationships/image" Target="../media/image58.png"/><Relationship Id="rId14" Type="http://schemas.openxmlformats.org/officeDocument/2006/relationships/image" Target="../media/image67.png"/><Relationship Id="rId22" Type="http://schemas.openxmlformats.org/officeDocument/2006/relationships/image" Target="../media/image7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6.png"/><Relationship Id="rId3" Type="http://schemas.openxmlformats.org/officeDocument/2006/relationships/image" Target="../media/image60.png"/><Relationship Id="rId7" Type="http://schemas.openxmlformats.org/officeDocument/2006/relationships/image" Target="../media/image80.png"/><Relationship Id="rId12" Type="http://schemas.openxmlformats.org/officeDocument/2006/relationships/image" Target="../media/image85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png"/><Relationship Id="rId11" Type="http://schemas.openxmlformats.org/officeDocument/2006/relationships/image" Target="../media/image84.png"/><Relationship Id="rId5" Type="http://schemas.openxmlformats.org/officeDocument/2006/relationships/image" Target="../media/image62.png"/><Relationship Id="rId15" Type="http://schemas.openxmlformats.org/officeDocument/2006/relationships/image" Target="../media/image88.png"/><Relationship Id="rId10" Type="http://schemas.openxmlformats.org/officeDocument/2006/relationships/image" Target="../media/image83.png"/><Relationship Id="rId4" Type="http://schemas.openxmlformats.org/officeDocument/2006/relationships/image" Target="../media/image61.png"/><Relationship Id="rId9" Type="http://schemas.openxmlformats.org/officeDocument/2006/relationships/image" Target="../media/image82.png"/><Relationship Id="rId14" Type="http://schemas.openxmlformats.org/officeDocument/2006/relationships/image" Target="../media/image8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13" Type="http://schemas.openxmlformats.org/officeDocument/2006/relationships/image" Target="../media/image103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12" Type="http://schemas.openxmlformats.org/officeDocument/2006/relationships/image" Target="../media/image5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11" Type="http://schemas.openxmlformats.org/officeDocument/2006/relationships/image" Target="../media/image101.png"/><Relationship Id="rId5" Type="http://schemas.openxmlformats.org/officeDocument/2006/relationships/image" Target="../media/image95.png"/><Relationship Id="rId15" Type="http://schemas.openxmlformats.org/officeDocument/2006/relationships/image" Target="../media/image105.png"/><Relationship Id="rId10" Type="http://schemas.openxmlformats.org/officeDocument/2006/relationships/image" Target="../media/image100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Relationship Id="rId14" Type="http://schemas.openxmlformats.org/officeDocument/2006/relationships/image" Target="../media/image10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61.png"/><Relationship Id="rId25" Type="http://schemas.openxmlformats.org/officeDocument/2006/relationships/image" Target="../media/image450.png"/><Relationship Id="rId2" Type="http://schemas.openxmlformats.org/officeDocument/2006/relationships/notesSlide" Target="../notesSlides/notesSlide16.xml"/><Relationship Id="rId29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441.png"/><Relationship Id="rId23" Type="http://schemas.openxmlformats.org/officeDocument/2006/relationships/image" Target="../media/image430.png"/><Relationship Id="rId28" Type="http://schemas.openxmlformats.org/officeDocument/2006/relationships/image" Target="../media/image480.png"/><Relationship Id="rId31" Type="http://schemas.openxmlformats.org/officeDocument/2006/relationships/image" Target="../media/image91.png"/><Relationship Id="rId27" Type="http://schemas.openxmlformats.org/officeDocument/2006/relationships/image" Target="../media/image470.png"/><Relationship Id="rId30" Type="http://schemas.openxmlformats.org/officeDocument/2006/relationships/image" Target="../media/image7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0.png"/><Relationship Id="rId5" Type="http://schemas.openxmlformats.org/officeDocument/2006/relationships/image" Target="../media/image510.png"/><Relationship Id="rId4" Type="http://schemas.openxmlformats.org/officeDocument/2006/relationships/image" Target="../media/image44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.png"/><Relationship Id="rId13" Type="http://schemas.openxmlformats.org/officeDocument/2006/relationships/image" Target="../media/image116.png"/><Relationship Id="rId3" Type="http://schemas.openxmlformats.org/officeDocument/2006/relationships/image" Target="../media/image102.png"/><Relationship Id="rId7" Type="http://schemas.openxmlformats.org/officeDocument/2006/relationships/image" Target="../media/image110.png"/><Relationship Id="rId12" Type="http://schemas.openxmlformats.org/officeDocument/2006/relationships/image" Target="../media/image1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0.png"/><Relationship Id="rId11" Type="http://schemas.openxmlformats.org/officeDocument/2006/relationships/image" Target="../media/image114.png"/><Relationship Id="rId5" Type="http://schemas.openxmlformats.org/officeDocument/2006/relationships/image" Target="../media/image109.png"/><Relationship Id="rId10" Type="http://schemas.openxmlformats.org/officeDocument/2006/relationships/image" Target="../media/image113.png"/><Relationship Id="rId4" Type="http://schemas.openxmlformats.org/officeDocument/2006/relationships/image" Target="../media/image108.png"/><Relationship Id="rId9" Type="http://schemas.openxmlformats.org/officeDocument/2006/relationships/image" Target="../media/image11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1.png"/><Relationship Id="rId13" Type="http://schemas.openxmlformats.org/officeDocument/2006/relationships/image" Target="../media/image670.png"/><Relationship Id="rId3" Type="http://schemas.openxmlformats.org/officeDocument/2006/relationships/image" Target="../media/image610.png"/><Relationship Id="rId7" Type="http://schemas.openxmlformats.org/officeDocument/2006/relationships/image" Target="../media/image110.png"/><Relationship Id="rId12" Type="http://schemas.openxmlformats.org/officeDocument/2006/relationships/image" Target="../media/image660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6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png"/><Relationship Id="rId11" Type="http://schemas.openxmlformats.org/officeDocument/2006/relationships/image" Target="../media/image650.png"/><Relationship Id="rId5" Type="http://schemas.openxmlformats.org/officeDocument/2006/relationships/image" Target="../media/image102.png"/><Relationship Id="rId15" Type="http://schemas.openxmlformats.org/officeDocument/2006/relationships/image" Target="../media/image700.png"/><Relationship Id="rId10" Type="http://schemas.openxmlformats.org/officeDocument/2006/relationships/image" Target="../media/image640.png"/><Relationship Id="rId4" Type="http://schemas.openxmlformats.org/officeDocument/2006/relationships/image" Target="../media/image620.png"/><Relationship Id="rId9" Type="http://schemas.openxmlformats.org/officeDocument/2006/relationships/image" Target="../media/image630.png"/><Relationship Id="rId14" Type="http://schemas.openxmlformats.org/officeDocument/2006/relationships/image" Target="../media/image68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0.png"/><Relationship Id="rId3" Type="http://schemas.openxmlformats.org/officeDocument/2006/relationships/image" Target="../media/image102.png"/><Relationship Id="rId7" Type="http://schemas.openxmlformats.org/officeDocument/2006/relationships/image" Target="../media/image117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0.png"/><Relationship Id="rId5" Type="http://schemas.openxmlformats.org/officeDocument/2006/relationships/image" Target="../media/image1150.png"/><Relationship Id="rId4" Type="http://schemas.openxmlformats.org/officeDocument/2006/relationships/image" Target="../media/image117.png"/><Relationship Id="rId9" Type="http://schemas.openxmlformats.org/officeDocument/2006/relationships/image" Target="../media/image1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0.png"/><Relationship Id="rId4" Type="http://schemas.openxmlformats.org/officeDocument/2006/relationships/image" Target="../media/image118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2.png"/><Relationship Id="rId3" Type="http://schemas.openxmlformats.org/officeDocument/2006/relationships/image" Target="../media/image102.png"/><Relationship Id="rId7" Type="http://schemas.microsoft.com/office/2007/relationships/hdphoto" Target="../media/hdphoto1.wdp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5" Type="http://schemas.openxmlformats.org/officeDocument/2006/relationships/image" Target="../media/image110.png"/><Relationship Id="rId4" Type="http://schemas.openxmlformats.org/officeDocument/2006/relationships/image" Target="../media/image115.png"/><Relationship Id="rId9" Type="http://schemas.openxmlformats.org/officeDocument/2006/relationships/image" Target="../media/image1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5" Type="http://schemas.openxmlformats.org/officeDocument/2006/relationships/image" Target="../media/image136.png"/><Relationship Id="rId4" Type="http://schemas.openxmlformats.org/officeDocument/2006/relationships/image" Target="../media/image10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7" Type="http://schemas.microsoft.com/office/2007/relationships/hdphoto" Target="../media/hdphoto1.wdp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5" Type="http://schemas.openxmlformats.org/officeDocument/2006/relationships/image" Target="../media/image110.png"/><Relationship Id="rId4" Type="http://schemas.openxmlformats.org/officeDocument/2006/relationships/image" Target="../media/image1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15.png"/><Relationship Id="rId4" Type="http://schemas.openxmlformats.org/officeDocument/2006/relationships/image" Target="../media/image102.png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80.png"/><Relationship Id="rId3" Type="http://schemas.openxmlformats.org/officeDocument/2006/relationships/image" Target="../media/image139.png"/><Relationship Id="rId12" Type="http://schemas.openxmlformats.org/officeDocument/2006/relationships/image" Target="../media/image77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1" Type="http://schemas.openxmlformats.org/officeDocument/2006/relationships/image" Target="../media/image760.png"/><Relationship Id="rId5" Type="http://schemas.openxmlformats.org/officeDocument/2006/relationships/image" Target="../media/image117.png"/><Relationship Id="rId15" Type="http://schemas.openxmlformats.org/officeDocument/2006/relationships/image" Target="../media/image125.png"/><Relationship Id="rId10" Type="http://schemas.openxmlformats.org/officeDocument/2006/relationships/image" Target="../media/image750.png"/><Relationship Id="rId4" Type="http://schemas.openxmlformats.org/officeDocument/2006/relationships/image" Target="../media/image124.png"/><Relationship Id="rId14" Type="http://schemas.openxmlformats.org/officeDocument/2006/relationships/image" Target="../media/image79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5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3" Type="http://schemas.openxmlformats.org/officeDocument/2006/relationships/image" Target="../media/image1351.png"/><Relationship Id="rId7" Type="http://schemas.openxmlformats.org/officeDocument/2006/relationships/image" Target="../media/image14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5" Type="http://schemas.openxmlformats.org/officeDocument/2006/relationships/image" Target="../media/image138.png"/><Relationship Id="rId4" Type="http://schemas.openxmlformats.org/officeDocument/2006/relationships/image" Target="../media/image137.png"/><Relationship Id="rId9" Type="http://schemas.openxmlformats.org/officeDocument/2006/relationships/image" Target="../media/image14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9.png"/><Relationship Id="rId4" Type="http://schemas.openxmlformats.org/officeDocument/2006/relationships/image" Target="../media/image133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2.png"/><Relationship Id="rId4" Type="http://schemas.openxmlformats.org/officeDocument/2006/relationships/image" Target="../media/image15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80.png"/><Relationship Id="rId4" Type="http://schemas.openxmlformats.org/officeDocument/2006/relationships/image" Target="../media/image15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AF09883-6584-571B-1B08-49DE427C9D9A}"/>
              </a:ext>
            </a:extLst>
          </p:cNvPr>
          <p:cNvGrpSpPr/>
          <p:nvPr/>
        </p:nvGrpSpPr>
        <p:grpSpPr>
          <a:xfrm>
            <a:off x="1878799" y="4098498"/>
            <a:ext cx="6014710" cy="2464159"/>
            <a:chOff x="1878799" y="4098498"/>
            <a:chExt cx="6014710" cy="2464159"/>
          </a:xfrm>
        </p:grpSpPr>
        <p:pic>
          <p:nvPicPr>
            <p:cNvPr id="4" name="Picture 3" descr="A person with curly hair smiling&#10;&#10;Description automatically generated">
              <a:extLst>
                <a:ext uri="{FF2B5EF4-FFF2-40B4-BE49-F238E27FC236}">
                  <a16:creationId xmlns:a16="http://schemas.microsoft.com/office/drawing/2014/main" id="{9C6C5C62-D150-1FB6-91AD-BC1171A9BF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32"/>
            <a:stretch/>
          </p:blipFill>
          <p:spPr>
            <a:xfrm>
              <a:off x="4900549" y="4098498"/>
              <a:ext cx="1464484" cy="1737360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9C1D211-263C-58E7-3836-159A9C34A361}"/>
                </a:ext>
              </a:extLst>
            </p:cNvPr>
            <p:cNvSpPr txBox="1"/>
            <p:nvPr/>
          </p:nvSpPr>
          <p:spPr>
            <a:xfrm>
              <a:off x="1878799" y="5848321"/>
              <a:ext cx="157599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Susanna F. de Rezende</a:t>
              </a:r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A5265EA-3969-ADBB-3CF0-E8DD025E64DF}"/>
                </a:ext>
              </a:extLst>
            </p:cNvPr>
            <p:cNvGrpSpPr/>
            <p:nvPr/>
          </p:nvGrpSpPr>
          <p:grpSpPr>
            <a:xfrm>
              <a:off x="1913212" y="4098498"/>
              <a:ext cx="5950014" cy="1737360"/>
              <a:chOff x="1323932" y="3980542"/>
              <a:chExt cx="5950014" cy="1737360"/>
            </a:xfrm>
          </p:grpSpPr>
          <p:pic>
            <p:nvPicPr>
              <p:cNvPr id="22" name="Picture 21" descr="A person in a suit and bow tie&#10;&#10;Description automatically generated">
                <a:extLst>
                  <a:ext uri="{FF2B5EF4-FFF2-40B4-BE49-F238E27FC236}">
                    <a16:creationId xmlns:a16="http://schemas.microsoft.com/office/drawing/2014/main" id="{7C9D2AE7-E52E-030C-84DE-657EF995AF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6817" t="13889" r="15055" b="10177"/>
              <a:stretch/>
            </p:blipFill>
            <p:spPr>
              <a:xfrm>
                <a:off x="5766771" y="3980542"/>
                <a:ext cx="1507175" cy="1737360"/>
              </a:xfrm>
              <a:prstGeom prst="rect">
                <a:avLst/>
              </a:prstGeom>
            </p:spPr>
          </p:pic>
          <p:pic>
            <p:nvPicPr>
              <p:cNvPr id="23" name="Picture 22" descr="A person with long brown hair smiling&#10;&#10;Description automatically generated">
                <a:extLst>
                  <a:ext uri="{FF2B5EF4-FFF2-40B4-BE49-F238E27FC236}">
                    <a16:creationId xmlns:a16="http://schemas.microsoft.com/office/drawing/2014/main" id="{A71C605D-24E8-6E11-7E1A-295C6DFC7C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916" b="14473"/>
              <a:stretch/>
            </p:blipFill>
            <p:spPr>
              <a:xfrm>
                <a:off x="1323932" y="3980542"/>
                <a:ext cx="1507175" cy="1737360"/>
              </a:xfrm>
              <a:prstGeom prst="rect">
                <a:avLst/>
              </a:prstGeom>
            </p:spPr>
          </p:pic>
          <p:pic>
            <p:nvPicPr>
              <p:cNvPr id="24" name="Picture 23" descr="A person with a beard&#10;&#10;Description automatically generated">
                <a:extLst>
                  <a:ext uri="{FF2B5EF4-FFF2-40B4-BE49-F238E27FC236}">
                    <a16:creationId xmlns:a16="http://schemas.microsoft.com/office/drawing/2014/main" id="{E9688285-AD60-0C32-7526-5F35B1BBBB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584" t="16502" r="9133" b="2200"/>
              <a:stretch/>
            </p:blipFill>
            <p:spPr>
              <a:xfrm>
                <a:off x="2831856" y="3980542"/>
                <a:ext cx="1489166" cy="1737360"/>
              </a:xfrm>
              <a:prstGeom prst="rect">
                <a:avLst/>
              </a:prstGeom>
            </p:spPr>
          </p:pic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A3972AB-DBF5-251C-B1A6-8A360A09161D}"/>
                </a:ext>
              </a:extLst>
            </p:cNvPr>
            <p:cNvSpPr txBox="1"/>
            <p:nvPr/>
          </p:nvSpPr>
          <p:spPr>
            <a:xfrm>
              <a:off x="3377719" y="5848321"/>
              <a:ext cx="157599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Noah Fleming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9DF383B-A1B4-BB48-767B-E7B862553DD0}"/>
                </a:ext>
              </a:extLst>
            </p:cNvPr>
            <p:cNvSpPr txBox="1"/>
            <p:nvPr/>
          </p:nvSpPr>
          <p:spPr>
            <a:xfrm>
              <a:off x="4804687" y="5850471"/>
              <a:ext cx="165620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Duri Andrea Janett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37FD80B-80D1-BCC6-5523-AE9675A0EBF4}"/>
                </a:ext>
              </a:extLst>
            </p:cNvPr>
            <p:cNvSpPr txBox="1"/>
            <p:nvPr/>
          </p:nvSpPr>
          <p:spPr>
            <a:xfrm>
              <a:off x="6317510" y="5854771"/>
              <a:ext cx="157599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Shuo </a:t>
              </a:r>
            </a:p>
            <a:p>
              <a:pPr algn="ctr"/>
              <a:r>
                <a:rPr lang="en-GB" sz="2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Pang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BC8A609-B1A9-EAF9-7469-CB8C1F0B7A51}"/>
              </a:ext>
            </a:extLst>
          </p:cNvPr>
          <p:cNvSpPr txBox="1"/>
          <p:nvPr/>
        </p:nvSpPr>
        <p:spPr>
          <a:xfrm>
            <a:off x="0" y="382012"/>
            <a:ext cx="121920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altLang="zh-CN" sz="32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Truly Supercritical Trade-offs for Resolution, Cutting </a:t>
            </a:r>
          </a:p>
          <a:p>
            <a:pPr algn="ctr"/>
            <a:r>
              <a:rPr lang="en-GB" altLang="zh-CN" sz="32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Planes, Monotone Circuits and </a:t>
            </a:r>
            <a:r>
              <a:rPr lang="en-GB" altLang="zh-CN" sz="3200" dirty="0" err="1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Weisfeiler</a:t>
            </a:r>
            <a:r>
              <a:rPr lang="en-GB" sz="32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–</a:t>
            </a:r>
            <a:r>
              <a:rPr lang="en-GB" altLang="zh-CN" sz="32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Leman</a:t>
            </a:r>
            <a:endParaRPr lang="en-GB" sz="3200" dirty="0">
              <a:solidFill>
                <a:srgbClr val="3C28FB"/>
              </a:solidFill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endParaRPr>
          </a:p>
          <a:p>
            <a:pPr algn="ctr"/>
            <a:endParaRPr lang="en-GB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endParaRPr lang="en-GB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ctr"/>
            <a:r>
              <a:rPr lang="en-GB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Jakob Nordström</a:t>
            </a:r>
          </a:p>
          <a:p>
            <a:pPr algn="ctr"/>
            <a:r>
              <a:rPr lang="en-GB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University of Copenhagen &amp; Lund University</a:t>
            </a:r>
          </a:p>
          <a:p>
            <a:pPr algn="ctr"/>
            <a:endParaRPr lang="en-GB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endParaRPr lang="en-GB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da-DK" sz="20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Circuits, </a:t>
            </a:r>
            <a:r>
              <a:rPr lang="da-DK" sz="2000" i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Communication</a:t>
            </a:r>
            <a:r>
              <a:rPr lang="da-DK" sz="20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and </a:t>
            </a:r>
            <a:r>
              <a:rPr lang="da-DK" sz="2000" i="1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Proofs</a:t>
            </a:r>
            <a:endParaRPr lang="da-DK" sz="2000" i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en-GB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International Centre for Theoretical Sciences (ICTS) </a:t>
            </a:r>
          </a:p>
          <a:p>
            <a:pPr algn="ctr"/>
            <a:r>
              <a:rPr lang="en-GB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Bengaluru, India</a:t>
            </a:r>
          </a:p>
          <a:p>
            <a:pPr algn="ctr"/>
            <a:r>
              <a:rPr lang="en-GB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August 19, 2026</a:t>
            </a:r>
          </a:p>
        </p:txBody>
      </p:sp>
      <p:pic>
        <p:nvPicPr>
          <p:cNvPr id="16" name="Grafik 7" descr="Ein Bild, das Entwurf, Clipart, Zeichnung, Lineart enthält.&#10;&#10;Automatisch generierte Beschreibung">
            <a:extLst>
              <a:ext uri="{FF2B5EF4-FFF2-40B4-BE49-F238E27FC236}">
                <a16:creationId xmlns:a16="http://schemas.microsoft.com/office/drawing/2014/main" id="{13ADD8EB-3C2D-E306-7AAD-352493A54A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204" y="3982998"/>
            <a:ext cx="2295426" cy="242017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725D109-4A35-0409-210A-DDD14A31EE61}"/>
              </a:ext>
            </a:extLst>
          </p:cNvPr>
          <p:cNvSpPr txBox="1"/>
          <p:nvPr/>
        </p:nvSpPr>
        <p:spPr>
          <a:xfrm>
            <a:off x="379879" y="5835858"/>
            <a:ext cx="15759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joint with</a:t>
            </a:r>
          </a:p>
        </p:txBody>
      </p:sp>
    </p:spTree>
    <p:extLst>
      <p:ext uri="{BB962C8B-B14F-4D97-AF65-F5344CB8AC3E}">
        <p14:creationId xmlns:p14="http://schemas.microsoft.com/office/powerpoint/2010/main" val="1562569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D6702D-067D-083A-E111-374DCCADA0B1}"/>
              </a:ext>
            </a:extLst>
          </p:cNvPr>
          <p:cNvSpPr txBox="1"/>
          <p:nvPr/>
        </p:nvSpPr>
        <p:spPr>
          <a:xfrm>
            <a:off x="931988" y="721926"/>
            <a:ext cx="881608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altLang="zh-CN" sz="28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What Is a Trade-off Result?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47D8B69-108A-9076-EB0C-9FECBCB48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2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9E9D59B1-8E74-9320-6FF1-201C73682705}"/>
                  </a:ext>
                </a:extLst>
              </p:cNvPr>
              <p:cNvSpPr txBox="1"/>
              <p:nvPr/>
            </p:nvSpPr>
            <p:spPr>
              <a:xfrm>
                <a:off x="6864054" y="2745882"/>
                <a:ext cx="468921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Computational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model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with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two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complexity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measures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α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GB" sz="2400" b="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(e.g.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= time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=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space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9E9D59B1-8E74-9320-6FF1-201C73682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4054" y="2745882"/>
                <a:ext cx="4689213" cy="1200329"/>
              </a:xfrm>
              <a:prstGeom prst="rect">
                <a:avLst/>
              </a:prstGeom>
              <a:blipFill>
                <a:blip r:embed="rId3"/>
                <a:stretch>
                  <a:fillRect l="-2081" t="-4061" b="-106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Group">
            <a:extLst>
              <a:ext uri="{FF2B5EF4-FFF2-40B4-BE49-F238E27FC236}">
                <a16:creationId xmlns:a16="http://schemas.microsoft.com/office/drawing/2014/main" id="{E74BBB2F-C7EB-375C-E6C9-F787B4659EAB}"/>
              </a:ext>
            </a:extLst>
          </p:cNvPr>
          <p:cNvGrpSpPr/>
          <p:nvPr/>
        </p:nvGrpSpPr>
        <p:grpSpPr>
          <a:xfrm>
            <a:off x="1602181" y="5194591"/>
            <a:ext cx="4614222" cy="588323"/>
            <a:chOff x="162096" y="-8362"/>
            <a:chExt cx="4614220" cy="588321"/>
          </a:xfrm>
        </p:grpSpPr>
        <p:pic>
          <p:nvPicPr>
            <p:cNvPr id="6" name="tradeoffs.pdf" descr="tradeoffs.pdf">
              <a:extLst>
                <a:ext uri="{FF2B5EF4-FFF2-40B4-BE49-F238E27FC236}">
                  <a16:creationId xmlns:a16="http://schemas.microsoft.com/office/drawing/2014/main" id="{EDC254A2-1310-43FF-E96A-31EB883AAB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3901" t="70937" r="48544" b="27324"/>
            <a:stretch>
              <a:fillRect/>
            </a:stretch>
          </p:blipFill>
          <p:spPr>
            <a:xfrm>
              <a:off x="162096" y="-8362"/>
              <a:ext cx="3616613" cy="58832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wo upper bounds">
                  <a:extLst>
                    <a:ext uri="{FF2B5EF4-FFF2-40B4-BE49-F238E27FC236}">
                      <a16:creationId xmlns:a16="http://schemas.microsoft.com/office/drawing/2014/main" id="{F22638E9-2072-51F7-27DB-0591A156247C}"/>
                    </a:ext>
                  </a:extLst>
                </p:cNvPr>
                <p:cNvSpPr txBox="1"/>
                <p:nvPr/>
              </p:nvSpPr>
              <p:spPr>
                <a:xfrm>
                  <a:off x="541825" y="12705"/>
                  <a:ext cx="4234491" cy="47192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3600" b="0"/>
                  </a:lvl1pPr>
                </a:lstStyle>
                <a:p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can optimize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𝛽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, but then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𝛼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bad</a:t>
                  </a:r>
                </a:p>
              </p:txBody>
            </p:sp>
          </mc:Choice>
          <mc:Fallback xmlns="">
            <p:sp>
              <p:nvSpPr>
                <p:cNvPr id="7" name="two upper bounds">
                  <a:extLst>
                    <a:ext uri="{FF2B5EF4-FFF2-40B4-BE49-F238E27FC236}">
                      <a16:creationId xmlns:a16="http://schemas.microsoft.com/office/drawing/2014/main" id="{F22638E9-2072-51F7-27DB-0591A15624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825" y="12705"/>
                  <a:ext cx="4234491" cy="471922"/>
                </a:xfrm>
                <a:prstGeom prst="rect">
                  <a:avLst/>
                </a:prstGeom>
                <a:blipFill>
                  <a:blip r:embed="rId5"/>
                  <a:stretch>
                    <a:fillRect l="-3165" t="-9091" r="-2158" b="-28571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">
            <a:extLst>
              <a:ext uri="{FF2B5EF4-FFF2-40B4-BE49-F238E27FC236}">
                <a16:creationId xmlns:a16="http://schemas.microsoft.com/office/drawing/2014/main" id="{E0C7F817-EAFB-6DF6-7F5E-37527E55A051}"/>
              </a:ext>
            </a:extLst>
          </p:cNvPr>
          <p:cNvGrpSpPr/>
          <p:nvPr/>
        </p:nvGrpSpPr>
        <p:grpSpPr>
          <a:xfrm>
            <a:off x="1602181" y="5639106"/>
            <a:ext cx="4614222" cy="588323"/>
            <a:chOff x="162096" y="-8362"/>
            <a:chExt cx="4614220" cy="588321"/>
          </a:xfrm>
        </p:grpSpPr>
        <p:pic>
          <p:nvPicPr>
            <p:cNvPr id="15" name="tradeoffs.pdf" descr="tradeoffs.pdf">
              <a:extLst>
                <a:ext uri="{FF2B5EF4-FFF2-40B4-BE49-F238E27FC236}">
                  <a16:creationId xmlns:a16="http://schemas.microsoft.com/office/drawing/2014/main" id="{4F3BD95F-4442-2E0A-BDA7-00C7D7A34C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3901" t="70937" r="48544" b="27324"/>
            <a:stretch>
              <a:fillRect/>
            </a:stretch>
          </p:blipFill>
          <p:spPr>
            <a:xfrm>
              <a:off x="162096" y="-8362"/>
              <a:ext cx="3616613" cy="58832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wo upper bounds">
                  <a:extLst>
                    <a:ext uri="{FF2B5EF4-FFF2-40B4-BE49-F238E27FC236}">
                      <a16:creationId xmlns:a16="http://schemas.microsoft.com/office/drawing/2014/main" id="{6B786753-F18E-6D49-C047-15CAB5C24045}"/>
                    </a:ext>
                  </a:extLst>
                </p:cNvPr>
                <p:cNvSpPr txBox="1"/>
                <p:nvPr/>
              </p:nvSpPr>
              <p:spPr>
                <a:xfrm>
                  <a:off x="541825" y="12705"/>
                  <a:ext cx="4234491" cy="471922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none" lIns="50800" tIns="50800" rIns="50800" bIns="50800" numCol="1" anchor="ctr">
                  <a:spAutoFit/>
                </a:bodyPr>
                <a:lstStyle>
                  <a:lvl1pPr>
                    <a:defRPr sz="3600" b="0"/>
                  </a:lvl1pPr>
                </a:lstStyle>
                <a:p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can optimize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𝛼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, but then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𝛽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bad</a:t>
                  </a:r>
                </a:p>
              </p:txBody>
            </p:sp>
          </mc:Choice>
          <mc:Fallback xmlns="">
            <p:sp>
              <p:nvSpPr>
                <p:cNvPr id="16" name="two upper bounds">
                  <a:extLst>
                    <a:ext uri="{FF2B5EF4-FFF2-40B4-BE49-F238E27FC236}">
                      <a16:creationId xmlns:a16="http://schemas.microsoft.com/office/drawing/2014/main" id="{6B786753-F18E-6D49-C047-15CAB5C240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1825" y="12705"/>
                  <a:ext cx="4234491" cy="471922"/>
                </a:xfrm>
                <a:prstGeom prst="rect">
                  <a:avLst/>
                </a:prstGeom>
                <a:blipFill>
                  <a:blip r:embed="rId6"/>
                  <a:stretch>
                    <a:fillRect l="-3165" t="-9091" r="-2158" b="-28571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  </a:ext>
                </a:extLst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">
            <a:extLst>
              <a:ext uri="{FF2B5EF4-FFF2-40B4-BE49-F238E27FC236}">
                <a16:creationId xmlns:a16="http://schemas.microsoft.com/office/drawing/2014/main" id="{AEBAEC31-99FD-BD91-F49B-AFD5541A179F}"/>
              </a:ext>
            </a:extLst>
          </p:cNvPr>
          <p:cNvGrpSpPr/>
          <p:nvPr/>
        </p:nvGrpSpPr>
        <p:grpSpPr>
          <a:xfrm>
            <a:off x="1589312" y="6079003"/>
            <a:ext cx="4798496" cy="471924"/>
            <a:chOff x="1033125" y="18131"/>
            <a:chExt cx="5801220" cy="1002023"/>
          </a:xfrm>
        </p:grpSpPr>
        <p:pic>
          <p:nvPicPr>
            <p:cNvPr id="18" name="tradeoffs.pdf" descr="tradeoffs.pdf">
              <a:extLst>
                <a:ext uri="{FF2B5EF4-FFF2-40B4-BE49-F238E27FC236}">
                  <a16:creationId xmlns:a16="http://schemas.microsoft.com/office/drawing/2014/main" id="{D67552C3-3C5F-BFAE-1D42-F80D3731F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5348" t="91451" r="51081" b="4433"/>
            <a:stretch>
              <a:fillRect/>
            </a:stretch>
          </p:blipFill>
          <p:spPr>
            <a:xfrm>
              <a:off x="1033125" y="22739"/>
              <a:ext cx="409452" cy="99280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9" name="infeasible region">
              <a:extLst>
                <a:ext uri="{FF2B5EF4-FFF2-40B4-BE49-F238E27FC236}">
                  <a16:creationId xmlns:a16="http://schemas.microsoft.com/office/drawing/2014/main" id="{FD3C4851-4271-EA68-FDBD-854B784B3D76}"/>
                </a:ext>
              </a:extLst>
            </p:cNvPr>
            <p:cNvSpPr txBox="1"/>
            <p:nvPr/>
          </p:nvSpPr>
          <p:spPr>
            <a:xfrm>
              <a:off x="1516964" y="18131"/>
              <a:ext cx="5317381" cy="100202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spAutoFit/>
            </a:bodyPr>
            <a:lstStyle>
              <a:lvl1pPr algn="l">
                <a:defRPr sz="3600" b="0"/>
              </a:lvl1pPr>
            </a:lstStyle>
            <a:p>
              <a:r>
                <a: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impossible to optimize both</a:t>
              </a: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3E1B4BF6-31A6-F81A-76B7-D6FDA249E967}"/>
              </a:ext>
            </a:extLst>
          </p:cNvPr>
          <p:cNvSpPr/>
          <p:nvPr/>
        </p:nvSpPr>
        <p:spPr>
          <a:xfrm>
            <a:off x="1557068" y="3250283"/>
            <a:ext cx="1896986" cy="761446"/>
          </a:xfrm>
          <a:prstGeom prst="rect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927839F-517E-33D2-A4B3-7CD58D1732CE}"/>
              </a:ext>
            </a:extLst>
          </p:cNvPr>
          <p:cNvCxnSpPr>
            <a:cxnSpLocks/>
          </p:cNvCxnSpPr>
          <p:nvPr/>
        </p:nvCxnSpPr>
        <p:spPr>
          <a:xfrm flipV="1">
            <a:off x="1557068" y="4011729"/>
            <a:ext cx="4315216" cy="1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D036B02-9677-3C5C-8877-8A63604221D8}"/>
              </a:ext>
            </a:extLst>
          </p:cNvPr>
          <p:cNvCxnSpPr>
            <a:cxnSpLocks/>
          </p:cNvCxnSpPr>
          <p:nvPr/>
        </p:nvCxnSpPr>
        <p:spPr>
          <a:xfrm flipV="1">
            <a:off x="1557068" y="2260480"/>
            <a:ext cx="0" cy="175126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4356146-8A72-C9B3-9406-C78B17F2C7AC}"/>
              </a:ext>
            </a:extLst>
          </p:cNvPr>
          <p:cNvCxnSpPr>
            <a:cxnSpLocks/>
          </p:cNvCxnSpPr>
          <p:nvPr/>
        </p:nvCxnSpPr>
        <p:spPr>
          <a:xfrm flipV="1">
            <a:off x="4008324" y="2347600"/>
            <a:ext cx="0" cy="166412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E45DBA4-9F77-563A-F324-DE3DD7D56AA9}"/>
                  </a:ext>
                </a:extLst>
              </p:cNvPr>
              <p:cNvSpPr txBox="1"/>
              <p:nvPr/>
            </p:nvSpPr>
            <p:spPr>
              <a:xfrm>
                <a:off x="3724642" y="4037862"/>
                <a:ext cx="567364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worst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E45DBA4-9F77-563A-F324-DE3DD7D56A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4642" y="4037862"/>
                <a:ext cx="567364" cy="430887"/>
              </a:xfrm>
              <a:prstGeom prst="rect">
                <a:avLst/>
              </a:prstGeom>
              <a:blipFill>
                <a:blip r:embed="rId7"/>
                <a:stretch>
                  <a:fillRect r="-634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9E36704-E425-E63A-56C2-E79DA70678DD}"/>
                  </a:ext>
                </a:extLst>
              </p:cNvPr>
              <p:cNvSpPr txBox="1"/>
              <p:nvPr/>
            </p:nvSpPr>
            <p:spPr>
              <a:xfrm>
                <a:off x="5950679" y="3879474"/>
                <a:ext cx="318677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39E36704-E425-E63A-56C2-E79DA7067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0679" y="3879474"/>
                <a:ext cx="318677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21">
            <a:extLst>
              <a:ext uri="{FF2B5EF4-FFF2-40B4-BE49-F238E27FC236}">
                <a16:creationId xmlns:a16="http://schemas.microsoft.com/office/drawing/2014/main" id="{418A3043-0B9A-9151-2523-4FA02C10224B}"/>
              </a:ext>
            </a:extLst>
          </p:cNvPr>
          <p:cNvCxnSpPr>
            <a:cxnSpLocks/>
          </p:cNvCxnSpPr>
          <p:nvPr/>
        </p:nvCxnSpPr>
        <p:spPr>
          <a:xfrm>
            <a:off x="1557068" y="2793187"/>
            <a:ext cx="4187403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3">
                <a:extLst>
                  <a:ext uri="{FF2B5EF4-FFF2-40B4-BE49-F238E27FC236}">
                    <a16:creationId xmlns:a16="http://schemas.microsoft.com/office/drawing/2014/main" id="{E92077E2-A72A-16E6-A238-6A3F95FABB05}"/>
                  </a:ext>
                </a:extLst>
              </p:cNvPr>
              <p:cNvSpPr txBox="1"/>
              <p:nvPr/>
            </p:nvSpPr>
            <p:spPr>
              <a:xfrm>
                <a:off x="587270" y="2557792"/>
                <a:ext cx="567364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worst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0" name="TextBox 23">
                <a:extLst>
                  <a:ext uri="{FF2B5EF4-FFF2-40B4-BE49-F238E27FC236}">
                    <a16:creationId xmlns:a16="http://schemas.microsoft.com/office/drawing/2014/main" id="{E92077E2-A72A-16E6-A238-6A3F95FAB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270" y="2557792"/>
                <a:ext cx="567364" cy="430887"/>
              </a:xfrm>
              <a:prstGeom prst="rect">
                <a:avLst/>
              </a:prstGeom>
              <a:blipFill>
                <a:blip r:embed="rId9"/>
                <a:stretch>
                  <a:fillRect r="-6881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27">
                <a:extLst>
                  <a:ext uri="{FF2B5EF4-FFF2-40B4-BE49-F238E27FC236}">
                    <a16:creationId xmlns:a16="http://schemas.microsoft.com/office/drawing/2014/main" id="{9DEF15FB-E6FF-AE57-FA29-ACEDCFAA8C94}"/>
                  </a:ext>
                </a:extLst>
              </p:cNvPr>
              <p:cNvSpPr txBox="1"/>
              <p:nvPr/>
            </p:nvSpPr>
            <p:spPr>
              <a:xfrm>
                <a:off x="1445596" y="1878655"/>
                <a:ext cx="222944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7" name="TextBox 27">
                <a:extLst>
                  <a:ext uri="{FF2B5EF4-FFF2-40B4-BE49-F238E27FC236}">
                    <a16:creationId xmlns:a16="http://schemas.microsoft.com/office/drawing/2014/main" id="{9DEF15FB-E6FF-AE57-FA29-ACEDCFAA8C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5596" y="1878655"/>
                <a:ext cx="222944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Verbindungsstelle 40">
            <a:extLst>
              <a:ext uri="{FF2B5EF4-FFF2-40B4-BE49-F238E27FC236}">
                <a16:creationId xmlns:a16="http://schemas.microsoft.com/office/drawing/2014/main" id="{2DD5266E-B5B3-46B5-5ECF-4A05D49820F5}"/>
              </a:ext>
            </a:extLst>
          </p:cNvPr>
          <p:cNvSpPr/>
          <p:nvPr/>
        </p:nvSpPr>
        <p:spPr>
          <a:xfrm flipH="1">
            <a:off x="3958289" y="2745882"/>
            <a:ext cx="100070" cy="94336"/>
          </a:xfrm>
          <a:prstGeom prst="flowChartConnector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Verbindungsstelle 40">
            <a:extLst>
              <a:ext uri="{FF2B5EF4-FFF2-40B4-BE49-F238E27FC236}">
                <a16:creationId xmlns:a16="http://schemas.microsoft.com/office/drawing/2014/main" id="{77B96CC8-A941-3230-B97D-CBD277934BDD}"/>
              </a:ext>
            </a:extLst>
          </p:cNvPr>
          <p:cNvSpPr/>
          <p:nvPr/>
        </p:nvSpPr>
        <p:spPr>
          <a:xfrm flipH="1">
            <a:off x="1663503" y="3044279"/>
            <a:ext cx="100070" cy="94336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Verbindungsstelle 40">
            <a:extLst>
              <a:ext uri="{FF2B5EF4-FFF2-40B4-BE49-F238E27FC236}">
                <a16:creationId xmlns:a16="http://schemas.microsoft.com/office/drawing/2014/main" id="{4F0B324A-98B8-9C3F-E931-14A2DCD52AD2}"/>
              </a:ext>
            </a:extLst>
          </p:cNvPr>
          <p:cNvSpPr/>
          <p:nvPr/>
        </p:nvSpPr>
        <p:spPr>
          <a:xfrm flipH="1">
            <a:off x="3550699" y="3785138"/>
            <a:ext cx="100070" cy="94336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A7ACD7A-4AAD-711C-7E80-5A8CB53F0C50}"/>
              </a:ext>
            </a:extLst>
          </p:cNvPr>
          <p:cNvGrpSpPr/>
          <p:nvPr/>
        </p:nvGrpSpPr>
        <p:grpSpPr>
          <a:xfrm>
            <a:off x="1688138" y="4773153"/>
            <a:ext cx="6605198" cy="471924"/>
            <a:chOff x="6375108" y="5167182"/>
            <a:chExt cx="6605198" cy="471924"/>
          </a:xfrm>
        </p:grpSpPr>
        <p:sp>
          <p:nvSpPr>
            <p:cNvPr id="25" name="two upper bounds">
              <a:extLst>
                <a:ext uri="{FF2B5EF4-FFF2-40B4-BE49-F238E27FC236}">
                  <a16:creationId xmlns:a16="http://schemas.microsoft.com/office/drawing/2014/main" id="{7AE6F0CE-AF76-4EFF-155A-F47C61E8ECB2}"/>
                </a:ext>
              </a:extLst>
            </p:cNvPr>
            <p:cNvSpPr txBox="1"/>
            <p:nvPr/>
          </p:nvSpPr>
          <p:spPr>
            <a:xfrm>
              <a:off x="6669283" y="5167182"/>
              <a:ext cx="6311023" cy="47192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c="http://schemas.openxmlformats.org/markup-compatibility/2006" xmlns:a14="http://schemas.microsoft.com/office/drawing/2010/main" xmlns:ma14="http://schemas.microsoft.com/office/mac/drawingml/2011/main" xmlns:m="http://schemas.openxmlformats.org/officeDocument/2006/math" xmlns="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3600" b="0"/>
              </a:lvl1pPr>
            </a:lstStyle>
            <a:p>
              <a:r>
                <a: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brute force algorithm can achieve worst case </a:t>
              </a:r>
            </a:p>
          </p:txBody>
        </p:sp>
        <p:sp>
          <p:nvSpPr>
            <p:cNvPr id="26" name="Verbindungsstelle 40">
              <a:extLst>
                <a:ext uri="{FF2B5EF4-FFF2-40B4-BE49-F238E27FC236}">
                  <a16:creationId xmlns:a16="http://schemas.microsoft.com/office/drawing/2014/main" id="{088E3E5C-34B4-8578-5CBA-A6BE53D1BD53}"/>
                </a:ext>
              </a:extLst>
            </p:cNvPr>
            <p:cNvSpPr/>
            <p:nvPr/>
          </p:nvSpPr>
          <p:spPr>
            <a:xfrm flipH="1">
              <a:off x="6375108" y="5328812"/>
              <a:ext cx="162157" cy="163937"/>
            </a:xfrm>
            <a:prstGeom prst="flowChartConnector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387541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10" grpId="0" animBg="1"/>
      <p:bldP spid="9" grpId="0" animBg="1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D6702D-067D-083A-E111-374DCCADA0B1}"/>
              </a:ext>
            </a:extLst>
          </p:cNvPr>
          <p:cNvSpPr txBox="1"/>
          <p:nvPr/>
        </p:nvSpPr>
        <p:spPr>
          <a:xfrm>
            <a:off x="916065" y="734452"/>
            <a:ext cx="881608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altLang="zh-CN" sz="28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A New Kind of Trade-off </a:t>
            </a:r>
            <a:r>
              <a:rPr lang="en-GB" altLang="zh-CN" sz="28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</a:t>
            </a:r>
            <a:r>
              <a:rPr lang="en-GB" altLang="zh-CN" sz="2800" dirty="0" err="1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Razborov</a:t>
            </a:r>
            <a:r>
              <a:rPr lang="en-GB" altLang="zh-CN" sz="28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‘16]</a:t>
            </a:r>
            <a:endParaRPr lang="en-GB" altLang="zh-CN" sz="2800" dirty="0">
              <a:solidFill>
                <a:srgbClr val="3C28FB"/>
              </a:solidFill>
              <a:latin typeface="Iskoola Pota" panose="020B0502040204020203" pitchFamily="34" charset="0"/>
              <a:cs typeface="Iskoola Pota" panose="020B0502040204020203" pitchFamily="34" charset="0"/>
            </a:endParaRPr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1AA4732C-C09D-139E-E3DD-4BE82687AB31}"/>
              </a:ext>
            </a:extLst>
          </p:cNvPr>
          <p:cNvGrpSpPr/>
          <p:nvPr/>
        </p:nvGrpSpPr>
        <p:grpSpPr>
          <a:xfrm>
            <a:off x="580450" y="1765460"/>
            <a:ext cx="5682086" cy="2590094"/>
            <a:chOff x="201729" y="1556377"/>
            <a:chExt cx="10322625" cy="421927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E1B4BF6-31A6-F81A-76B7-D6FDA249E967}"/>
                </a:ext>
              </a:extLst>
            </p:cNvPr>
            <p:cNvSpPr/>
            <p:nvPr/>
          </p:nvSpPr>
          <p:spPr>
            <a:xfrm>
              <a:off x="1963557" y="3790764"/>
              <a:ext cx="3446247" cy="1240399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1927839F-517E-33D2-A4B3-7CD58D1732C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63557" y="5031162"/>
              <a:ext cx="7839437" cy="22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4D036B02-9677-3C5C-8877-8A63604221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63557" y="2178372"/>
              <a:ext cx="0" cy="2852812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4356146-8A72-C9B3-9406-C78B17F2C7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6746" y="2320290"/>
              <a:ext cx="0" cy="2710871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E45DBA4-9F77-563A-F324-DE3DD7D56AA9}"/>
                    </a:ext>
                  </a:extLst>
                </p:cNvPr>
                <p:cNvSpPr txBox="1"/>
                <p:nvPr/>
              </p:nvSpPr>
              <p:spPr>
                <a:xfrm>
                  <a:off x="5901382" y="5073733"/>
                  <a:ext cx="1030728" cy="7019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worst</m:t>
                            </m:r>
                          </m:sub>
                        </m:sSub>
                      </m:oMath>
                    </m:oMathPara>
                  </a14:m>
                  <a:endParaRPr lang="en-GB" sz="28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1E45DBA4-9F77-563A-F324-DE3DD7D56A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1382" y="5073733"/>
                  <a:ext cx="1030728" cy="701917"/>
                </a:xfrm>
                <a:prstGeom prst="rect">
                  <a:avLst/>
                </a:prstGeom>
                <a:blipFill>
                  <a:blip r:embed="rId3"/>
                  <a:stretch>
                    <a:fillRect r="-6451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9E36704-E425-E63A-56C2-E79DA70678DD}"/>
                    </a:ext>
                  </a:extLst>
                </p:cNvPr>
                <p:cNvSpPr txBox="1"/>
                <p:nvPr/>
              </p:nvSpPr>
              <p:spPr>
                <a:xfrm>
                  <a:off x="9945415" y="4815719"/>
                  <a:ext cx="578939" cy="7019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GB" sz="28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39E36704-E425-E63A-56C2-E79DA70678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5415" y="4815719"/>
                  <a:ext cx="578939" cy="70191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21">
              <a:extLst>
                <a:ext uri="{FF2B5EF4-FFF2-40B4-BE49-F238E27FC236}">
                  <a16:creationId xmlns:a16="http://schemas.microsoft.com/office/drawing/2014/main" id="{418A3043-0B9A-9151-2523-4FA02C10224B}"/>
                </a:ext>
              </a:extLst>
            </p:cNvPr>
            <p:cNvCxnSpPr>
              <a:cxnSpLocks/>
            </p:cNvCxnSpPr>
            <p:nvPr/>
          </p:nvCxnSpPr>
          <p:spPr>
            <a:xfrm>
              <a:off x="1963557" y="3046153"/>
              <a:ext cx="7607241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3">
                  <a:extLst>
                    <a:ext uri="{FF2B5EF4-FFF2-40B4-BE49-F238E27FC236}">
                      <a16:creationId xmlns:a16="http://schemas.microsoft.com/office/drawing/2014/main" id="{E92077E2-A72A-16E6-A238-6A3F95FABB05}"/>
                    </a:ext>
                  </a:extLst>
                </p:cNvPr>
                <p:cNvSpPr txBox="1"/>
                <p:nvPr/>
              </p:nvSpPr>
              <p:spPr>
                <a:xfrm>
                  <a:off x="201729" y="2662694"/>
                  <a:ext cx="1030728" cy="7019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worst</m:t>
                            </m:r>
                          </m:sub>
                        </m:sSub>
                      </m:oMath>
                    </m:oMathPara>
                  </a14:m>
                  <a:endParaRPr lang="en-GB" sz="2800" dirty="0"/>
                </a:p>
              </p:txBody>
            </p:sp>
          </mc:Choice>
          <mc:Fallback xmlns="">
            <p:sp>
              <p:nvSpPr>
                <p:cNvPr id="30" name="TextBox 23">
                  <a:extLst>
                    <a:ext uri="{FF2B5EF4-FFF2-40B4-BE49-F238E27FC236}">
                      <a16:creationId xmlns:a16="http://schemas.microsoft.com/office/drawing/2014/main" id="{E92077E2-A72A-16E6-A238-6A3F95FABB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729" y="2662694"/>
                  <a:ext cx="1030728" cy="701917"/>
                </a:xfrm>
                <a:prstGeom prst="rect">
                  <a:avLst/>
                </a:prstGeom>
                <a:blipFill>
                  <a:blip r:embed="rId5"/>
                  <a:stretch>
                    <a:fillRect r="-6774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27">
                  <a:extLst>
                    <a:ext uri="{FF2B5EF4-FFF2-40B4-BE49-F238E27FC236}">
                      <a16:creationId xmlns:a16="http://schemas.microsoft.com/office/drawing/2014/main" id="{9DEF15FB-E6FF-AE57-FA29-ACEDCFAA8C94}"/>
                    </a:ext>
                  </a:extLst>
                </p:cNvPr>
                <p:cNvSpPr txBox="1"/>
                <p:nvPr/>
              </p:nvSpPr>
              <p:spPr>
                <a:xfrm>
                  <a:off x="1761047" y="1556377"/>
                  <a:ext cx="405022" cy="7019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GB" sz="2800" dirty="0"/>
                </a:p>
              </p:txBody>
            </p:sp>
          </mc:Choice>
          <mc:Fallback xmlns="">
            <p:sp>
              <p:nvSpPr>
                <p:cNvPr id="37" name="TextBox 27">
                  <a:extLst>
                    <a:ext uri="{FF2B5EF4-FFF2-40B4-BE49-F238E27FC236}">
                      <a16:creationId xmlns:a16="http://schemas.microsoft.com/office/drawing/2014/main" id="{9DEF15FB-E6FF-AE57-FA29-ACEDCFAA8C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1047" y="1556377"/>
                  <a:ext cx="405022" cy="70191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F8143961-E691-6ABE-C282-49FCEF81D983}"/>
              </a:ext>
            </a:extLst>
          </p:cNvPr>
          <p:cNvGrpSpPr/>
          <p:nvPr/>
        </p:nvGrpSpPr>
        <p:grpSpPr>
          <a:xfrm>
            <a:off x="6044067" y="1777986"/>
            <a:ext cx="5682086" cy="2577568"/>
            <a:chOff x="201729" y="1576782"/>
            <a:chExt cx="10322625" cy="4198868"/>
          </a:xfrm>
        </p:grpSpPr>
        <p:sp>
          <p:nvSpPr>
            <p:cNvPr id="27" name="Rectangle 19">
              <a:extLst>
                <a:ext uri="{FF2B5EF4-FFF2-40B4-BE49-F238E27FC236}">
                  <a16:creationId xmlns:a16="http://schemas.microsoft.com/office/drawing/2014/main" id="{764B2C1F-82F8-0A2C-4271-A2F494813DD7}"/>
                </a:ext>
              </a:extLst>
            </p:cNvPr>
            <p:cNvSpPr/>
            <p:nvPr/>
          </p:nvSpPr>
          <p:spPr>
            <a:xfrm>
              <a:off x="1963556" y="3790764"/>
              <a:ext cx="6180207" cy="1240398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29" name="Straight Arrow Connector 12">
              <a:extLst>
                <a:ext uri="{FF2B5EF4-FFF2-40B4-BE49-F238E27FC236}">
                  <a16:creationId xmlns:a16="http://schemas.microsoft.com/office/drawing/2014/main" id="{41CDADD6-B9B6-032A-F8AA-11DC21DCFF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63557" y="5031162"/>
              <a:ext cx="7839437" cy="22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1" name="Straight Arrow Connector 13">
              <a:extLst>
                <a:ext uri="{FF2B5EF4-FFF2-40B4-BE49-F238E27FC236}">
                  <a16:creationId xmlns:a16="http://schemas.microsoft.com/office/drawing/2014/main" id="{C80C7CA6-17F9-ABAD-9F3E-C729D25D27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63557" y="2178372"/>
              <a:ext cx="0" cy="2852812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2" name="Straight Connector 21">
              <a:extLst>
                <a:ext uri="{FF2B5EF4-FFF2-40B4-BE49-F238E27FC236}">
                  <a16:creationId xmlns:a16="http://schemas.microsoft.com/office/drawing/2014/main" id="{F49EA9E0-D01A-7D4A-4D3E-FA50A031C8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16746" y="2320290"/>
              <a:ext cx="0" cy="2710871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23">
                  <a:extLst>
                    <a:ext uri="{FF2B5EF4-FFF2-40B4-BE49-F238E27FC236}">
                      <a16:creationId xmlns:a16="http://schemas.microsoft.com/office/drawing/2014/main" id="{167B99C6-2A0F-26D5-4276-907EBFAC6FB9}"/>
                    </a:ext>
                  </a:extLst>
                </p:cNvPr>
                <p:cNvSpPr txBox="1"/>
                <p:nvPr/>
              </p:nvSpPr>
              <p:spPr>
                <a:xfrm>
                  <a:off x="5901382" y="5073733"/>
                  <a:ext cx="1030728" cy="7019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worst</m:t>
                            </m:r>
                          </m:sub>
                        </m:sSub>
                      </m:oMath>
                    </m:oMathPara>
                  </a14:m>
                  <a:endParaRPr lang="en-GB" sz="2800" dirty="0"/>
                </a:p>
              </p:txBody>
            </p:sp>
          </mc:Choice>
          <mc:Fallback xmlns="">
            <p:sp>
              <p:nvSpPr>
                <p:cNvPr id="33" name="TextBox 23">
                  <a:extLst>
                    <a:ext uri="{FF2B5EF4-FFF2-40B4-BE49-F238E27FC236}">
                      <a16:creationId xmlns:a16="http://schemas.microsoft.com/office/drawing/2014/main" id="{167B99C6-2A0F-26D5-4276-907EBFAC6F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01382" y="5073733"/>
                  <a:ext cx="1030728" cy="701917"/>
                </a:xfrm>
                <a:prstGeom prst="rect">
                  <a:avLst/>
                </a:prstGeom>
                <a:blipFill>
                  <a:blip r:embed="rId7"/>
                  <a:stretch>
                    <a:fillRect r="-6344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27">
                  <a:extLst>
                    <a:ext uri="{FF2B5EF4-FFF2-40B4-BE49-F238E27FC236}">
                      <a16:creationId xmlns:a16="http://schemas.microsoft.com/office/drawing/2014/main" id="{0646A1E1-E0F1-EC6D-E56B-710C50476C00}"/>
                    </a:ext>
                  </a:extLst>
                </p:cNvPr>
                <p:cNvSpPr txBox="1"/>
                <p:nvPr/>
              </p:nvSpPr>
              <p:spPr>
                <a:xfrm>
                  <a:off x="9945415" y="4815719"/>
                  <a:ext cx="578939" cy="7019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oMath>
                    </m:oMathPara>
                  </a14:m>
                  <a:endParaRPr lang="en-GB" sz="2800" dirty="0"/>
                </a:p>
              </p:txBody>
            </p:sp>
          </mc:Choice>
          <mc:Fallback xmlns="">
            <p:sp>
              <p:nvSpPr>
                <p:cNvPr id="34" name="TextBox 27">
                  <a:extLst>
                    <a:ext uri="{FF2B5EF4-FFF2-40B4-BE49-F238E27FC236}">
                      <a16:creationId xmlns:a16="http://schemas.microsoft.com/office/drawing/2014/main" id="{0646A1E1-E0F1-EC6D-E56B-710C50476C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5415" y="4815719"/>
                  <a:ext cx="578939" cy="701917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Connector 21">
              <a:extLst>
                <a:ext uri="{FF2B5EF4-FFF2-40B4-BE49-F238E27FC236}">
                  <a16:creationId xmlns:a16="http://schemas.microsoft.com/office/drawing/2014/main" id="{60E95835-A2E7-51A0-15C9-C78F7427039E}"/>
                </a:ext>
              </a:extLst>
            </p:cNvPr>
            <p:cNvCxnSpPr>
              <a:cxnSpLocks/>
            </p:cNvCxnSpPr>
            <p:nvPr/>
          </p:nvCxnSpPr>
          <p:spPr>
            <a:xfrm>
              <a:off x="1963557" y="3046153"/>
              <a:ext cx="7607241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23">
                  <a:extLst>
                    <a:ext uri="{FF2B5EF4-FFF2-40B4-BE49-F238E27FC236}">
                      <a16:creationId xmlns:a16="http://schemas.microsoft.com/office/drawing/2014/main" id="{31AE5B92-2E26-A054-273B-ACC9472FD58A}"/>
                    </a:ext>
                  </a:extLst>
                </p:cNvPr>
                <p:cNvSpPr txBox="1"/>
                <p:nvPr/>
              </p:nvSpPr>
              <p:spPr>
                <a:xfrm>
                  <a:off x="201729" y="2662694"/>
                  <a:ext cx="1030728" cy="7019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sz="2800" b="0" i="1" smtClean="0">
                                <a:latin typeface="Cambria Math" panose="02040503050406030204" pitchFamily="18" charset="0"/>
                              </a:rPr>
                              <m:t>worst</m:t>
                            </m:r>
                          </m:sub>
                        </m:sSub>
                      </m:oMath>
                    </m:oMathPara>
                  </a14:m>
                  <a:endParaRPr lang="en-GB" sz="2800" dirty="0"/>
                </a:p>
              </p:txBody>
            </p:sp>
          </mc:Choice>
          <mc:Fallback xmlns="">
            <p:sp>
              <p:nvSpPr>
                <p:cNvPr id="36" name="TextBox 23">
                  <a:extLst>
                    <a:ext uri="{FF2B5EF4-FFF2-40B4-BE49-F238E27FC236}">
                      <a16:creationId xmlns:a16="http://schemas.microsoft.com/office/drawing/2014/main" id="{31AE5B92-2E26-A054-273B-ACC9472FD5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729" y="2662694"/>
                  <a:ext cx="1030728" cy="701917"/>
                </a:xfrm>
                <a:prstGeom prst="rect">
                  <a:avLst/>
                </a:prstGeom>
                <a:blipFill>
                  <a:blip r:embed="rId9"/>
                  <a:stretch>
                    <a:fillRect r="-6774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27">
                  <a:extLst>
                    <a:ext uri="{FF2B5EF4-FFF2-40B4-BE49-F238E27FC236}">
                      <a16:creationId xmlns:a16="http://schemas.microsoft.com/office/drawing/2014/main" id="{C8C50C50-CE88-67EB-7198-36484002F3C3}"/>
                    </a:ext>
                  </a:extLst>
                </p:cNvPr>
                <p:cNvSpPr txBox="1"/>
                <p:nvPr/>
              </p:nvSpPr>
              <p:spPr>
                <a:xfrm>
                  <a:off x="1761047" y="1576782"/>
                  <a:ext cx="405022" cy="7019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en-GB" sz="2800" dirty="0"/>
                </a:p>
              </p:txBody>
            </p:sp>
          </mc:Choice>
          <mc:Fallback xmlns="">
            <p:sp>
              <p:nvSpPr>
                <p:cNvPr id="39" name="TextBox 27">
                  <a:extLst>
                    <a:ext uri="{FF2B5EF4-FFF2-40B4-BE49-F238E27FC236}">
                      <a16:creationId xmlns:a16="http://schemas.microsoft.com/office/drawing/2014/main" id="{C8C50C50-CE88-67EB-7198-36484002F3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1047" y="1576782"/>
                  <a:ext cx="405022" cy="70191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4">
            <a:extLst>
              <a:ext uri="{FF2B5EF4-FFF2-40B4-BE49-F238E27FC236}">
                <a16:creationId xmlns:a16="http://schemas.microsoft.com/office/drawing/2014/main" id="{9075EF7B-FA77-5260-23DD-C988A0C3CC91}"/>
              </a:ext>
            </a:extLst>
          </p:cNvPr>
          <p:cNvSpPr txBox="1"/>
          <p:nvPr/>
        </p:nvSpPr>
        <p:spPr>
          <a:xfrm rot="321151">
            <a:off x="8430594" y="2096321"/>
            <a:ext cx="2971459" cy="58477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lvl="1" algn="ctr"/>
            <a:r>
              <a:rPr lang="en-GB" altLang="zh-CN" sz="3200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Supercritical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389AF9E-8623-B49B-381C-F329966E44EA}"/>
                  </a:ext>
                </a:extLst>
              </p:cNvPr>
              <p:cNvSpPr txBox="1"/>
              <p:nvPr/>
            </p:nvSpPr>
            <p:spPr>
              <a:xfrm>
                <a:off x="916065" y="5045384"/>
                <a:ext cx="897697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→ Optimizing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𝛼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pushes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𝛽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way beyond brute-force worst case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389AF9E-8623-B49B-381C-F329966E44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065" y="5045384"/>
                <a:ext cx="8976976" cy="461665"/>
              </a:xfrm>
              <a:prstGeom prst="rect">
                <a:avLst/>
              </a:prstGeom>
              <a:blipFill>
                <a:blip r:embed="rId11"/>
                <a:stretch>
                  <a:fillRect l="-1018" t="-10667" b="-30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Verbindungsstelle 40">
            <a:extLst>
              <a:ext uri="{FF2B5EF4-FFF2-40B4-BE49-F238E27FC236}">
                <a16:creationId xmlns:a16="http://schemas.microsoft.com/office/drawing/2014/main" id="{A33C0335-A933-B8E4-248E-AEAEBC7BF314}"/>
              </a:ext>
            </a:extLst>
          </p:cNvPr>
          <p:cNvSpPr/>
          <p:nvPr/>
        </p:nvSpPr>
        <p:spPr>
          <a:xfrm flipH="1">
            <a:off x="1656683" y="2931084"/>
            <a:ext cx="100070" cy="94336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Verbindungsstelle 40">
            <a:extLst>
              <a:ext uri="{FF2B5EF4-FFF2-40B4-BE49-F238E27FC236}">
                <a16:creationId xmlns:a16="http://schemas.microsoft.com/office/drawing/2014/main" id="{59C8D85E-2ABF-1338-6DC3-FB5A08E54D2D}"/>
              </a:ext>
            </a:extLst>
          </p:cNvPr>
          <p:cNvSpPr/>
          <p:nvPr/>
        </p:nvSpPr>
        <p:spPr>
          <a:xfrm flipH="1">
            <a:off x="3543879" y="3671943"/>
            <a:ext cx="100070" cy="94336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Verbindungsstelle 40">
            <a:extLst>
              <a:ext uri="{FF2B5EF4-FFF2-40B4-BE49-F238E27FC236}">
                <a16:creationId xmlns:a16="http://schemas.microsoft.com/office/drawing/2014/main" id="{5CA753B5-4246-2922-9A73-FEB0A7CA2B44}"/>
              </a:ext>
            </a:extLst>
          </p:cNvPr>
          <p:cNvSpPr/>
          <p:nvPr/>
        </p:nvSpPr>
        <p:spPr>
          <a:xfrm flipH="1">
            <a:off x="7132244" y="2931084"/>
            <a:ext cx="100070" cy="94336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Verbindungsstelle 40">
            <a:extLst>
              <a:ext uri="{FF2B5EF4-FFF2-40B4-BE49-F238E27FC236}">
                <a16:creationId xmlns:a16="http://schemas.microsoft.com/office/drawing/2014/main" id="{B36DDBC8-D108-D3BC-13F2-F3FD2D67F5A9}"/>
              </a:ext>
            </a:extLst>
          </p:cNvPr>
          <p:cNvSpPr/>
          <p:nvPr/>
        </p:nvSpPr>
        <p:spPr>
          <a:xfrm flipH="1">
            <a:off x="10534453" y="3671943"/>
            <a:ext cx="100070" cy="94336"/>
          </a:xfrm>
          <a:prstGeom prst="flowChartConnector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3D4189-7D8B-B09B-305C-9B2D875C4AB9}"/>
              </a:ext>
            </a:extLst>
          </p:cNvPr>
          <p:cNvSpPr txBox="1"/>
          <p:nvPr/>
        </p:nvSpPr>
        <p:spPr>
          <a:xfrm>
            <a:off x="916065" y="5757547"/>
            <a:ext cx="122192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Follow-up work in </a:t>
            </a:r>
            <a:r>
              <a:rPr lang="en-GB" altLang="zh-CN" sz="24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[Raz‘17, Raz‘18, </a:t>
            </a:r>
            <a:r>
              <a:rPr lang="en-GB" sz="24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BN‘20, FPR‘22, BN‘23, GLN‘23, BT‘24, CD‘24</a:t>
            </a:r>
            <a:r>
              <a:rPr lang="en-GB" altLang="zh-CN" sz="24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]</a:t>
            </a:r>
          </a:p>
          <a:p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endParaRPr lang="en-GB"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Foliennummernplatzhalter 7">
            <a:extLst>
              <a:ext uri="{FF2B5EF4-FFF2-40B4-BE49-F238E27FC236}">
                <a16:creationId xmlns:a16="http://schemas.microsoft.com/office/drawing/2014/main" id="{3DFF0EB2-1EC9-F00B-CBA0-26C150C5A6EE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530D112-B9FF-4E08-90B6-37EA964743A0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016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0" grpId="0" animBg="1"/>
      <p:bldP spid="11" grpId="0" animBg="1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D6702D-067D-083A-E111-374DCCADA0B1}"/>
              </a:ext>
            </a:extLst>
          </p:cNvPr>
          <p:cNvSpPr txBox="1"/>
          <p:nvPr/>
        </p:nvSpPr>
        <p:spPr>
          <a:xfrm>
            <a:off x="914400" y="731520"/>
            <a:ext cx="9274363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altLang="zh-CN" sz="28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Supercritical Trade-offs Through Hardness Condensation</a:t>
            </a:r>
            <a:endParaRPr lang="en-GB" altLang="zh-CN" sz="2400" dirty="0">
              <a:solidFill>
                <a:srgbClr val="3C28FB"/>
              </a:solidFill>
              <a:latin typeface="Iskoola Pota" panose="020B0502040204020203" pitchFamily="34" charset="0"/>
              <a:cs typeface="Iskoola Pota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E54483-4175-62FB-EEC4-72E51A8CD2D1}"/>
              </a:ext>
            </a:extLst>
          </p:cNvPr>
          <p:cNvSpPr txBox="1"/>
          <p:nvPr/>
        </p:nvSpPr>
        <p:spPr>
          <a:xfrm>
            <a:off x="745070" y="5616295"/>
            <a:ext cx="1071879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Used in </a:t>
            </a:r>
            <a:r>
              <a:rPr lang="en-GB" altLang="zh-CN" sz="24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[Razborov ‘16, </a:t>
            </a:r>
            <a:r>
              <a:rPr lang="en-GB" sz="24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BN‘20, FPR‘22, BN‘23, GLN‘23, CD’24,</a:t>
            </a:r>
            <a:r>
              <a:rPr lang="en-GB" sz="2400" b="0" dirty="0">
                <a:solidFill>
                  <a:srgbClr val="3C28FB"/>
                </a:solidFill>
                <a:effectLst/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…</a:t>
            </a:r>
            <a:r>
              <a:rPr lang="en-GB" altLang="zh-CN" sz="24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feld 51">
                <a:extLst>
                  <a:ext uri="{FF2B5EF4-FFF2-40B4-BE49-F238E27FC236}">
                    <a16:creationId xmlns:a16="http://schemas.microsoft.com/office/drawing/2014/main" id="{39C929CA-984D-3043-127D-636FBA371196}"/>
                  </a:ext>
                </a:extLst>
              </p:cNvPr>
              <p:cNvSpPr txBox="1"/>
              <p:nvPr/>
            </p:nvSpPr>
            <p:spPr>
              <a:xfrm>
                <a:off x="855024" y="2060133"/>
                <a:ext cx="6347360" cy="27699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altLang="zh-CN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Take medium-</a:t>
                </a:r>
                <a:r>
                  <a:rPr lang="en-GB" altLang="zh-CN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hard</a:t>
                </a:r>
                <a:r>
                  <a:rPr lang="en-GB" altLang="zh-CN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altLang="zh-CN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input</a:t>
                </a:r>
                <a:r>
                  <a:rPr lang="en-GB" altLang="zh-CN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in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GB" sz="2400" b="0" i="1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</m:ctrlPr>
                      </m:sSubPr>
                      <m:e>
                        <m:r>
                          <a:rPr lang="zh-CN" altLang="en-GB" sz="2400" b="0" i="1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𝑥</m:t>
                        </m:r>
                      </m:e>
                      <m:sub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GB" altLang="zh-CN" sz="2400" b="0" i="1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,…, </m:t>
                    </m:r>
                    <m:sSub>
                      <m:sSubPr>
                        <m:ctrlPr>
                          <a:rPr lang="zh-CN" altLang="en-GB" sz="2400" b="0" i="1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</m:ctrlPr>
                      </m:sSubPr>
                      <m:e>
                        <m:r>
                          <a:rPr lang="zh-CN" altLang="en-GB" sz="2400" b="0" i="1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𝑥</m:t>
                        </m:r>
                      </m:e>
                      <m:sub>
                        <m:r>
                          <a:rPr lang="zh-CN" altLang="en-GB" sz="2400" b="0" i="1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𝑛</m:t>
                        </m:r>
                      </m:sub>
                    </m:sSub>
                    <m:r>
                      <a:rPr lang="en-GB" altLang="zh-CN" sz="2400" b="0" i="1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 </m:t>
                    </m:r>
                  </m:oMath>
                </a14:m>
                <a:endParaRPr lang="en-GB" altLang="zh-CN" sz="2400" b="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endParaRPr lang="en-GB" altLang="zh-CN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altLang="zh-CN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«</a:t>
                </a:r>
                <a:r>
                  <a:rPr lang="en-GB" altLang="zh-CN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Condense</a:t>
                </a:r>
                <a:r>
                  <a:rPr lang="en-GB" altLang="zh-CN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» </a:t>
                </a:r>
                <a:r>
                  <a:rPr lang="en-GB" altLang="zh-CN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by</a:t>
                </a:r>
                <a:r>
                  <a:rPr lang="en-GB" altLang="zh-CN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altLang="zh-CN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substituting</a:t>
                </a:r>
                <a:r>
                  <a:rPr lang="en-GB" altLang="zh-CN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GB" sz="2400" b="0" i="1" smtClean="0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sSubPr>
                      <m:e>
                        <m:r>
                          <a:rPr lang="zh-CN" altLang="en-GB" sz="2400" b="0" i="1" smtClean="0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𝑥</m:t>
                        </m:r>
                      </m:e>
                      <m:sub>
                        <m:r>
                          <a:rPr lang="zh-CN" altLang="en-GB" sz="2400" b="0" i="1" smtClean="0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altLang="zh-CN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by XORs over distinct subsets of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en-GB" sz="2400" b="0" i="1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</m:ctrlPr>
                      </m:sSubPr>
                      <m:e>
                        <m:r>
                          <a:rPr lang="zh-CN" altLang="en-GB" sz="2400" b="0" i="1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𝑦</m:t>
                        </m:r>
                      </m:e>
                      <m:sub>
                        <m:r>
                          <a:rPr lang="en-GB" altLang="zh-CN" sz="2400" b="0" i="1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1</m:t>
                        </m:r>
                      </m:sub>
                    </m:sSub>
                    <m:r>
                      <a:rPr lang="en-GB" altLang="zh-CN" sz="2400" b="0" i="1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,…, </m:t>
                    </m:r>
                    <m:sSub>
                      <m:sSubPr>
                        <m:ctrlPr>
                          <a:rPr lang="zh-CN" altLang="en-GB" sz="2400" b="0" i="1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</m:ctrlPr>
                      </m:sSubPr>
                      <m:e>
                        <m:r>
                          <a:rPr lang="zh-CN" altLang="en-GB" sz="2400" b="0" i="1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𝑦</m:t>
                        </m:r>
                      </m:e>
                      <m:sub>
                        <m:r>
                          <a:rPr lang="zh-CN" altLang="en-GB" sz="2400" b="0" i="1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𝑚</m:t>
                        </m:r>
                      </m:sub>
                    </m:sSub>
                    <m:r>
                      <a:rPr lang="en-GB" altLang="zh-CN" sz="2400" b="0" i="1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 </m:t>
                    </m:r>
                  </m:oMath>
                </a14:m>
                <a:endParaRPr lang="en-GB" altLang="zh-CN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GB" altLang="zh-CN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altLang="zh-CN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Show </a:t>
                </a:r>
                <a:r>
                  <a:rPr lang="en-GB" altLang="zh-CN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hardness</a:t>
                </a:r>
                <a:r>
                  <a:rPr lang="en-GB" altLang="zh-CN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altLang="zh-CN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is</a:t>
                </a:r>
                <a:r>
                  <a:rPr lang="en-GB" altLang="zh-CN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altLang="zh-CN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nearly</a:t>
                </a:r>
                <a:r>
                  <a:rPr lang="en-GB" altLang="zh-CN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altLang="zh-CN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preserved</a:t>
                </a:r>
                <a:endParaRPr lang="en-GB" altLang="zh-CN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GB" altLang="zh-CN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altLang="zh-CN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But measured in </a:t>
                </a:r>
                <a14:m>
                  <m:oMath xmlns:m="http://schemas.openxmlformats.org/officeDocument/2006/math">
                    <m:r>
                      <a:rPr lang="zh-CN" altLang="en-GB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𝑚</m:t>
                    </m:r>
                    <m:r>
                      <a:rPr lang="zh-CN" altLang="en-GB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≪</m:t>
                    </m:r>
                    <m:r>
                      <a:rPr lang="zh-CN" altLang="en-GB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𝑛</m:t>
                    </m:r>
                  </m:oMath>
                </a14:m>
                <a:r>
                  <a:rPr lang="en-GB" altLang="zh-CN" sz="2400" dirty="0">
                    <a:solidFill>
                      <a:srgbClr val="FF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: </a:t>
                </a:r>
                <a:r>
                  <a:rPr lang="en-GB" altLang="zh-CN" sz="2400" dirty="0" err="1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supercritical</a:t>
                </a:r>
                <a:r>
                  <a:rPr lang="en-GB" altLang="zh-CN" sz="2400" dirty="0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2" name="Textfeld 51">
                <a:extLst>
                  <a:ext uri="{FF2B5EF4-FFF2-40B4-BE49-F238E27FC236}">
                    <a16:creationId xmlns:a16="http://schemas.microsoft.com/office/drawing/2014/main" id="{39C929CA-984D-3043-127D-636FBA3711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24" y="2060133"/>
                <a:ext cx="6347360" cy="2769989"/>
              </a:xfrm>
              <a:prstGeom prst="rect">
                <a:avLst/>
              </a:prstGeom>
              <a:blipFill>
                <a:blip r:embed="rId3"/>
                <a:stretch>
                  <a:fillRect l="-1249" t="-1762" b="-4185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8" name="Foliennummernplatzhalter 107">
            <a:extLst>
              <a:ext uri="{FF2B5EF4-FFF2-40B4-BE49-F238E27FC236}">
                <a16:creationId xmlns:a16="http://schemas.microsoft.com/office/drawing/2014/main" id="{45701165-D295-6158-EDA7-F38194613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4</a:t>
            </a:fld>
            <a:endParaRPr lang="en-GB" dirty="0"/>
          </a:p>
        </p:txBody>
      </p:sp>
      <p:pic>
        <p:nvPicPr>
          <p:cNvPr id="4" name="compression.pdf" descr="compression.pdf">
            <a:extLst>
              <a:ext uri="{FF2B5EF4-FFF2-40B4-BE49-F238E27FC236}">
                <a16:creationId xmlns:a16="http://schemas.microsoft.com/office/drawing/2014/main" id="{76D257FD-889D-D4BD-180D-9C398D544D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5644" t="22015" r="35644" b="53529"/>
          <a:stretch>
            <a:fillRect/>
          </a:stretch>
        </p:blipFill>
        <p:spPr>
          <a:xfrm>
            <a:off x="6979605" y="1602029"/>
            <a:ext cx="5212395" cy="34307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042471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002D6-B8C5-F6A4-3F3F-95C7D21D5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E2E032-C84E-C689-5295-FBD693D1D85E}"/>
              </a:ext>
            </a:extLst>
          </p:cNvPr>
          <p:cNvSpPr txBox="1"/>
          <p:nvPr/>
        </p:nvSpPr>
        <p:spPr>
          <a:xfrm>
            <a:off x="914400" y="731520"/>
            <a:ext cx="881608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altLang="zh-CN" sz="28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Supercritical in What?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CFFD5197-846C-5D4D-D697-CB9856DBD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5</a:t>
            </a:fld>
            <a:endParaRPr lang="en-GB" dirty="0"/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8043B1B9-7625-DB67-C63B-0B1F4401D90A}"/>
              </a:ext>
            </a:extLst>
          </p:cNvPr>
          <p:cNvSpPr txBox="1"/>
          <p:nvPr/>
        </p:nvSpPr>
        <p:spPr>
          <a:xfrm>
            <a:off x="7760049" y="5181403"/>
            <a:ext cx="41249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[Berkholz ‘12, BBI ‘12, BNT ‘13]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B422522A-E1CC-5B9D-186B-BAC20B1EA5EE}"/>
              </a:ext>
            </a:extLst>
          </p:cNvPr>
          <p:cNvSpPr txBox="1"/>
          <p:nvPr/>
        </p:nvSpPr>
        <p:spPr>
          <a:xfrm>
            <a:off x="867050" y="5137571"/>
            <a:ext cx="6219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All trade-offs supercritical in # variables only, 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F4BE70C-4567-23E9-C829-5613188057DA}"/>
              </a:ext>
            </a:extLst>
          </p:cNvPr>
          <p:cNvGrpSpPr/>
          <p:nvPr/>
        </p:nvGrpSpPr>
        <p:grpSpPr>
          <a:xfrm>
            <a:off x="1521571" y="1426170"/>
            <a:ext cx="9114823" cy="3282311"/>
            <a:chOff x="552050" y="1363414"/>
            <a:chExt cx="9114823" cy="3282311"/>
          </a:xfrm>
        </p:grpSpPr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C8850530-181C-E751-423D-689FE3346C98}"/>
                </a:ext>
              </a:extLst>
            </p:cNvPr>
            <p:cNvGrpSpPr/>
            <p:nvPr/>
          </p:nvGrpSpPr>
          <p:grpSpPr>
            <a:xfrm>
              <a:off x="894882" y="1733444"/>
              <a:ext cx="8771991" cy="2912281"/>
              <a:chOff x="1963557" y="2178372"/>
              <a:chExt cx="15669686" cy="3386656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B6765A0-ED4A-E726-DE16-9C7987E66979}"/>
                  </a:ext>
                </a:extLst>
              </p:cNvPr>
              <p:cNvSpPr/>
              <p:nvPr/>
            </p:nvSpPr>
            <p:spPr>
              <a:xfrm>
                <a:off x="1963557" y="3790764"/>
                <a:ext cx="6151741" cy="1240399"/>
              </a:xfrm>
              <a:prstGeom prst="rect">
                <a:avLst/>
              </a:prstGeom>
              <a:solidFill>
                <a:srgbClr val="FF0000">
                  <a:alpha val="10000"/>
                </a:srgbClr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C3CBD7BC-EF7F-3D1F-DC9E-9E6CF40F1DC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3557" y="5013722"/>
                <a:ext cx="14998276" cy="17463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BE0B3C07-978A-F90A-7F1B-FB8C3B01CBC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3557" y="2178372"/>
                <a:ext cx="0" cy="2852812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7D39F0AD-F77D-35C0-4596-0B6CD539E08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416746" y="2320290"/>
                <a:ext cx="0" cy="2710871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D6B75ACF-BB32-BC8B-69A5-7A482D153F71}"/>
                      </a:ext>
                    </a:extLst>
                  </p:cNvPr>
                  <p:cNvSpPr txBox="1"/>
                  <p:nvPr/>
                </p:nvSpPr>
                <p:spPr>
                  <a:xfrm>
                    <a:off x="4951081" y="5171328"/>
                    <a:ext cx="2213915" cy="393700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GB" sz="2200" i="1">
                                  <a:latin typeface="Cambria Math" panose="02040503050406030204" pitchFamily="18" charset="0"/>
                                </a:rPr>
                                <m:t>worst</m:t>
                              </m:r>
                            </m:sub>
                          </m:sSub>
                          <m:r>
                            <a:rPr lang="en-GB" sz="22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200" b="0" i="1" smtClean="0">
                              <a:latin typeface="Cambria Math" panose="02040503050406030204" pitchFamily="18" charset="0"/>
                            </a:rPr>
                            <m:t>#</m:t>
                          </m:r>
                          <m:r>
                            <m:rPr>
                              <m:sty m:val="p"/>
                            </m:rPr>
                            <a:rPr lang="en-GB" sz="2200" i="1">
                              <a:latin typeface="Cambria Math" panose="02040503050406030204" pitchFamily="18" charset="0"/>
                            </a:rPr>
                            <m:t>Vars</m:t>
                          </m:r>
                          <m:r>
                            <a:rPr lang="en-GB" sz="2200" i="1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GB" sz="2200" dirty="0"/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D6B75ACF-BB32-BC8B-69A5-7A482D153F7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51081" y="5171328"/>
                    <a:ext cx="2213915" cy="39370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0345" r="-47291" b="-34545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D76F49FE-F77C-1280-903C-2483E3EB8D91}"/>
                      </a:ext>
                    </a:extLst>
                  </p:cNvPr>
                  <p:cNvSpPr txBox="1"/>
                  <p:nvPr/>
                </p:nvSpPr>
                <p:spPr>
                  <a:xfrm>
                    <a:off x="17063980" y="4780623"/>
                    <a:ext cx="569263" cy="50107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oMath>
                      </m:oMathPara>
                    </a14:m>
                    <a:endParaRPr lang="en-GB" sz="2800" dirty="0"/>
                  </a:p>
                </p:txBody>
              </p:sp>
            </mc:Choice>
            <mc:Fallback xmlns="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D76F49FE-F77C-1280-903C-2483E3EB8D9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063980" y="4780623"/>
                    <a:ext cx="569263" cy="50107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7">
                  <a:extLst>
                    <a:ext uri="{FF2B5EF4-FFF2-40B4-BE49-F238E27FC236}">
                      <a16:creationId xmlns:a16="http://schemas.microsoft.com/office/drawing/2014/main" id="{9625550E-E0A1-EF45-E348-E0BF8125DE51}"/>
                    </a:ext>
                  </a:extLst>
                </p:cNvPr>
                <p:cNvSpPr txBox="1"/>
                <p:nvPr/>
              </p:nvSpPr>
              <p:spPr>
                <a:xfrm>
                  <a:off x="552050" y="1363414"/>
                  <a:ext cx="222944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sz="2800" b="0" i="1" smtClean="0">
                            <a:latin typeface="Cambria Math" panose="02040503050406030204" pitchFamily="18" charset="0"/>
                          </a:rPr>
                          <m:t>α</m:t>
                        </m:r>
                      </m:oMath>
                    </m:oMathPara>
                  </a14:m>
                  <a:endParaRPr lang="en-US" sz="2800" b="0" dirty="0"/>
                </a:p>
              </p:txBody>
            </p:sp>
          </mc:Choice>
          <mc:Fallback xmlns="">
            <p:sp>
              <p:nvSpPr>
                <p:cNvPr id="29" name="TextBox 27">
                  <a:extLst>
                    <a:ext uri="{FF2B5EF4-FFF2-40B4-BE49-F238E27FC236}">
                      <a16:creationId xmlns:a16="http://schemas.microsoft.com/office/drawing/2014/main" id="{9625550E-E0A1-EF45-E348-E0BF8125DE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050" y="1363414"/>
                  <a:ext cx="222944" cy="43088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16BD66F-6E86-2967-8CFC-5B3502DFEEA2}"/>
              </a:ext>
            </a:extLst>
          </p:cNvPr>
          <p:cNvSpPr txBox="1"/>
          <p:nvPr/>
        </p:nvSpPr>
        <p:spPr>
          <a:xfrm>
            <a:off x="272716" y="5899220"/>
            <a:ext cx="10595809" cy="3693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→ Can we prove similar trade-offs </a:t>
            </a:r>
            <a:r>
              <a:rPr lang="en-GB" sz="2400" i="1" dirty="0">
                <a:solidFill>
                  <a:srgbClr val="3C28F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truly </a:t>
            </a: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supercritical </a:t>
            </a:r>
            <a:r>
              <a:rPr lang="en-GB" sz="2400" i="1" dirty="0">
                <a:solidFill>
                  <a:srgbClr val="3C28F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 input size?</a:t>
            </a:r>
            <a:r>
              <a:rPr lang="en-GB" sz="2400" dirty="0">
                <a:solidFill>
                  <a:srgbClr val="3C28F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C84BD7-B766-65FF-6775-696954FD249C}"/>
              </a:ext>
            </a:extLst>
          </p:cNvPr>
          <p:cNvSpPr txBox="1"/>
          <p:nvPr/>
        </p:nvSpPr>
        <p:spPr>
          <a:xfrm>
            <a:off x="6970463" y="5137570"/>
            <a:ext cx="11499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except</a:t>
            </a:r>
          </a:p>
        </p:txBody>
      </p:sp>
      <p:cxnSp>
        <p:nvCxnSpPr>
          <p:cNvPr id="18" name="Straight Connector 21">
            <a:extLst>
              <a:ext uri="{FF2B5EF4-FFF2-40B4-BE49-F238E27FC236}">
                <a16:creationId xmlns:a16="http://schemas.microsoft.com/office/drawing/2014/main" id="{C1EBFDE6-828D-2215-CBE0-BBDB08E6D21D}"/>
              </a:ext>
            </a:extLst>
          </p:cNvPr>
          <p:cNvCxnSpPr>
            <a:cxnSpLocks/>
          </p:cNvCxnSpPr>
          <p:nvPr/>
        </p:nvCxnSpPr>
        <p:spPr>
          <a:xfrm flipV="1">
            <a:off x="1864403" y="2692396"/>
            <a:ext cx="7549107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23">
                <a:extLst>
                  <a:ext uri="{FF2B5EF4-FFF2-40B4-BE49-F238E27FC236}">
                    <a16:creationId xmlns:a16="http://schemas.microsoft.com/office/drawing/2014/main" id="{95382356-E7B3-7DCE-3F2C-F6199EF9F143}"/>
                  </a:ext>
                </a:extLst>
              </p:cNvPr>
              <p:cNvSpPr txBox="1"/>
              <p:nvPr/>
            </p:nvSpPr>
            <p:spPr>
              <a:xfrm>
                <a:off x="779892" y="2479239"/>
                <a:ext cx="567364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worst</m:t>
                          </m:r>
                        </m:sub>
                      </m:sSub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2" name="TextBox 23">
                <a:extLst>
                  <a:ext uri="{FF2B5EF4-FFF2-40B4-BE49-F238E27FC236}">
                    <a16:creationId xmlns:a16="http://schemas.microsoft.com/office/drawing/2014/main" id="{95382356-E7B3-7DCE-3F2C-F6199EF9F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892" y="2479239"/>
                <a:ext cx="567364" cy="430887"/>
              </a:xfrm>
              <a:prstGeom prst="rect">
                <a:avLst/>
              </a:prstGeom>
              <a:blipFill>
                <a:blip r:embed="rId6"/>
                <a:stretch>
                  <a:fillRect r="-677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BDE451C-A793-46EC-F41B-2D78DA5B7AAE}"/>
              </a:ext>
            </a:extLst>
          </p:cNvPr>
          <p:cNvCxnSpPr>
            <a:cxnSpLocks/>
          </p:cNvCxnSpPr>
          <p:nvPr/>
        </p:nvCxnSpPr>
        <p:spPr>
          <a:xfrm flipV="1">
            <a:off x="7594761" y="1899794"/>
            <a:ext cx="0" cy="2331154"/>
          </a:xfrm>
          <a:prstGeom prst="line">
            <a:avLst/>
          </a:prstGeom>
          <a:ln w="19050" cap="flat" cmpd="sng" algn="ctr">
            <a:solidFill>
              <a:srgbClr val="3C28FB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9F897A-7ACC-DDD0-07FB-F31C23B7D45B}"/>
                  </a:ext>
                </a:extLst>
              </p:cNvPr>
              <p:cNvSpPr txBox="1"/>
              <p:nvPr/>
            </p:nvSpPr>
            <p:spPr>
              <a:xfrm>
                <a:off x="6750521" y="4355986"/>
                <a:ext cx="1239364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0" i="1" smtClean="0">
                              <a:solidFill>
                                <a:srgbClr val="3C28FB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solidFill>
                                <a:srgbClr val="3C28FB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GB" sz="2200" i="1">
                              <a:solidFill>
                                <a:srgbClr val="3C28FB"/>
                              </a:solidFill>
                              <a:latin typeface="Cambria Math" panose="02040503050406030204" pitchFamily="18" charset="0"/>
                            </a:rPr>
                            <m:t>worst</m:t>
                          </m:r>
                        </m:sub>
                      </m:sSub>
                      <m:r>
                        <a:rPr lang="en-GB" sz="2200" i="1">
                          <a:solidFill>
                            <a:srgbClr val="3C28FB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200" b="0" i="0" smtClean="0">
                          <a:solidFill>
                            <a:srgbClr val="3C28FB"/>
                          </a:solidFill>
                          <a:latin typeface="Cambria Math" panose="02040503050406030204" pitchFamily="18" charset="0"/>
                        </a:rPr>
                        <m:t>size</m:t>
                      </m:r>
                      <m:r>
                        <a:rPr lang="en-GB" sz="2200" i="1">
                          <a:solidFill>
                            <a:srgbClr val="3C28FB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2200" dirty="0">
                  <a:solidFill>
                    <a:srgbClr val="3C28FB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09F897A-7ACC-DDD0-07FB-F31C23B7D4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0521" y="4355986"/>
                <a:ext cx="1239364" cy="338554"/>
              </a:xfrm>
              <a:prstGeom prst="rect">
                <a:avLst/>
              </a:prstGeom>
              <a:blipFill>
                <a:blip r:embed="rId7"/>
                <a:stretch>
                  <a:fillRect l="-10294" r="-25980" b="-34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9175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15" grpId="0" animBg="1"/>
      <p:bldP spid="16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2257B45D-6B10-8793-C9B9-4E9DF5EE63BC}"/>
              </a:ext>
            </a:extLst>
          </p:cNvPr>
          <p:cNvSpPr txBox="1"/>
          <p:nvPr/>
        </p:nvSpPr>
        <p:spPr>
          <a:xfrm>
            <a:off x="914400" y="731520"/>
            <a:ext cx="881608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altLang="zh-CN" sz="28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Overview of Our Results (Informal)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E1517B6-15F1-6CF9-AE4E-12E56C174F2D}"/>
              </a:ext>
            </a:extLst>
          </p:cNvPr>
          <p:cNvSpPr txBox="1"/>
          <p:nvPr/>
        </p:nvSpPr>
        <p:spPr>
          <a:xfrm>
            <a:off x="914400" y="1292796"/>
            <a:ext cx="1029443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Truly supercritical trade-offs for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depth vs width in resolution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size vs width in tree-like resolution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size vs depth in resolution and cutting planes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size vs depth for monotone circuits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dimension vs iteration number for </a:t>
            </a:r>
            <a:r>
              <a:rPr lang="en-GB"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Weisfeiler</a:t>
            </a: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–Leman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GB"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54E22E7-3ADE-316F-41F3-B4B07258B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6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64E7F5-8C05-D54C-966A-5DC87A9171D2}"/>
              </a:ext>
            </a:extLst>
          </p:cNvPr>
          <p:cNvSpPr txBox="1"/>
          <p:nvPr/>
        </p:nvSpPr>
        <p:spPr>
          <a:xfrm>
            <a:off x="914400" y="3697099"/>
            <a:ext cx="106839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Answering open questions in </a:t>
            </a:r>
            <a:r>
              <a:rPr lang="en-GB" altLang="zh-CN" sz="20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</a:t>
            </a:r>
            <a:r>
              <a:rPr lang="en-GB" altLang="zh-CN" sz="2000" dirty="0" err="1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Razborov</a:t>
            </a:r>
            <a:r>
              <a:rPr lang="en-GB" altLang="zh-CN" sz="20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‘16, GGKS ‘18, FGIPRTW</a:t>
            </a:r>
            <a:r>
              <a:rPr lang="en-GB" sz="20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‘21,</a:t>
            </a:r>
            <a:r>
              <a:rPr lang="en-GB" altLang="zh-CN" sz="20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</a:t>
            </a:r>
            <a:r>
              <a:rPr lang="en-GB" sz="20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FPR ‘22, GLNS ‘23</a:t>
            </a:r>
            <a:r>
              <a:rPr lang="en-GB" altLang="zh-CN" sz="20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]</a:t>
            </a:r>
          </a:p>
          <a:p>
            <a:endParaRPr lang="en-GB"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131B04-3B1F-765E-FFBE-F1A09B2DD8D3}"/>
              </a:ext>
            </a:extLst>
          </p:cNvPr>
          <p:cNvSpPr txBox="1"/>
          <p:nvPr/>
        </p:nvSpPr>
        <p:spPr>
          <a:xfrm>
            <a:off x="914398" y="5026742"/>
            <a:ext cx="106839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Next up: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zh-CN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More precise statement of the results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zh-CN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Preliminaries to make sense of statements</a:t>
            </a:r>
            <a:endParaRPr lang="en-GB" altLang="zh-CN" sz="2400" dirty="0"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endParaRPr lang="en-GB"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B1AC90-89C4-8589-8956-CB57D816A5A2}"/>
              </a:ext>
            </a:extLst>
          </p:cNvPr>
          <p:cNvSpPr txBox="1"/>
          <p:nvPr/>
        </p:nvSpPr>
        <p:spPr>
          <a:xfrm>
            <a:off x="914398" y="4338837"/>
            <a:ext cx="106839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Related concurrent work by </a:t>
            </a:r>
            <a:r>
              <a:rPr lang="en-GB" altLang="zh-CN" sz="24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[G</a:t>
            </a:r>
            <a:r>
              <a:rPr lang="en-GB" sz="24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öös-Maystre-Risse-Sokolov ‘25</a:t>
            </a:r>
            <a:r>
              <a:rPr lang="en-GB" altLang="zh-CN" sz="24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]</a:t>
            </a:r>
            <a:endParaRPr lang="en-GB" altLang="zh-CN" sz="2000" dirty="0">
              <a:solidFill>
                <a:srgbClr val="3C28FB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endParaRPr lang="en-GB"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002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077628-9AA3-6F11-AD33-C52B950F34B2}"/>
              </a:ext>
            </a:extLst>
          </p:cNvPr>
          <p:cNvSpPr txBox="1"/>
          <p:nvPr/>
        </p:nvSpPr>
        <p:spPr>
          <a:xfrm>
            <a:off x="914400" y="731520"/>
            <a:ext cx="881608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altLang="zh-CN" sz="28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Resolution Proof System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7A46D61-4DF0-D41C-E13C-0D9374730699}"/>
              </a:ext>
            </a:extLst>
          </p:cNvPr>
          <p:cNvSpPr txBox="1"/>
          <p:nvPr/>
        </p:nvSpPr>
        <p:spPr>
          <a:xfrm>
            <a:off x="898499" y="1645920"/>
            <a:ext cx="55500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Goal: prove CNF formula unsatisfiable</a:t>
            </a:r>
          </a:p>
          <a:p>
            <a:r>
              <a:rPr lang="en-GB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Proof of unsatisfiability: Refutation</a:t>
            </a:r>
            <a:endParaRPr lang="en-GB"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67" name="Gruppieren 66">
            <a:extLst>
              <a:ext uri="{FF2B5EF4-FFF2-40B4-BE49-F238E27FC236}">
                <a16:creationId xmlns:a16="http://schemas.microsoft.com/office/drawing/2014/main" id="{0D58842D-346D-3020-B2F7-ED31C33626EC}"/>
              </a:ext>
            </a:extLst>
          </p:cNvPr>
          <p:cNvGrpSpPr/>
          <p:nvPr/>
        </p:nvGrpSpPr>
        <p:grpSpPr>
          <a:xfrm>
            <a:off x="915932" y="2815415"/>
            <a:ext cx="3723061" cy="1629172"/>
            <a:chOff x="898498" y="3266886"/>
            <a:chExt cx="3723061" cy="1629172"/>
          </a:xfrm>
        </p:grpSpPr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F1E2BD16-7632-18C3-4C1C-25A2B90A44B2}"/>
                </a:ext>
              </a:extLst>
            </p:cNvPr>
            <p:cNvSpPr txBox="1"/>
            <p:nvPr/>
          </p:nvSpPr>
          <p:spPr>
            <a:xfrm>
              <a:off x="898498" y="3266886"/>
              <a:ext cx="25523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400" dirty="0">
                  <a:solidFill>
                    <a:srgbClr val="3C28F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Resolution rule:</a:t>
              </a:r>
            </a:p>
          </p:txBody>
        </p:sp>
        <p:pic>
          <p:nvPicPr>
            <p:cNvPr id="9" name="Grafik 8" descr="Ein Bild, das Schrift, Text, weiß, Reihe enthält.&#10;&#10;Automatisch generierte Beschreibung">
              <a:extLst>
                <a:ext uri="{FF2B5EF4-FFF2-40B4-BE49-F238E27FC236}">
                  <a16:creationId xmlns:a16="http://schemas.microsoft.com/office/drawing/2014/main" id="{A88F47C4-9BDD-772D-DA13-4DA546F457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8498" y="3894746"/>
              <a:ext cx="3723061" cy="1001312"/>
            </a:xfrm>
            <a:prstGeom prst="rect">
              <a:avLst/>
            </a:prstGeom>
          </p:spPr>
        </p:pic>
      </p:grpSp>
      <p:sp>
        <p:nvSpPr>
          <p:cNvPr id="14" name="Textfeld 13">
            <a:extLst>
              <a:ext uri="{FF2B5EF4-FFF2-40B4-BE49-F238E27FC236}">
                <a16:creationId xmlns:a16="http://schemas.microsoft.com/office/drawing/2014/main" id="{87641599-ECC8-3DBF-2A97-B3D19C44B9CC}"/>
              </a:ext>
            </a:extLst>
          </p:cNvPr>
          <p:cNvSpPr txBox="1"/>
          <p:nvPr/>
        </p:nvSpPr>
        <p:spPr>
          <a:xfrm>
            <a:off x="4436828" y="1590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sp>
        <p:nvSpPr>
          <p:cNvPr id="59" name="AutoShape 2" descr="{\displaystyle \bot }">
            <a:extLst>
              <a:ext uri="{FF2B5EF4-FFF2-40B4-BE49-F238E27FC236}">
                <a16:creationId xmlns:a16="http://schemas.microsoft.com/office/drawing/2014/main" id="{7C4A3781-2325-6C15-4F74-D6ED87A30C9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60" name="AutoShape 4" descr="{\displaystyle \bot }">
            <a:extLst>
              <a:ext uri="{FF2B5EF4-FFF2-40B4-BE49-F238E27FC236}">
                <a16:creationId xmlns:a16="http://schemas.microsoft.com/office/drawing/2014/main" id="{80EB21C1-50F3-1A0A-C3D9-E33EDE242C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Abgerundetes Rechteck 3">
                <a:extLst>
                  <a:ext uri="{FF2B5EF4-FFF2-40B4-BE49-F238E27FC236}">
                    <a16:creationId xmlns:a16="http://schemas.microsoft.com/office/drawing/2014/main" id="{025C61F6-770C-4436-5B1C-13954A323698}"/>
                  </a:ext>
                </a:extLst>
              </p:cNvPr>
              <p:cNvSpPr/>
              <p:nvPr/>
            </p:nvSpPr>
            <p:spPr>
              <a:xfrm>
                <a:off x="8073882" y="1140155"/>
                <a:ext cx="1253654" cy="500932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GB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GB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GB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GB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4" name="Abgerundetes Rechteck 3">
                <a:extLst>
                  <a:ext uri="{FF2B5EF4-FFF2-40B4-BE49-F238E27FC236}">
                    <a16:creationId xmlns:a16="http://schemas.microsoft.com/office/drawing/2014/main" id="{025C61F6-770C-4436-5B1C-13954A3236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882" y="1140155"/>
                <a:ext cx="1253654" cy="500932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Abgerundetes Rechteck 6">
                <a:extLst>
                  <a:ext uri="{FF2B5EF4-FFF2-40B4-BE49-F238E27FC236}">
                    <a16:creationId xmlns:a16="http://schemas.microsoft.com/office/drawing/2014/main" id="{DCBBE489-6F1F-F870-7DC5-BAFA6589475E}"/>
                  </a:ext>
                </a:extLst>
              </p:cNvPr>
              <p:cNvSpPr/>
              <p:nvPr/>
            </p:nvSpPr>
            <p:spPr>
              <a:xfrm>
                <a:off x="10785295" y="1140155"/>
                <a:ext cx="367081" cy="500932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</m:oMath>
                  </m:oMathPara>
                </a14:m>
                <a:endParaRPr lang="en-GB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7" name="Abgerundetes Rechteck 6">
                <a:extLst>
                  <a:ext uri="{FF2B5EF4-FFF2-40B4-BE49-F238E27FC236}">
                    <a16:creationId xmlns:a16="http://schemas.microsoft.com/office/drawing/2014/main" id="{DCBBE489-6F1F-F870-7DC5-BAFA658947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5295" y="1140155"/>
                <a:ext cx="367081" cy="500932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Abgerundetes Rechteck 15">
                <a:extLst>
                  <a:ext uri="{FF2B5EF4-FFF2-40B4-BE49-F238E27FC236}">
                    <a16:creationId xmlns:a16="http://schemas.microsoft.com/office/drawing/2014/main" id="{D365FB76-77D7-87BC-31F5-A655E4364AF4}"/>
                  </a:ext>
                </a:extLst>
              </p:cNvPr>
              <p:cNvSpPr/>
              <p:nvPr/>
            </p:nvSpPr>
            <p:spPr>
              <a:xfrm>
                <a:off x="6730109" y="1140155"/>
                <a:ext cx="1253654" cy="500932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GB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GB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</m:t>
                      </m:r>
                      <m:r>
                        <a:rPr lang="en-GB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GB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6" name="Abgerundetes Rechteck 15">
                <a:extLst>
                  <a:ext uri="{FF2B5EF4-FFF2-40B4-BE49-F238E27FC236}">
                    <a16:creationId xmlns:a16="http://schemas.microsoft.com/office/drawing/2014/main" id="{D365FB76-77D7-87BC-31F5-A655E4364A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0109" y="1140155"/>
                <a:ext cx="1253654" cy="500932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Abgerundetes Rechteck 16">
                <a:extLst>
                  <a:ext uri="{FF2B5EF4-FFF2-40B4-BE49-F238E27FC236}">
                    <a16:creationId xmlns:a16="http://schemas.microsoft.com/office/drawing/2014/main" id="{5EC44030-E76D-100D-E75C-885FB0292204}"/>
                  </a:ext>
                </a:extLst>
              </p:cNvPr>
              <p:cNvSpPr/>
              <p:nvPr/>
            </p:nvSpPr>
            <p:spPr>
              <a:xfrm>
                <a:off x="10330075" y="1140155"/>
                <a:ext cx="367081" cy="500932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</m:oMath>
                  </m:oMathPara>
                </a14:m>
                <a:endParaRPr lang="en-GB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7" name="Abgerundetes Rechteck 16">
                <a:extLst>
                  <a:ext uri="{FF2B5EF4-FFF2-40B4-BE49-F238E27FC236}">
                    <a16:creationId xmlns:a16="http://schemas.microsoft.com/office/drawing/2014/main" id="{5EC44030-E76D-100D-E75C-885FB02922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30075" y="1140155"/>
                <a:ext cx="367081" cy="500932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Abgerundetes Rechteck 17">
                <a:extLst>
                  <a:ext uri="{FF2B5EF4-FFF2-40B4-BE49-F238E27FC236}">
                    <a16:creationId xmlns:a16="http://schemas.microsoft.com/office/drawing/2014/main" id="{F63BD1FE-8DBE-FABD-E2D7-DD6C7B2A3BB2}"/>
                  </a:ext>
                </a:extLst>
              </p:cNvPr>
              <p:cNvSpPr/>
              <p:nvPr/>
            </p:nvSpPr>
            <p:spPr>
              <a:xfrm>
                <a:off x="9870896" y="1144173"/>
                <a:ext cx="367081" cy="500932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GB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8" name="Abgerundetes Rechteck 17">
                <a:extLst>
                  <a:ext uri="{FF2B5EF4-FFF2-40B4-BE49-F238E27FC236}">
                    <a16:creationId xmlns:a16="http://schemas.microsoft.com/office/drawing/2014/main" id="{F63BD1FE-8DBE-FABD-E2D7-DD6C7B2A3B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0896" y="1144173"/>
                <a:ext cx="367081" cy="500932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Abgerundetes Rechteck 18">
                <a:extLst>
                  <a:ext uri="{FF2B5EF4-FFF2-40B4-BE49-F238E27FC236}">
                    <a16:creationId xmlns:a16="http://schemas.microsoft.com/office/drawing/2014/main" id="{72E762A6-891D-8915-C914-72DF0B3EB0D9}"/>
                  </a:ext>
                </a:extLst>
              </p:cNvPr>
              <p:cNvSpPr/>
              <p:nvPr/>
            </p:nvSpPr>
            <p:spPr>
              <a:xfrm>
                <a:off x="9415675" y="1144173"/>
                <a:ext cx="367081" cy="500932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en-GB" dirty="0">
                  <a:solidFill>
                    <a:sysClr val="windowText" lastClr="000000"/>
                  </a:solidFill>
                </a:endParaRPr>
              </a:p>
            </p:txBody>
          </p:sp>
        </mc:Choice>
        <mc:Fallback xmlns="">
          <p:sp>
            <p:nvSpPr>
              <p:cNvPr id="19" name="Abgerundetes Rechteck 18">
                <a:extLst>
                  <a:ext uri="{FF2B5EF4-FFF2-40B4-BE49-F238E27FC236}">
                    <a16:creationId xmlns:a16="http://schemas.microsoft.com/office/drawing/2014/main" id="{72E762A6-891D-8915-C914-72DF0B3EB0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5675" y="1144173"/>
                <a:ext cx="367081" cy="500932"/>
              </a:xfrm>
              <a:prstGeom prst="roundRect">
                <a:avLst/>
              </a:prstGeom>
              <a:blipFill>
                <a:blip r:embed="rId9"/>
                <a:stretch>
                  <a:fillRect r="-32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55548564-891B-461C-5608-8FD42192095C}"/>
              </a:ext>
            </a:extLst>
          </p:cNvPr>
          <p:cNvCxnSpPr>
            <a:stCxn id="16" idx="2"/>
          </p:cNvCxnSpPr>
          <p:nvPr/>
        </p:nvCxnSpPr>
        <p:spPr>
          <a:xfrm>
            <a:off x="7356936" y="1641087"/>
            <a:ext cx="494306" cy="448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DDFE61AD-265C-4CB2-A054-360931D05CEE}"/>
              </a:ext>
            </a:extLst>
          </p:cNvPr>
          <p:cNvCxnSpPr>
            <a:stCxn id="4" idx="2"/>
          </p:cNvCxnSpPr>
          <p:nvPr/>
        </p:nvCxnSpPr>
        <p:spPr>
          <a:xfrm flipH="1">
            <a:off x="8079178" y="1641087"/>
            <a:ext cx="621531" cy="448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E8666E36-3573-CFA9-F051-2FA812C331C5}"/>
              </a:ext>
            </a:extLst>
          </p:cNvPr>
          <p:cNvGrpSpPr/>
          <p:nvPr/>
        </p:nvGrpSpPr>
        <p:grpSpPr>
          <a:xfrm>
            <a:off x="7029280" y="1806119"/>
            <a:ext cx="1908965" cy="784831"/>
            <a:chOff x="6747680" y="2061418"/>
            <a:chExt cx="1908965" cy="7848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Abgerundetes Rechteck 19">
                  <a:extLst>
                    <a:ext uri="{FF2B5EF4-FFF2-40B4-BE49-F238E27FC236}">
                      <a16:creationId xmlns:a16="http://schemas.microsoft.com/office/drawing/2014/main" id="{2C439B16-3CCF-892B-6A4B-9F812F9474DB}"/>
                    </a:ext>
                  </a:extLst>
                </p:cNvPr>
                <p:cNvSpPr/>
                <p:nvPr/>
              </p:nvSpPr>
              <p:spPr>
                <a:xfrm>
                  <a:off x="6747680" y="2345317"/>
                  <a:ext cx="1908965" cy="500932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GB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Abgerundetes Rechteck 19">
                  <a:extLst>
                    <a:ext uri="{FF2B5EF4-FFF2-40B4-BE49-F238E27FC236}">
                      <a16:creationId xmlns:a16="http://schemas.microsoft.com/office/drawing/2014/main" id="{2C439B16-3CCF-892B-6A4B-9F812F9474D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7680" y="2345317"/>
                  <a:ext cx="1908965" cy="500932"/>
                </a:xfrm>
                <a:prstGeom prst="round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97C423AB-6CC7-C300-858B-DF793E7837BB}"/>
                    </a:ext>
                  </a:extLst>
                </p:cNvPr>
                <p:cNvSpPr txBox="1"/>
                <p:nvPr/>
              </p:nvSpPr>
              <p:spPr>
                <a:xfrm>
                  <a:off x="7518761" y="2061418"/>
                  <a:ext cx="3727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25" name="Textfeld 24">
                  <a:extLst>
                    <a:ext uri="{FF2B5EF4-FFF2-40B4-BE49-F238E27FC236}">
                      <a16:creationId xmlns:a16="http://schemas.microsoft.com/office/drawing/2014/main" id="{97C423AB-6CC7-C300-858B-DF793E7837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8761" y="2061418"/>
                  <a:ext cx="372794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2" name="Gerade Verbindung mit Pfeil 31">
            <a:extLst>
              <a:ext uri="{FF2B5EF4-FFF2-40B4-BE49-F238E27FC236}">
                <a16:creationId xmlns:a16="http://schemas.microsoft.com/office/drawing/2014/main" id="{29EEB1A3-037F-CD4E-6B4F-7B684CD6CB35}"/>
              </a:ext>
            </a:extLst>
          </p:cNvPr>
          <p:cNvCxnSpPr>
            <a:cxnSpLocks/>
            <a:stCxn id="20" idx="2"/>
            <a:endCxn id="27" idx="0"/>
          </p:cNvCxnSpPr>
          <p:nvPr/>
        </p:nvCxnSpPr>
        <p:spPr>
          <a:xfrm>
            <a:off x="7983763" y="2590950"/>
            <a:ext cx="376473" cy="4489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17BA3939-0EC6-E1D0-175E-20EA27A6E4C3}"/>
              </a:ext>
            </a:extLst>
          </p:cNvPr>
          <p:cNvCxnSpPr>
            <a:cxnSpLocks/>
            <a:stCxn id="19" idx="2"/>
          </p:cNvCxnSpPr>
          <p:nvPr/>
        </p:nvCxnSpPr>
        <p:spPr>
          <a:xfrm flipH="1">
            <a:off x="8616580" y="1645105"/>
            <a:ext cx="982636" cy="1394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CFD505B3-447B-FE35-07DE-CB1C3B367C3C}"/>
              </a:ext>
            </a:extLst>
          </p:cNvPr>
          <p:cNvGrpSpPr/>
          <p:nvPr/>
        </p:nvGrpSpPr>
        <p:grpSpPr>
          <a:xfrm>
            <a:off x="7733409" y="2758619"/>
            <a:ext cx="1253654" cy="782194"/>
            <a:chOff x="7451809" y="3013918"/>
            <a:chExt cx="1253654" cy="78219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Abgerundetes Rechteck 26">
                  <a:extLst>
                    <a:ext uri="{FF2B5EF4-FFF2-40B4-BE49-F238E27FC236}">
                      <a16:creationId xmlns:a16="http://schemas.microsoft.com/office/drawing/2014/main" id="{A06D9511-9967-FAD4-157D-6FFEE35DAB3F}"/>
                    </a:ext>
                  </a:extLst>
                </p:cNvPr>
                <p:cNvSpPr/>
                <p:nvPr/>
              </p:nvSpPr>
              <p:spPr>
                <a:xfrm>
                  <a:off x="7451809" y="3295180"/>
                  <a:ext cx="1253654" cy="500932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GB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Abgerundetes Rechteck 26">
                  <a:extLst>
                    <a:ext uri="{FF2B5EF4-FFF2-40B4-BE49-F238E27FC236}">
                      <a16:creationId xmlns:a16="http://schemas.microsoft.com/office/drawing/2014/main" id="{A06D9511-9967-FAD4-157D-6FFEE35DAB3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1809" y="3295180"/>
                  <a:ext cx="1253654" cy="500932"/>
                </a:xfrm>
                <a:prstGeom prst="round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feld 37">
                  <a:extLst>
                    <a:ext uri="{FF2B5EF4-FFF2-40B4-BE49-F238E27FC236}">
                      <a16:creationId xmlns:a16="http://schemas.microsoft.com/office/drawing/2014/main" id="{37CE34B3-AB3A-2624-0AC3-39E85B5B3CD1}"/>
                    </a:ext>
                  </a:extLst>
                </p:cNvPr>
                <p:cNvSpPr txBox="1"/>
                <p:nvPr/>
              </p:nvSpPr>
              <p:spPr>
                <a:xfrm>
                  <a:off x="8035374" y="3013918"/>
                  <a:ext cx="3585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38" name="Textfeld 37">
                  <a:extLst>
                    <a:ext uri="{FF2B5EF4-FFF2-40B4-BE49-F238E27FC236}">
                      <a16:creationId xmlns:a16="http://schemas.microsoft.com/office/drawing/2014/main" id="{37CE34B3-AB3A-2624-0AC3-39E85B5B3C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35374" y="3013918"/>
                  <a:ext cx="358560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3CF8A2C5-C676-4928-E24E-E2C68C3E1839}"/>
              </a:ext>
            </a:extLst>
          </p:cNvPr>
          <p:cNvGrpSpPr/>
          <p:nvPr/>
        </p:nvGrpSpPr>
        <p:grpSpPr>
          <a:xfrm>
            <a:off x="8465961" y="3699258"/>
            <a:ext cx="861575" cy="823469"/>
            <a:chOff x="7451809" y="2972643"/>
            <a:chExt cx="861575" cy="82346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Abgerundetes Rechteck 41">
                  <a:extLst>
                    <a:ext uri="{FF2B5EF4-FFF2-40B4-BE49-F238E27FC236}">
                      <a16:creationId xmlns:a16="http://schemas.microsoft.com/office/drawing/2014/main" id="{76483A02-52D8-F52C-D947-163BF80C9E93}"/>
                    </a:ext>
                  </a:extLst>
                </p:cNvPr>
                <p:cNvSpPr/>
                <p:nvPr/>
              </p:nvSpPr>
              <p:spPr>
                <a:xfrm>
                  <a:off x="7451809" y="3295180"/>
                  <a:ext cx="861575" cy="500932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GB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Abgerundetes Rechteck 41">
                  <a:extLst>
                    <a:ext uri="{FF2B5EF4-FFF2-40B4-BE49-F238E27FC236}">
                      <a16:creationId xmlns:a16="http://schemas.microsoft.com/office/drawing/2014/main" id="{76483A02-52D8-F52C-D947-163BF80C9E9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1809" y="3295180"/>
                  <a:ext cx="861575" cy="500932"/>
                </a:xfrm>
                <a:prstGeom prst="round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feld 42">
                  <a:extLst>
                    <a:ext uri="{FF2B5EF4-FFF2-40B4-BE49-F238E27FC236}">
                      <a16:creationId xmlns:a16="http://schemas.microsoft.com/office/drawing/2014/main" id="{969FD281-C85A-C14E-50ED-BE496515683F}"/>
                    </a:ext>
                  </a:extLst>
                </p:cNvPr>
                <p:cNvSpPr txBox="1"/>
                <p:nvPr/>
              </p:nvSpPr>
              <p:spPr>
                <a:xfrm>
                  <a:off x="7862577" y="2972643"/>
                  <a:ext cx="37619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43" name="Textfeld 42">
                  <a:extLst>
                    <a:ext uri="{FF2B5EF4-FFF2-40B4-BE49-F238E27FC236}">
                      <a16:creationId xmlns:a16="http://schemas.microsoft.com/office/drawing/2014/main" id="{969FD281-C85A-C14E-50ED-BE49651568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62577" y="2972643"/>
                  <a:ext cx="376192" cy="369332"/>
                </a:xfrm>
                <a:prstGeom prst="rect">
                  <a:avLst/>
                </a:prstGeom>
                <a:blipFill>
                  <a:blip r:embed="rId15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45" name="Gerade Verbindung mit Pfeil 44">
            <a:extLst>
              <a:ext uri="{FF2B5EF4-FFF2-40B4-BE49-F238E27FC236}">
                <a16:creationId xmlns:a16="http://schemas.microsoft.com/office/drawing/2014/main" id="{A137C60F-2D78-BF60-300F-15920CFC4282}"/>
              </a:ext>
            </a:extLst>
          </p:cNvPr>
          <p:cNvCxnSpPr>
            <a:stCxn id="27" idx="2"/>
            <a:endCxn id="42" idx="0"/>
          </p:cNvCxnSpPr>
          <p:nvPr/>
        </p:nvCxnSpPr>
        <p:spPr>
          <a:xfrm>
            <a:off x="8360236" y="3540813"/>
            <a:ext cx="536513" cy="4809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Gerade Verbindung mit Pfeil 46">
            <a:extLst>
              <a:ext uri="{FF2B5EF4-FFF2-40B4-BE49-F238E27FC236}">
                <a16:creationId xmlns:a16="http://schemas.microsoft.com/office/drawing/2014/main" id="{2DD36922-6494-9101-DA13-9F05F46011AA}"/>
              </a:ext>
            </a:extLst>
          </p:cNvPr>
          <p:cNvCxnSpPr>
            <a:stCxn id="18" idx="2"/>
          </p:cNvCxnSpPr>
          <p:nvPr/>
        </p:nvCxnSpPr>
        <p:spPr>
          <a:xfrm flipH="1">
            <a:off x="9171600" y="1645105"/>
            <a:ext cx="882837" cy="23766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8A231469-A5CF-2FFE-6083-D46B4F3AAC17}"/>
              </a:ext>
            </a:extLst>
          </p:cNvPr>
          <p:cNvGrpSpPr/>
          <p:nvPr/>
        </p:nvGrpSpPr>
        <p:grpSpPr>
          <a:xfrm>
            <a:off x="9415675" y="4678409"/>
            <a:ext cx="492808" cy="793120"/>
            <a:chOff x="7451810" y="3002992"/>
            <a:chExt cx="492808" cy="7931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Abgerundetes Rechteck 48">
                  <a:extLst>
                    <a:ext uri="{FF2B5EF4-FFF2-40B4-BE49-F238E27FC236}">
                      <a16:creationId xmlns:a16="http://schemas.microsoft.com/office/drawing/2014/main" id="{57855B2E-3BCB-644D-0DE3-D0288E842161}"/>
                    </a:ext>
                  </a:extLst>
                </p:cNvPr>
                <p:cNvSpPr/>
                <p:nvPr/>
              </p:nvSpPr>
              <p:spPr>
                <a:xfrm>
                  <a:off x="7451810" y="3295180"/>
                  <a:ext cx="419024" cy="500932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GB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Abgerundetes Rechteck 48">
                  <a:extLst>
                    <a:ext uri="{FF2B5EF4-FFF2-40B4-BE49-F238E27FC236}">
                      <a16:creationId xmlns:a16="http://schemas.microsoft.com/office/drawing/2014/main" id="{57855B2E-3BCB-644D-0DE3-D0288E8421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1810" y="3295180"/>
                  <a:ext cx="419024" cy="500932"/>
                </a:xfrm>
                <a:prstGeom prst="round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feld 49">
                  <a:extLst>
                    <a:ext uri="{FF2B5EF4-FFF2-40B4-BE49-F238E27FC236}">
                      <a16:creationId xmlns:a16="http://schemas.microsoft.com/office/drawing/2014/main" id="{C02810B5-9FA1-81D0-CBE3-2781D598256A}"/>
                    </a:ext>
                  </a:extLst>
                </p:cNvPr>
                <p:cNvSpPr txBox="1"/>
                <p:nvPr/>
              </p:nvSpPr>
              <p:spPr>
                <a:xfrm>
                  <a:off x="7525594" y="3002992"/>
                  <a:ext cx="4190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50" name="Textfeld 49">
                  <a:extLst>
                    <a:ext uri="{FF2B5EF4-FFF2-40B4-BE49-F238E27FC236}">
                      <a16:creationId xmlns:a16="http://schemas.microsoft.com/office/drawing/2014/main" id="{C02810B5-9FA1-81D0-CBE3-2781D59825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5594" y="3002992"/>
                  <a:ext cx="419024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2" name="Gerade Verbindung mit Pfeil 51">
            <a:extLst>
              <a:ext uri="{FF2B5EF4-FFF2-40B4-BE49-F238E27FC236}">
                <a16:creationId xmlns:a16="http://schemas.microsoft.com/office/drawing/2014/main" id="{FCD69784-CABB-7599-9FF4-629FF84C73D5}"/>
              </a:ext>
            </a:extLst>
          </p:cNvPr>
          <p:cNvCxnSpPr>
            <a:cxnSpLocks/>
            <a:stCxn id="42" idx="2"/>
          </p:cNvCxnSpPr>
          <p:nvPr/>
        </p:nvCxnSpPr>
        <p:spPr>
          <a:xfrm>
            <a:off x="8896749" y="4522727"/>
            <a:ext cx="678076" cy="447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Gerade Verbindung mit Pfeil 54">
            <a:extLst>
              <a:ext uri="{FF2B5EF4-FFF2-40B4-BE49-F238E27FC236}">
                <a16:creationId xmlns:a16="http://schemas.microsoft.com/office/drawing/2014/main" id="{CAD5C372-9BDE-8A4F-D740-D0128A7A4B57}"/>
              </a:ext>
            </a:extLst>
          </p:cNvPr>
          <p:cNvCxnSpPr>
            <a:stCxn id="17" idx="2"/>
          </p:cNvCxnSpPr>
          <p:nvPr/>
        </p:nvCxnSpPr>
        <p:spPr>
          <a:xfrm flipH="1">
            <a:off x="9782756" y="1641087"/>
            <a:ext cx="730860" cy="3329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6" name="Gruppieren 55">
            <a:extLst>
              <a:ext uri="{FF2B5EF4-FFF2-40B4-BE49-F238E27FC236}">
                <a16:creationId xmlns:a16="http://schemas.microsoft.com/office/drawing/2014/main" id="{DDBBC8FA-EE1D-24D9-2D61-CB85B25A5C15}"/>
              </a:ext>
            </a:extLst>
          </p:cNvPr>
          <p:cNvGrpSpPr/>
          <p:nvPr/>
        </p:nvGrpSpPr>
        <p:grpSpPr>
          <a:xfrm>
            <a:off x="9910980" y="5531848"/>
            <a:ext cx="419024" cy="785098"/>
            <a:chOff x="7451810" y="2982136"/>
            <a:chExt cx="419024" cy="7850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Abgerundetes Rechteck 56">
                  <a:extLst>
                    <a:ext uri="{FF2B5EF4-FFF2-40B4-BE49-F238E27FC236}">
                      <a16:creationId xmlns:a16="http://schemas.microsoft.com/office/drawing/2014/main" id="{3365AF7A-6712-29D8-1F99-50327ED2279A}"/>
                    </a:ext>
                  </a:extLst>
                </p:cNvPr>
                <p:cNvSpPr/>
                <p:nvPr/>
              </p:nvSpPr>
              <p:spPr>
                <a:xfrm>
                  <a:off x="7451810" y="3266302"/>
                  <a:ext cx="419024" cy="500932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GB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⊥</m:t>
                        </m:r>
                      </m:oMath>
                    </m:oMathPara>
                  </a14:m>
                  <a:endParaRPr lang="en-GB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Abgerundetes Rechteck 56">
                  <a:extLst>
                    <a:ext uri="{FF2B5EF4-FFF2-40B4-BE49-F238E27FC236}">
                      <a16:creationId xmlns:a16="http://schemas.microsoft.com/office/drawing/2014/main" id="{3365AF7A-6712-29D8-1F99-50327ED2279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1810" y="3266302"/>
                  <a:ext cx="419024" cy="500932"/>
                </a:xfrm>
                <a:prstGeom prst="round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feld 57">
                  <a:extLst>
                    <a:ext uri="{FF2B5EF4-FFF2-40B4-BE49-F238E27FC236}">
                      <a16:creationId xmlns:a16="http://schemas.microsoft.com/office/drawing/2014/main" id="{C0878F2C-ADC5-CE9A-0A47-6CC557F01E39}"/>
                    </a:ext>
                  </a:extLst>
                </p:cNvPr>
                <p:cNvSpPr txBox="1"/>
                <p:nvPr/>
              </p:nvSpPr>
              <p:spPr>
                <a:xfrm>
                  <a:off x="7471757" y="2982136"/>
                  <a:ext cx="38125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58" name="Textfeld 57">
                  <a:extLst>
                    <a:ext uri="{FF2B5EF4-FFF2-40B4-BE49-F238E27FC236}">
                      <a16:creationId xmlns:a16="http://schemas.microsoft.com/office/drawing/2014/main" id="{C0878F2C-ADC5-CE9A-0A47-6CC557F01E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1757" y="2982136"/>
                  <a:ext cx="381258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62" name="Gerade Verbindung mit Pfeil 61">
            <a:extLst>
              <a:ext uri="{FF2B5EF4-FFF2-40B4-BE49-F238E27FC236}">
                <a16:creationId xmlns:a16="http://schemas.microsoft.com/office/drawing/2014/main" id="{EF7A48B5-5FCC-2472-0481-42443AE01F5A}"/>
              </a:ext>
            </a:extLst>
          </p:cNvPr>
          <p:cNvCxnSpPr>
            <a:stCxn id="49" idx="2"/>
          </p:cNvCxnSpPr>
          <p:nvPr/>
        </p:nvCxnSpPr>
        <p:spPr>
          <a:xfrm>
            <a:off x="9625187" y="5471529"/>
            <a:ext cx="370993" cy="344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Gerade Verbindung mit Pfeil 63">
            <a:extLst>
              <a:ext uri="{FF2B5EF4-FFF2-40B4-BE49-F238E27FC236}">
                <a16:creationId xmlns:a16="http://schemas.microsoft.com/office/drawing/2014/main" id="{94EB7D90-111E-AAC6-D066-3A8666C02D8D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10210372" y="1641087"/>
            <a:ext cx="758464" cy="4174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D8FC43BF-D156-4B26-6BCE-F12E617F1203}"/>
                  </a:ext>
                </a:extLst>
              </p:cNvPr>
              <p:cNvSpPr txBox="1"/>
              <p:nvPr/>
            </p:nvSpPr>
            <p:spPr>
              <a:xfrm>
                <a:off x="886826" y="4902417"/>
                <a:ext cx="7686882" cy="15286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n-GB" sz="2400" dirty="0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size	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= #nodes		= 11  </a:t>
                </a:r>
                <a:r>
                  <a:rPr lang="en-GB" sz="2400" dirty="0">
                    <a:solidFill>
                      <a:srgbClr val="00B05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	</a:t>
                </a:r>
                <a:r>
                  <a:rPr lang="en-GB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(</a:t>
                </a:r>
                <a:r>
                  <a:rPr lang="en-GB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worst</a:t>
                </a:r>
                <a:r>
                  <a:rPr lang="en-GB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case</a:t>
                </a:r>
                <a:r>
                  <a:rPr lang="en-GB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≤</m:t>
                    </m:r>
                    <m:sSup>
                      <m:sSup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𝑂</m:t>
                        </m:r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(#</m:t>
                        </m:r>
                        <m:r>
                          <m:rPr>
                            <m:sty m:val="p"/>
                          </m:rPr>
                          <a:rPr lang="en-GB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variables</m:t>
                        </m:r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GB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)</a:t>
                </a:r>
              </a:p>
              <a:p>
                <a:pPr>
                  <a:spcBef>
                    <a:spcPts val="400"/>
                  </a:spcBef>
                  <a:spcAft>
                    <a:spcPts val="600"/>
                  </a:spcAft>
                </a:pPr>
                <a:r>
                  <a:rPr lang="en-GB" sz="2400" dirty="0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width	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=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max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clause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size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	=  4  </a:t>
                </a:r>
                <a:r>
                  <a:rPr lang="en-GB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	(</a:t>
                </a:r>
                <a:r>
                  <a:rPr lang="en-GB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worst</a:t>
                </a:r>
                <a:r>
                  <a:rPr lang="en-GB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case</a:t>
                </a:r>
                <a:r>
                  <a:rPr lang="en-GB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≤</m:t>
                    </m:r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#</m:t>
                    </m:r>
                    <m:r>
                      <m:rPr>
                        <m:sty m:val="p"/>
                      </m:rPr>
                      <a:rPr lang="en-GB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variables</m:t>
                    </m:r>
                  </m:oMath>
                </a14:m>
                <a:r>
                  <a:rPr lang="en-GB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)</a:t>
                </a:r>
                <a:endParaRPr lang="en-GB" dirty="0">
                  <a:solidFill>
                    <a:srgbClr val="00B05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>
                  <a:spcAft>
                    <a:spcPts val="600"/>
                  </a:spcAft>
                </a:pPr>
                <a:r>
                  <a:rPr lang="en-GB" sz="2400" dirty="0" err="1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depth</a:t>
                </a:r>
                <a:r>
                  <a:rPr lang="en-GB" sz="2400" dirty="0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	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=</a:t>
                </a:r>
                <a:r>
                  <a:rPr lang="en-GB" sz="2400" dirty="0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max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path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length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	=  5</a:t>
                </a:r>
                <a:r>
                  <a:rPr lang="en-GB" sz="32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 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	</a:t>
                </a:r>
                <a:r>
                  <a:rPr lang="en-GB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(</a:t>
                </a:r>
                <a:r>
                  <a:rPr lang="en-GB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worst</a:t>
                </a:r>
                <a:r>
                  <a:rPr lang="en-GB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case</a:t>
                </a:r>
                <a:r>
                  <a:rPr lang="en-GB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≤#</m:t>
                    </m:r>
                    <m:r>
                      <m:rPr>
                        <m:sty m:val="p"/>
                      </m:rPr>
                      <a:rPr lang="en-GB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variables</m:t>
                    </m:r>
                  </m:oMath>
                </a14:m>
                <a:r>
                  <a:rPr lang="en-GB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)</a:t>
                </a:r>
                <a:endParaRPr lang="en-GB" dirty="0">
                  <a:solidFill>
                    <a:srgbClr val="00B05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66" name="Textfeld 65">
                <a:extLst>
                  <a:ext uri="{FF2B5EF4-FFF2-40B4-BE49-F238E27FC236}">
                    <a16:creationId xmlns:a16="http://schemas.microsoft.com/office/drawing/2014/main" id="{D8FC43BF-D156-4B26-6BCE-F12E617F1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826" y="4902417"/>
                <a:ext cx="7686882" cy="1528624"/>
              </a:xfrm>
              <a:prstGeom prst="rect">
                <a:avLst/>
              </a:prstGeom>
              <a:blipFill>
                <a:blip r:embed="rId20"/>
                <a:stretch>
                  <a:fillRect l="-1190" t="-3187" b="-6773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Foliennummernplatzhalter 70">
            <a:extLst>
              <a:ext uri="{FF2B5EF4-FFF2-40B4-BE49-F238E27FC236}">
                <a16:creationId xmlns:a16="http://schemas.microsoft.com/office/drawing/2014/main" id="{B92481AF-5077-6624-5C54-F369E98CC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438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6" grpId="0" animBg="1"/>
      <p:bldP spid="17" grpId="0" animBg="1"/>
      <p:bldP spid="18" grpId="0" animBg="1"/>
      <p:bldP spid="19" grpId="0" animBg="1"/>
      <p:bldP spid="6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2257B45D-6B10-8793-C9B9-4E9DF5EE63BC}"/>
              </a:ext>
            </a:extLst>
          </p:cNvPr>
          <p:cNvSpPr txBox="1"/>
          <p:nvPr/>
        </p:nvSpPr>
        <p:spPr>
          <a:xfrm>
            <a:off x="916252" y="731520"/>
            <a:ext cx="881608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altLang="zh-CN" sz="28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Our Results: Resolution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54E22E7-3ADE-316F-41F3-B4B07258B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8</a:t>
            </a:fld>
            <a:endParaRPr lang="en-GB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2F8460D-DB10-812D-5257-6495975703ED}"/>
              </a:ext>
            </a:extLst>
          </p:cNvPr>
          <p:cNvGrpSpPr/>
          <p:nvPr/>
        </p:nvGrpSpPr>
        <p:grpSpPr>
          <a:xfrm>
            <a:off x="1206837" y="3161080"/>
            <a:ext cx="9012630" cy="1477328"/>
            <a:chOff x="1497423" y="1634566"/>
            <a:chExt cx="8507387" cy="14773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C848E8F-7D31-EF4B-CDCB-3A775930C18F}"/>
                    </a:ext>
                  </a:extLst>
                </p:cNvPr>
                <p:cNvSpPr txBox="1"/>
                <p:nvPr/>
              </p:nvSpPr>
              <p:spPr>
                <a:xfrm>
                  <a:off x="1497423" y="1634566"/>
                  <a:ext cx="8507387" cy="1477328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1"/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GB" sz="1000" b="1">
                      <a:solidFill>
                        <a:srgbClr val="3C28FB"/>
                      </a:solidFill>
                      <a:latin typeface="Iskoola Pota" panose="020B0502040204020203" pitchFamily="34" charset="0"/>
                      <a:ea typeface="Lato" panose="020F0502020204030203" pitchFamily="34" charset="0"/>
                      <a:cs typeface="Iskoola Pota" panose="020B0502040204020203" pitchFamily="34" charset="0"/>
                    </a:rPr>
                    <a:t>  </a:t>
                  </a:r>
                  <a:r>
                    <a:rPr lang="en-GB" sz="2400">
                      <a:solidFill>
                        <a:srgbClr val="3C28FB"/>
                      </a:solidFill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Theorem (size-depth trade-off for resolution)</a:t>
                  </a:r>
                  <a:endParaRPr lang="en-GB" sz="100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  <a:p>
                  <a:r>
                    <a:rPr lang="en-GB" sz="240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     </a:t>
                  </a:r>
                  <a14:m>
                    <m:oMath xmlns:m="http://schemas.openxmlformats.org/officeDocument/2006/math">
                      <m:r>
                        <a:rPr lang="en-GB" sz="2400" i="1" smtClean="0">
                          <a:latin typeface="Cambria Math" panose="02040503050406030204" pitchFamily="18" charset="0"/>
                          <a:cs typeface="Iskoola Pota" panose="020B0502040204020203" pitchFamily="34" charset="0"/>
                        </a:rPr>
                        <m:t>∃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</a:t>
                  </a:r>
                  <a:r>
                    <a:rPr lang="en-GB" sz="240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CNF formulas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  <a:cs typeface="Iskoola Pota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GB" sz="2400" i="1" smtClean="0">
                              <a:latin typeface="Cambria Math" panose="02040503050406030204" pitchFamily="18" charset="0"/>
                              <a:cs typeface="Iskoola Pota" panose="020B0502040204020203" pitchFamily="34" charset="0"/>
                            </a:rPr>
                            <m:t>𝐹</m:t>
                          </m:r>
                        </m:e>
                        <m:sub>
                          <m:r>
                            <a:rPr lang="en-GB" sz="2400" i="1" smtClean="0">
                              <a:latin typeface="Cambria Math" panose="02040503050406030204" pitchFamily="18" charset="0"/>
                              <a:cs typeface="Iskoola Pota" panose="020B0502040204020203" pitchFamily="34" charset="0"/>
                            </a:rPr>
                            <m:t>𝑛</m:t>
                          </m:r>
                        </m:sub>
                      </m:sSub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on </a:t>
                  </a:r>
                  <a14:m>
                    <m:oMath xmlns:m="http://schemas.openxmlformats.org/officeDocument/2006/math">
                      <m:r>
                        <a:rPr lang="en-GB" sz="2400" i="1" smtClean="0">
                          <a:latin typeface="Cambria Math" panose="02040503050406030204" pitchFamily="18" charset="0"/>
                          <a:cs typeface="Iskoola Pota" panose="020B0502040204020203" pitchFamily="34" charset="0"/>
                        </a:rPr>
                        <m:t>𝑛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variables s.t.</a:t>
                  </a:r>
                </a:p>
                <a:p>
                  <a:endParaRPr lang="en-GB" sz="2400">
                    <a:latin typeface="Iskoola Pota" panose="020B0502040204020203" pitchFamily="34" charset="0"/>
                    <a:cs typeface="Iskoola Pota" panose="020B0502040204020203" pitchFamily="34" charset="0"/>
                  </a:endParaRPr>
                </a:p>
                <a:p>
                  <a:r>
                    <a:rPr lang="en-GB" sz="2400">
                      <a:latin typeface="Iskoola Pota" panose="020B0502040204020203" pitchFamily="34" charset="0"/>
                      <a:cs typeface="Iskoola Pota" panose="020B0502040204020203" pitchFamily="34" charset="0"/>
                    </a:rPr>
                    <a:t>      </a:t>
                  </a:r>
                  <a:endParaRPr lang="en-GB" sz="2400" dirty="0">
                    <a:latin typeface="Iskoola Pota" panose="020B0502040204020203" pitchFamily="34" charset="0"/>
                    <a:cs typeface="Iskoola Pota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C848E8F-7D31-EF4B-CDCB-3A775930C1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7423" y="1634566"/>
                  <a:ext cx="8507387" cy="1477328"/>
                </a:xfrm>
                <a:prstGeom prst="rect">
                  <a:avLst/>
                </a:prstGeom>
                <a:blipFill>
                  <a:blip r:embed="rId3"/>
                  <a:stretch>
                    <a:fillRect l="-1284" t="-6148"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BA1F6E2-9D86-0EA4-61EB-DD6155CBC523}"/>
                    </a:ext>
                  </a:extLst>
                </p:cNvPr>
                <p:cNvSpPr txBox="1"/>
                <p:nvPr/>
              </p:nvSpPr>
              <p:spPr>
                <a:xfrm>
                  <a:off x="1878417" y="2280897"/>
                  <a:ext cx="785391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Refuted by resolution in size </a:t>
                  </a:r>
                  <a14:m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quasipoly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GB" altLang="da-DK" sz="240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ato" panose="020F0502020204030203" pitchFamily="34" charset="0"/>
                        </a:rPr>
                        <m:t>|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m:rPr>
                          <m:nor/>
                        </m:rPr>
                        <a:rPr lang="en-GB" altLang="da-DK" sz="240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ato" panose="020F0502020204030203" pitchFamily="34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GB" altLang="da-DK" sz="24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ato" panose="020F0502020204030203" pitchFamily="34" charset="0"/>
                        </a:rPr>
                        <m:t>)</m:t>
                      </m:r>
                    </m:oMath>
                  </a14:m>
                  <a:endParaRPr lang="en-GB" sz="2400" b="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But size </a:t>
                  </a:r>
                  <a14:m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𝑛𝑠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supercritical depth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superpoly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GB" altLang="da-DK" sz="240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ato" panose="020F0502020204030203" pitchFamily="34" charset="0"/>
                        </a:rPr>
                        <m:t>|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m:rPr>
                          <m:nor/>
                        </m:rPr>
                        <a:rPr lang="en-GB" altLang="da-DK" sz="240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ato" panose="020F0502020204030203" pitchFamily="34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GB" altLang="da-DK" sz="24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ato" panose="020F0502020204030203" pitchFamily="34" charset="0"/>
                        </a:rPr>
                        <m:t>)</m:t>
                      </m:r>
                    </m:oMath>
                  </a14:m>
                  <a:endPara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BA1F6E2-9D86-0EA4-61EB-DD6155CBC5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8417" y="2280897"/>
                  <a:ext cx="7853917" cy="830997"/>
                </a:xfrm>
                <a:prstGeom prst="rect">
                  <a:avLst/>
                </a:prstGeom>
                <a:blipFill>
                  <a:blip r:embed="rId4"/>
                  <a:stretch>
                    <a:fillRect l="-952" t="-5882" b="-1617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51FE3B0-29F3-2369-0610-E0F81A364124}"/>
              </a:ext>
            </a:extLst>
          </p:cNvPr>
          <p:cNvGrpSpPr/>
          <p:nvPr/>
        </p:nvGrpSpPr>
        <p:grpSpPr>
          <a:xfrm>
            <a:off x="1206837" y="4774703"/>
            <a:ext cx="9142508" cy="1477328"/>
            <a:chOff x="1497423" y="1241527"/>
            <a:chExt cx="8629984" cy="14773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5BAB8FE-3BA8-9524-DBDF-F7806E6C5C94}"/>
                    </a:ext>
                  </a:extLst>
                </p:cNvPr>
                <p:cNvSpPr txBox="1"/>
                <p:nvPr/>
              </p:nvSpPr>
              <p:spPr>
                <a:xfrm>
                  <a:off x="1497423" y="1241527"/>
                  <a:ext cx="8507387" cy="1477328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1"/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GB" sz="1000" b="1" dirty="0">
                      <a:solidFill>
                        <a:srgbClr val="3C28FB"/>
                      </a:solidFill>
                      <a:latin typeface="Iskoola Pota" panose="020B0502040204020203" pitchFamily="34" charset="0"/>
                      <a:ea typeface="Lato" panose="020F0502020204030203" pitchFamily="34" charset="0"/>
                      <a:cs typeface="Iskoola Pota" panose="020B0502040204020203" pitchFamily="34" charset="0"/>
                    </a:rPr>
                    <a:t>  </a:t>
                  </a:r>
                  <a:r>
                    <a:rPr lang="en-GB" sz="2400" dirty="0">
                      <a:solidFill>
                        <a:srgbClr val="3C28FB"/>
                      </a:solidFill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Theorem (size-width trade-off for tree-like resolution)</a:t>
                  </a:r>
                  <a:endParaRPr lang="en-GB" sz="10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  <a:p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     </a:t>
                  </a:r>
                  <a14:m>
                    <m:oMath xmlns:m="http://schemas.openxmlformats.org/officeDocument/2006/math">
                      <m:r>
                        <a:rPr lang="en-GB" sz="2400" i="1" smtClean="0">
                          <a:latin typeface="Cambria Math" panose="02040503050406030204" pitchFamily="18" charset="0"/>
                          <a:cs typeface="Iskoola Pota" panose="020B0502040204020203" pitchFamily="34" charset="0"/>
                        </a:rPr>
                        <m:t>∃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CNF formulas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  <a:cs typeface="Iskoola Pota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GB" sz="2400" i="1" smtClean="0">
                              <a:latin typeface="Cambria Math" panose="02040503050406030204" pitchFamily="18" charset="0"/>
                              <a:cs typeface="Iskoola Pota" panose="020B0502040204020203" pitchFamily="34" charset="0"/>
                            </a:rPr>
                            <m:t>𝐹</m:t>
                          </m:r>
                        </m:e>
                        <m:sub>
                          <m:r>
                            <a:rPr lang="en-GB" sz="2400" i="1" smtClean="0">
                              <a:latin typeface="Cambria Math" panose="02040503050406030204" pitchFamily="18" charset="0"/>
                              <a:cs typeface="Iskoola Pota" panose="020B0502040204020203" pitchFamily="34" charset="0"/>
                            </a:rPr>
                            <m:t>𝑛</m:t>
                          </m:r>
                        </m:sub>
                      </m:sSub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on </a:t>
                  </a:r>
                  <a14:m>
                    <m:oMath xmlns:m="http://schemas.openxmlformats.org/officeDocument/2006/math">
                      <m:r>
                        <a:rPr lang="en-GB" sz="2400" i="1" smtClean="0">
                          <a:latin typeface="Cambria Math" panose="02040503050406030204" pitchFamily="18" charset="0"/>
                          <a:cs typeface="Iskoola Pota" panose="020B0502040204020203" pitchFamily="34" charset="0"/>
                        </a:rPr>
                        <m:t>𝑛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variables s.t.</a:t>
                  </a:r>
                </a:p>
                <a:p>
                  <a:endParaRPr lang="en-GB" sz="2400" dirty="0">
                    <a:latin typeface="Iskoola Pota" panose="020B0502040204020203" pitchFamily="34" charset="0"/>
                    <a:cs typeface="Iskoola Pota" panose="020B0502040204020203" pitchFamily="34" charset="0"/>
                  </a:endParaRPr>
                </a:p>
                <a:p>
                  <a:r>
                    <a:rPr lang="en-GB" sz="2400" dirty="0">
                      <a:latin typeface="Iskoola Pota" panose="020B0502040204020203" pitchFamily="34" charset="0"/>
                      <a:cs typeface="Iskoola Pota" panose="020B0502040204020203" pitchFamily="34" charset="0"/>
                    </a:rPr>
                    <a:t>      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95BAB8FE-3BA8-9524-DBDF-F7806E6C5C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7423" y="1241527"/>
                  <a:ext cx="8507387" cy="1477328"/>
                </a:xfrm>
                <a:prstGeom prst="rect">
                  <a:avLst/>
                </a:prstGeom>
                <a:blipFill>
                  <a:blip r:embed="rId5"/>
                  <a:stretch>
                    <a:fillRect l="-1284" t="-5714"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1274874-62A7-661A-8701-86ECB974F8EF}"/>
                    </a:ext>
                  </a:extLst>
                </p:cNvPr>
                <p:cNvSpPr txBox="1"/>
                <p:nvPr/>
              </p:nvSpPr>
              <p:spPr>
                <a:xfrm>
                  <a:off x="1878417" y="1884972"/>
                  <a:ext cx="8248990" cy="8338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Refuted by tree-like resolution in width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400" b="0" i="0" smtClean="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w</m:t>
                      </m:r>
                      <m:r>
                        <a:rPr lang="en-GB" sz="2400" b="0" i="0" smtClean="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240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GB" sz="2400" b="0" i="0" smtClean="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oly</m:t>
                      </m:r>
                      <m:r>
                        <a:rPr lang="en-GB" sz="2400" b="0" i="0" smtClean="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GB" sz="2400" b="0" i="0" smtClean="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log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𝑛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)</m:t>
                      </m:r>
                    </m:oMath>
                  </a14:m>
                  <a:endParaRPr lang="en-GB" sz="2400" b="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But width</a:t>
                  </a:r>
                  <a14:m>
                    <m:oMath xmlns:m="http://schemas.openxmlformats.org/officeDocument/2006/math">
                      <m:r>
                        <a:rPr lang="en-GB" sz="24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rad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supercritical size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GB" sz="24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GB" sz="2400">
                          <a:latin typeface="Cambria Math" panose="02040503050406030204" pitchFamily="18" charset="0"/>
                        </a:rPr>
                        <m:t>superpoly</m:t>
                      </m:r>
                      <m:r>
                        <m:rPr>
                          <m:nor/>
                        </m:rPr>
                        <a:rPr lang="en-GB" sz="24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GB" altLang="da-DK" sz="240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ato" panose="020F0502020204030203" pitchFamily="34" charset="0"/>
                        </a:rPr>
                        <m:t>|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m:rPr>
                          <m:nor/>
                        </m:rPr>
                        <a:rPr lang="en-GB" altLang="da-DK" sz="240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ato" panose="020F0502020204030203" pitchFamily="34" charset="0"/>
                        </a:rPr>
                        <m:t>|)</m:t>
                      </m:r>
                      <m:r>
                        <m:rPr>
                          <m:nor/>
                        </m:rPr>
                        <a:rPr lang="en-GB" altLang="da-DK" sz="24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ato" panose="020F0502020204030203" pitchFamily="34" charset="0"/>
                        </a:rPr>
                        <m:t>)</m:t>
                      </m:r>
                    </m:oMath>
                  </a14:m>
                  <a:endPara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51274874-62A7-661A-8701-86ECB974F8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8417" y="1884972"/>
                  <a:ext cx="8248990" cy="833883"/>
                </a:xfrm>
                <a:prstGeom prst="rect">
                  <a:avLst/>
                </a:prstGeom>
                <a:blipFill>
                  <a:blip r:embed="rId6"/>
                  <a:stretch>
                    <a:fillRect l="-907" t="-5839" b="-15328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B1730FF-50A6-A58B-564E-1303DDFADD4D}"/>
              </a:ext>
            </a:extLst>
          </p:cNvPr>
          <p:cNvGrpSpPr/>
          <p:nvPr/>
        </p:nvGrpSpPr>
        <p:grpSpPr>
          <a:xfrm>
            <a:off x="1206837" y="1547123"/>
            <a:ext cx="9012630" cy="1509973"/>
            <a:chOff x="1497423" y="1634566"/>
            <a:chExt cx="8507387" cy="15099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06DB37AC-56D0-6034-2429-680E842B921C}"/>
                    </a:ext>
                  </a:extLst>
                </p:cNvPr>
                <p:cNvSpPr txBox="1"/>
                <p:nvPr/>
              </p:nvSpPr>
              <p:spPr>
                <a:xfrm>
                  <a:off x="1497423" y="1634566"/>
                  <a:ext cx="8507387" cy="1477328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1"/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GB" sz="1000" b="1">
                      <a:solidFill>
                        <a:srgbClr val="3C28FB"/>
                      </a:solidFill>
                      <a:latin typeface="Iskoola Pota" panose="020B0502040204020203" pitchFamily="34" charset="0"/>
                      <a:ea typeface="Lato" panose="020F0502020204030203" pitchFamily="34" charset="0"/>
                      <a:cs typeface="Iskoola Pota" panose="020B0502040204020203" pitchFamily="34" charset="0"/>
                    </a:rPr>
                    <a:t>  </a:t>
                  </a:r>
                  <a:r>
                    <a:rPr lang="en-GB" sz="2400">
                      <a:solidFill>
                        <a:srgbClr val="3C28FB"/>
                      </a:solidFill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Theorem (depth-width trade-off for resolution)</a:t>
                  </a:r>
                  <a:endParaRPr lang="en-GB" sz="100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  <a:p>
                  <a:r>
                    <a:rPr lang="en-GB" sz="240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     </a:t>
                  </a:r>
                  <a14:m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  <a:cs typeface="Iskoola Pota" panose="020B0502040204020203" pitchFamily="34" charset="0"/>
                        </a:rPr>
                        <m:t>∃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</a:t>
                  </a:r>
                  <a:r>
                    <a:rPr lang="en-GB" sz="240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CNF formulas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cs typeface="Iskoola Pota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cs typeface="Iskoola Pota" panose="020B0502040204020203" pitchFamily="34" charset="0"/>
                            </a:rPr>
                            <m:t>𝐹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  <a:cs typeface="Iskoola Pota" panose="020B0502040204020203" pitchFamily="34" charset="0"/>
                            </a:rPr>
                            <m:t>𝑛</m:t>
                          </m:r>
                        </m:sub>
                      </m:sSub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on </a:t>
                  </a:r>
                  <a14:m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  <a:cs typeface="Iskoola Pota" panose="020B0502040204020203" pitchFamily="34" charset="0"/>
                        </a:rPr>
                        <m:t>𝑛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variables s.t.</a:t>
                  </a:r>
                </a:p>
                <a:p>
                  <a:endParaRPr lang="en-GB" sz="2400">
                    <a:latin typeface="Iskoola Pota" panose="020B0502040204020203" pitchFamily="34" charset="0"/>
                    <a:cs typeface="Iskoola Pota" panose="020B0502040204020203" pitchFamily="34" charset="0"/>
                  </a:endParaRPr>
                </a:p>
                <a:p>
                  <a:r>
                    <a:rPr lang="en-GB" sz="2400">
                      <a:latin typeface="Iskoola Pota" panose="020B0502040204020203" pitchFamily="34" charset="0"/>
                      <a:cs typeface="Iskoola Pota" panose="020B0502040204020203" pitchFamily="34" charset="0"/>
                    </a:rPr>
                    <a:t>      </a:t>
                  </a:r>
                  <a:endParaRPr lang="en-GB" sz="2400" dirty="0">
                    <a:latin typeface="Iskoola Pota" panose="020B0502040204020203" pitchFamily="34" charset="0"/>
                    <a:cs typeface="Iskoola Pota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06DB37AC-56D0-6034-2429-680E842B92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7423" y="1634566"/>
                  <a:ext cx="8507387" cy="1477328"/>
                </a:xfrm>
                <a:prstGeom prst="rect">
                  <a:avLst/>
                </a:prstGeom>
                <a:blipFill>
                  <a:blip r:embed="rId7"/>
                  <a:stretch>
                    <a:fillRect l="-1284" t="-6148"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2B0ECD8-01C9-4702-5D09-28EFFE3B859C}"/>
                    </a:ext>
                  </a:extLst>
                </p:cNvPr>
                <p:cNvSpPr txBox="1"/>
                <p:nvPr/>
              </p:nvSpPr>
              <p:spPr>
                <a:xfrm>
                  <a:off x="1878417" y="2313542"/>
                  <a:ext cx="8072439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Refuted by resolution in width </a:t>
                  </a:r>
                  <a14:m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𝑤</m:t>
                      </m:r>
                      <m:r>
                        <a:rPr lang="en-GB" sz="240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240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poly</m:t>
                      </m:r>
                      <m:r>
                        <a:rPr lang="en-GB" sz="240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GB" sz="240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log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𝑛</m:t>
                          </m:r>
                        </m:e>
                      </m:d>
                      <m:r>
                        <a:rPr lang="en-GB" sz="2400" i="1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)</m:t>
                      </m:r>
                    </m:oMath>
                  </a14:m>
                  <a:endParaRPr lang="en-GB" sz="2400" b="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But width</a:t>
                  </a:r>
                  <a14:m>
                    <m:oMath xmlns:m="http://schemas.openxmlformats.org/officeDocument/2006/math">
                      <m:r>
                        <a:rPr lang="en-GB" sz="24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1.9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 ⟹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supercritical depth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super</m:t>
                      </m:r>
                      <m:r>
                        <m:rPr>
                          <m:nor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linear(|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m:rPr>
                          <m:nor/>
                        </m:rPr>
                        <a:rPr lang="en-GB" altLang="da-DK" sz="240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ato" panose="020F0502020204030203" pitchFamily="34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GB" altLang="da-DK" sz="24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ato" panose="020F0502020204030203" pitchFamily="34" charset="0"/>
                        </a:rPr>
                        <m:t>)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B2B0ECD8-01C9-4702-5D09-28EFFE3B85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8417" y="2313542"/>
                  <a:ext cx="8072439" cy="830997"/>
                </a:xfrm>
                <a:prstGeom prst="rect">
                  <a:avLst/>
                </a:prstGeom>
                <a:blipFill>
                  <a:blip r:embed="rId8"/>
                  <a:stretch>
                    <a:fillRect l="-927" t="-5882" b="-1617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4">
            <a:extLst>
              <a:ext uri="{FF2B5EF4-FFF2-40B4-BE49-F238E27FC236}">
                <a16:creationId xmlns:a16="http://schemas.microsoft.com/office/drawing/2014/main" id="{D1303211-CE60-F038-B6DF-EC36FA1868D6}"/>
              </a:ext>
            </a:extLst>
          </p:cNvPr>
          <p:cNvSpPr txBox="1"/>
          <p:nvPr/>
        </p:nvSpPr>
        <p:spPr>
          <a:xfrm rot="20862525">
            <a:off x="6411172" y="4428958"/>
            <a:ext cx="5673209" cy="5232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lvl="1" algn="ctr"/>
            <a:r>
              <a:rPr lang="en-GB" altLang="zh-CN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All results supercritical </a:t>
            </a:r>
            <a:r>
              <a:rPr lang="en-GB" altLang="zh-CN" sz="2800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 input size</a:t>
            </a:r>
          </a:p>
        </p:txBody>
      </p:sp>
    </p:spTree>
    <p:extLst>
      <p:ext uri="{BB962C8B-B14F-4D97-AF65-F5344CB8AC3E}">
        <p14:creationId xmlns:p14="http://schemas.microsoft.com/office/powerpoint/2010/main" val="400482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21DF5-D62F-9991-9DA1-1710A5B84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401109-6117-AAB0-D573-B7453F23E5EB}"/>
              </a:ext>
            </a:extLst>
          </p:cNvPr>
          <p:cNvSpPr txBox="1"/>
          <p:nvPr/>
        </p:nvSpPr>
        <p:spPr>
          <a:xfrm>
            <a:off x="914400" y="731520"/>
            <a:ext cx="881608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altLang="zh-CN" sz="28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Cutting Planes Proof System</a:t>
            </a:r>
          </a:p>
        </p:txBody>
      </p:sp>
      <p:sp>
        <p:nvSpPr>
          <p:cNvPr id="71" name="Foliennummernplatzhalter 70">
            <a:extLst>
              <a:ext uri="{FF2B5EF4-FFF2-40B4-BE49-F238E27FC236}">
                <a16:creationId xmlns:a16="http://schemas.microsoft.com/office/drawing/2014/main" id="{468129ED-7D49-8BCA-6905-D95DB1721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9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6">
                <a:extLst>
                  <a:ext uri="{FF2B5EF4-FFF2-40B4-BE49-F238E27FC236}">
                    <a16:creationId xmlns:a16="http://schemas.microsoft.com/office/drawing/2014/main" id="{A026DD36-BE0B-B59B-AD77-B6CC9C5D5B5E}"/>
                  </a:ext>
                </a:extLst>
              </p:cNvPr>
              <p:cNvSpPr txBox="1"/>
              <p:nvPr/>
            </p:nvSpPr>
            <p:spPr>
              <a:xfrm>
                <a:off x="1116607" y="1599681"/>
                <a:ext cx="5685061" cy="4015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Translate clause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GB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GB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GB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GB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GB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to linear inequality (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r>
                      <a:rPr lang="en-GB" sz="2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GB" sz="2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)+</m:t>
                    </m:r>
                    <m:r>
                      <a:rPr lang="en-GB" sz="2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GB" sz="2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𝑧</m:t>
                    </m:r>
                    <m:r>
                      <a:rPr lang="en-GB" sz="2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</m:t>
                    </m:r>
                  </m:oMath>
                </a14:m>
                <a:endParaRPr lang="en-GB" sz="2400" dirty="0">
                  <a:solidFill>
                    <a:sysClr val="windowText" lastClr="000000"/>
                  </a:solidFill>
                </a:endParaRPr>
              </a:p>
              <a:p>
                <a:endParaRPr lang="en-GB" sz="10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endParaRPr lang="en-GB" sz="10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r>
                  <a:rPr lang="en-GB" sz="2400" dirty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Derivation </a:t>
                </a:r>
                <a:r>
                  <a:rPr lang="en-GB" sz="2400" dirty="0" err="1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rules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: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Addition: 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fPr>
                      <m:num>
                        <m:eqArr>
                          <m:eqArrPr>
                            <m:ctrlPr>
                              <a:rPr lang="en-GB" sz="240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</m:ctrlPr>
                          </m:eqArrPr>
                          <m:e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GB" sz="240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Lato" panose="020F0502020204030203" pitchFamily="34" charset="0"/>
                                    <a:cs typeface="Lato" panose="020F0502020204030203" pitchFamily="34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>
                                  <m:sSubPr>
                                    <m:ctrlPr>
                                      <a:rPr lang="en-GB" sz="24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Lato" panose="020F0502020204030203" pitchFamily="34" charset="0"/>
                                        <a:cs typeface="Lato" panose="020F050202020403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4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Lato" panose="020F0502020204030203" pitchFamily="34" charset="0"/>
                                        <a:cs typeface="Lato" panose="020F0502020204030203" pitchFamily="34" charset="0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lang="en-GB" sz="24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Lato" panose="020F0502020204030203" pitchFamily="34" charset="0"/>
                                        <a:cs typeface="Lato" panose="020F0502020204030203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GB" sz="24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Lato" panose="020F0502020204030203" pitchFamily="34" charset="0"/>
                                        <a:cs typeface="Lato" panose="020F0502020204030203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sz="24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Lato" panose="020F0502020204030203" pitchFamily="34" charset="0"/>
                                        <a:cs typeface="Lato" panose="020F0502020204030203" pitchFamily="34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GB" sz="2400" b="0" i="1" smtClean="0">
                                        <a:solidFill>
                                          <a:sysClr val="windowText" lastClr="000000"/>
                                        </a:solidFill>
                                        <a:latin typeface="Cambria Math" panose="02040503050406030204" pitchFamily="18" charset="0"/>
                                        <a:ea typeface="Lato" panose="020F0502020204030203" pitchFamily="34" charset="0"/>
                                        <a:cs typeface="Lato" panose="020F0502020204030203" pitchFamily="34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GB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≥</m:t>
                            </m:r>
                            <m:r>
                              <a:rPr lang="en-GB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𝐴</m:t>
                            </m:r>
                            <m:r>
                              <a:rPr lang="en-GB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,      ∑</m:t>
                            </m:r>
                            <m:sSub>
                              <m:sSubPr>
                                <m:ctrlPr>
                                  <a:rPr lang="en-GB" sz="2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Lato" panose="020F0502020204030203" pitchFamily="34" charset="0"/>
                                    <a:cs typeface="Lato" panose="020F050202020403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Lato" panose="020F0502020204030203" pitchFamily="34" charset="0"/>
                                    <a:cs typeface="Lato" panose="020F0502020204030203" pitchFamily="34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Lato" panose="020F0502020204030203" pitchFamily="34" charset="0"/>
                                    <a:cs typeface="Lato" panose="020F0502020204030203" pitchFamily="34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GB" sz="2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Lato" panose="020F0502020204030203" pitchFamily="34" charset="0"/>
                                    <a:cs typeface="Lato" panose="020F050202020403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Lato" panose="020F0502020204030203" pitchFamily="34" charset="0"/>
                                    <a:cs typeface="Lato" panose="020F0502020204030203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GB" sz="2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Lato" panose="020F0502020204030203" pitchFamily="34" charset="0"/>
                                    <a:cs typeface="Lato" panose="020F0502020204030203" pitchFamily="34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GB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≥</m:t>
                            </m:r>
                            <m:r>
                              <a:rPr lang="en-GB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𝐵</m:t>
                            </m:r>
                          </m:e>
                          <m:e>
                            <m:r>
                              <a:rPr lang="en-GB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   </m:t>
                            </m:r>
                          </m:e>
                        </m:eqArr>
                      </m:num>
                      <m:den>
                        <m:r>
                          <a:rPr lang="en-GB" sz="2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∑</m:t>
                        </m:r>
                        <m:sSub>
                          <m:sSubPr>
                            <m:ctrlPr>
                              <a:rPr lang="en-GB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2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+∑</m:t>
                        </m:r>
                        <m:sSub>
                          <m:sSubPr>
                            <m:ctrlPr>
                              <a:rPr lang="en-GB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GB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2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≥ </m:t>
                        </m:r>
                        <m:r>
                          <a:rPr lang="en-GB" sz="2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𝐴</m:t>
                        </m:r>
                        <m:r>
                          <a:rPr lang="en-GB" sz="2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+</m:t>
                        </m:r>
                        <m:r>
                          <a:rPr lang="en-GB" sz="2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𝐵</m:t>
                        </m:r>
                      </m:den>
                    </m:f>
                  </m:oMath>
                </a14:m>
                <a:endParaRPr lang="en-GB" sz="2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endParaRPr lang="en-GB" sz="10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400" dirty="0" err="1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Multiplication</a:t>
                </a:r>
                <a:r>
                  <a:rPr lang="en-GB" sz="2400" dirty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: 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fPr>
                      <m:num>
                        <m:r>
                          <a:rPr lang="en-GB" sz="2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∑</m:t>
                        </m:r>
                        <m:sSub>
                          <m:sSubPr>
                            <m:ctrlPr>
                              <a:rPr lang="en-GB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2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≥</m:t>
                        </m:r>
                        <m:r>
                          <a:rPr lang="en-GB" sz="2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𝐴</m:t>
                        </m:r>
                      </m:num>
                      <m:den>
                        <m:r>
                          <a:rPr lang="en-GB" sz="2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 ∑</m:t>
                        </m:r>
                        <m:r>
                          <a:rPr lang="en-GB" sz="2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𝑐</m:t>
                        </m:r>
                        <m:sSub>
                          <m:sSubPr>
                            <m:ctrlPr>
                              <a:rPr lang="en-GB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2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≥</m:t>
                        </m:r>
                        <m:r>
                          <a:rPr lang="en-GB" sz="2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𝑐𝐴</m:t>
                        </m:r>
                        <m:r>
                          <a:rPr lang="en-GB" sz="2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GB" sz="2400" dirty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𝑐</m:t>
                    </m:r>
                    <m:r>
                      <a:rPr lang="en-GB" sz="2400" b="0" i="1" smtClean="0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∈</m:t>
                    </m:r>
                    <m:sSup>
                      <m:sSupPr>
                        <m:ctrlPr>
                          <a:rPr lang="en-GB" sz="2400" b="1" i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sSupPr>
                      <m:e>
                        <m:r>
                          <a:rPr lang="en-GB" sz="2400" b="1" i="0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𝐍</m:t>
                        </m:r>
                      </m:e>
                      <m:sup>
                        <m:r>
                          <a:rPr lang="en-GB" sz="2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+</m:t>
                        </m:r>
                      </m:sup>
                    </m:sSup>
                  </m:oMath>
                </a14:m>
                <a:endParaRPr lang="en-GB" sz="2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endParaRPr lang="en-GB" sz="10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Division: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fPr>
                      <m:num>
                        <m:r>
                          <a:rPr lang="en-GB" sz="24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∑</m:t>
                        </m:r>
                        <m:r>
                          <a:rPr lang="en-GB" sz="24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𝑐</m:t>
                        </m:r>
                        <m:sSub>
                          <m:sSubPr>
                            <m:ctrlPr>
                              <a:rPr lang="en-GB" sz="2400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2400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sz="2400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24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≥</m:t>
                        </m:r>
                        <m:r>
                          <a:rPr lang="en-GB" sz="24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𝐴</m:t>
                        </m:r>
                      </m:num>
                      <m:den>
                        <m:r>
                          <a:rPr lang="en-GB" sz="2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 </m:t>
                        </m:r>
                        <m:r>
                          <a:rPr lang="en-GB" sz="24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∑</m:t>
                        </m:r>
                        <m:sSub>
                          <m:sSubPr>
                            <m:ctrlPr>
                              <a:rPr lang="en-GB" sz="2400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GB" sz="2400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GB" sz="2400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i="1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n-GB" sz="24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≥</m:t>
                        </m:r>
                        <m:d>
                          <m:dPr>
                            <m:begChr m:val="⌈"/>
                            <m:endChr m:val=""/>
                            <m:ctrlPr>
                              <a:rPr lang="en-GB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</m:ctrlPr>
                          </m:dPr>
                          <m:e>
                            <m:r>
                              <a:rPr lang="en-GB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𝐴</m:t>
                            </m:r>
                            <m:r>
                              <a:rPr lang="en-GB" sz="2400" b="0" i="1" smtClean="0">
                                <a:solidFill>
                                  <a:sysClr val="windowText" lastClr="000000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/</m:t>
                            </m:r>
                            <m:d>
                              <m:dPr>
                                <m:begChr m:val=""/>
                                <m:endChr m:val="⌉"/>
                                <m:ctrlPr>
                                  <a:rPr lang="en-GB" sz="2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Lato" panose="020F0502020204030203" pitchFamily="34" charset="0"/>
                                    <a:cs typeface="Lato" panose="020F0502020204030203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GB" sz="2400" b="0" i="1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Lato" panose="020F0502020204030203" pitchFamily="34" charset="0"/>
                                    <a:cs typeface="Lato" panose="020F0502020204030203" pitchFamily="34" charset="0"/>
                                  </a:rPr>
                                  <m:t>𝑐</m:t>
                                </m:r>
                              </m:e>
                            </m:d>
                          </m:e>
                        </m:d>
                        <m:r>
                          <a:rPr lang="en-GB" sz="2400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 </m:t>
                        </m:r>
                      </m:den>
                    </m:f>
                  </m:oMath>
                </a14:m>
                <a:r>
                  <a:rPr lang="en-GB" sz="2400" dirty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𝑐</m:t>
                    </m:r>
                    <m:r>
                      <a:rPr lang="en-GB" sz="2400" i="1">
                        <a:solidFill>
                          <a:sysClr val="windowText" lastClr="000000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∈</m:t>
                    </m:r>
                    <m:sSup>
                      <m:sSupPr>
                        <m:ctrlPr>
                          <a:rPr lang="en-GB" sz="2400" b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sSupPr>
                      <m:e>
                        <m:r>
                          <a:rPr lang="en-GB" sz="2400" b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𝐍</m:t>
                        </m:r>
                      </m:e>
                      <m:sup>
                        <m:r>
                          <a:rPr lang="en-GB" sz="2400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+</m:t>
                        </m:r>
                      </m:sup>
                    </m:sSup>
                  </m:oMath>
                </a14:m>
                <a:endParaRPr lang="en-GB" sz="2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3" name="Textfeld 6">
                <a:extLst>
                  <a:ext uri="{FF2B5EF4-FFF2-40B4-BE49-F238E27FC236}">
                    <a16:creationId xmlns:a16="http://schemas.microsoft.com/office/drawing/2014/main" id="{A026DD36-BE0B-B59B-AD77-B6CC9C5D5B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607" y="1599681"/>
                <a:ext cx="5685061" cy="4015586"/>
              </a:xfrm>
              <a:prstGeom prst="rect">
                <a:avLst/>
              </a:prstGeom>
              <a:blipFill>
                <a:blip r:embed="rId3"/>
                <a:stretch>
                  <a:fillRect l="-1608" t="-12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5BF270E2-A556-679A-00CC-27472115F32C}"/>
              </a:ext>
            </a:extLst>
          </p:cNvPr>
          <p:cNvGrpSpPr/>
          <p:nvPr/>
        </p:nvGrpSpPr>
        <p:grpSpPr>
          <a:xfrm>
            <a:off x="6457563" y="622213"/>
            <a:ext cx="5704378" cy="5801689"/>
            <a:chOff x="6457563" y="622213"/>
            <a:chExt cx="5704378" cy="58016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Abgerundetes Rechteck 3">
                  <a:extLst>
                    <a:ext uri="{FF2B5EF4-FFF2-40B4-BE49-F238E27FC236}">
                      <a16:creationId xmlns:a16="http://schemas.microsoft.com/office/drawing/2014/main" id="{775A8A87-028B-46DE-4637-FA898D2305C4}"/>
                    </a:ext>
                  </a:extLst>
                </p:cNvPr>
                <p:cNvSpPr/>
                <p:nvPr/>
              </p:nvSpPr>
              <p:spPr>
                <a:xfrm>
                  <a:off x="8277054" y="1236765"/>
                  <a:ext cx="2068529" cy="508433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≥0</m:t>
                        </m:r>
                      </m:oMath>
                    </m:oMathPara>
                  </a14:m>
                  <a:endParaRPr lang="en-GB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4" name="Abgerundetes Rechteck 3">
                  <a:extLst>
                    <a:ext uri="{FF2B5EF4-FFF2-40B4-BE49-F238E27FC236}">
                      <a16:creationId xmlns:a16="http://schemas.microsoft.com/office/drawing/2014/main" id="{775A8A87-028B-46DE-4637-FA898D2305C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77054" y="1236765"/>
                  <a:ext cx="2068529" cy="508433"/>
                </a:xfrm>
                <a:prstGeom prst="round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Abgerundetes Rechteck 6">
                  <a:extLst>
                    <a:ext uri="{FF2B5EF4-FFF2-40B4-BE49-F238E27FC236}">
                      <a16:creationId xmlns:a16="http://schemas.microsoft.com/office/drawing/2014/main" id="{18745BCD-6246-248A-A297-295B660D1143}"/>
                    </a:ext>
                  </a:extLst>
                </p:cNvPr>
                <p:cNvSpPr/>
                <p:nvPr/>
              </p:nvSpPr>
              <p:spPr>
                <a:xfrm>
                  <a:off x="10734716" y="4534899"/>
                  <a:ext cx="1351804" cy="500932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GB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GB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GB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Abgerundetes Rechteck 6">
                  <a:extLst>
                    <a:ext uri="{FF2B5EF4-FFF2-40B4-BE49-F238E27FC236}">
                      <a16:creationId xmlns:a16="http://schemas.microsoft.com/office/drawing/2014/main" id="{18745BCD-6246-248A-A297-295B660D114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34716" y="4534899"/>
                  <a:ext cx="1351804" cy="500932"/>
                </a:xfrm>
                <a:prstGeom prst="round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Abgerundetes Rechteck 15">
                  <a:extLst>
                    <a:ext uri="{FF2B5EF4-FFF2-40B4-BE49-F238E27FC236}">
                      <a16:creationId xmlns:a16="http://schemas.microsoft.com/office/drawing/2014/main" id="{6A5A0B89-A159-5138-B9EE-0EA2CA2B5E53}"/>
                    </a:ext>
                  </a:extLst>
                </p:cNvPr>
                <p:cNvSpPr/>
                <p:nvPr/>
              </p:nvSpPr>
              <p:spPr>
                <a:xfrm>
                  <a:off x="6457563" y="1251899"/>
                  <a:ext cx="1665635" cy="500932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≥1</m:t>
                        </m:r>
                      </m:oMath>
                    </m:oMathPara>
                  </a14:m>
                  <a:endParaRPr lang="en-GB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Abgerundetes Rechteck 15">
                  <a:extLst>
                    <a:ext uri="{FF2B5EF4-FFF2-40B4-BE49-F238E27FC236}">
                      <a16:creationId xmlns:a16="http://schemas.microsoft.com/office/drawing/2014/main" id="{6A5A0B89-A159-5138-B9EE-0EA2CA2B5E5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7563" y="1251899"/>
                  <a:ext cx="1665635" cy="500932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Abgerundetes Rechteck 16">
                  <a:extLst>
                    <a:ext uri="{FF2B5EF4-FFF2-40B4-BE49-F238E27FC236}">
                      <a16:creationId xmlns:a16="http://schemas.microsoft.com/office/drawing/2014/main" id="{D81ACD33-C3EB-7DAB-A68E-17BA86E16F96}"/>
                    </a:ext>
                  </a:extLst>
                </p:cNvPr>
                <p:cNvSpPr/>
                <p:nvPr/>
              </p:nvSpPr>
              <p:spPr>
                <a:xfrm>
                  <a:off x="10693523" y="2502660"/>
                  <a:ext cx="1468418" cy="420308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GB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GB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GB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Abgerundetes Rechteck 16">
                  <a:extLst>
                    <a:ext uri="{FF2B5EF4-FFF2-40B4-BE49-F238E27FC236}">
                      <a16:creationId xmlns:a16="http://schemas.microsoft.com/office/drawing/2014/main" id="{D81ACD33-C3EB-7DAB-A68E-17BA86E16F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93523" y="2502660"/>
                  <a:ext cx="1468418" cy="420308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Abgerundetes Rechteck 17">
                  <a:extLst>
                    <a:ext uri="{FF2B5EF4-FFF2-40B4-BE49-F238E27FC236}">
                      <a16:creationId xmlns:a16="http://schemas.microsoft.com/office/drawing/2014/main" id="{744D8F48-C005-8284-F1AE-80F9488D6048}"/>
                    </a:ext>
                  </a:extLst>
                </p:cNvPr>
                <p:cNvSpPr/>
                <p:nvPr/>
              </p:nvSpPr>
              <p:spPr>
                <a:xfrm>
                  <a:off x="9797626" y="3023996"/>
                  <a:ext cx="1216423" cy="500932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≥0</m:t>
                        </m:r>
                      </m:oMath>
                    </m:oMathPara>
                  </a14:m>
                  <a:endParaRPr lang="en-GB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Abgerundetes Rechteck 17">
                  <a:extLst>
                    <a:ext uri="{FF2B5EF4-FFF2-40B4-BE49-F238E27FC236}">
                      <a16:creationId xmlns:a16="http://schemas.microsoft.com/office/drawing/2014/main" id="{744D8F48-C005-8284-F1AE-80F9488D604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7626" y="3023996"/>
                  <a:ext cx="1216423" cy="500932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Abgerundetes Rechteck 18">
                  <a:extLst>
                    <a:ext uri="{FF2B5EF4-FFF2-40B4-BE49-F238E27FC236}">
                      <a16:creationId xmlns:a16="http://schemas.microsoft.com/office/drawing/2014/main" id="{84F66020-4E7E-9274-10A7-ED666F3210DC}"/>
                    </a:ext>
                  </a:extLst>
                </p:cNvPr>
                <p:cNvSpPr/>
                <p:nvPr/>
              </p:nvSpPr>
              <p:spPr>
                <a:xfrm>
                  <a:off x="10345583" y="1349215"/>
                  <a:ext cx="1251679" cy="500932"/>
                </a:xfrm>
                <a:prstGeom prst="roundRect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GB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GB" i="1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solidFill>
                              <a:sysClr val="windowText" lastClr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GB" dirty="0">
                    <a:solidFill>
                      <a:sysClr val="windowText" lastClr="0000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Abgerundetes Rechteck 18">
                  <a:extLst>
                    <a:ext uri="{FF2B5EF4-FFF2-40B4-BE49-F238E27FC236}">
                      <a16:creationId xmlns:a16="http://schemas.microsoft.com/office/drawing/2014/main" id="{84F66020-4E7E-9274-10A7-ED666F3210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45583" y="1349215"/>
                  <a:ext cx="1251679" cy="500932"/>
                </a:xfrm>
                <a:prstGeom prst="round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Gerade Verbindung mit Pfeil 21">
              <a:extLst>
                <a:ext uri="{FF2B5EF4-FFF2-40B4-BE49-F238E27FC236}">
                  <a16:creationId xmlns:a16="http://schemas.microsoft.com/office/drawing/2014/main" id="{189DE972-A6A8-B446-F771-7822DCA9FC25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7290381" y="1752831"/>
              <a:ext cx="700296" cy="4489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Gerade Verbindung mit Pfeil 23">
              <a:extLst>
                <a:ext uri="{FF2B5EF4-FFF2-40B4-BE49-F238E27FC236}">
                  <a16:creationId xmlns:a16="http://schemas.microsoft.com/office/drawing/2014/main" id="{5E306C2D-DA7C-7B42-169E-C44A4DC59788}"/>
                </a:ext>
              </a:extLst>
            </p:cNvPr>
            <p:cNvCxnSpPr>
              <a:cxnSpLocks/>
              <a:stCxn id="4" idx="2"/>
            </p:cNvCxnSpPr>
            <p:nvPr/>
          </p:nvCxnSpPr>
          <p:spPr>
            <a:xfrm flipH="1">
              <a:off x="8282351" y="1745198"/>
              <a:ext cx="1028968" cy="4414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2" name="Gruppieren 25">
              <a:extLst>
                <a:ext uri="{FF2B5EF4-FFF2-40B4-BE49-F238E27FC236}">
                  <a16:creationId xmlns:a16="http://schemas.microsoft.com/office/drawing/2014/main" id="{6B6F8034-EB9B-E08F-D620-299943BB9543}"/>
                </a:ext>
              </a:extLst>
            </p:cNvPr>
            <p:cNvGrpSpPr/>
            <p:nvPr/>
          </p:nvGrpSpPr>
          <p:grpSpPr>
            <a:xfrm>
              <a:off x="7257977" y="1889668"/>
              <a:ext cx="2172843" cy="808238"/>
              <a:chOff x="6483802" y="2038011"/>
              <a:chExt cx="2172843" cy="80823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Abgerundetes Rechteck 19">
                    <a:extLst>
                      <a:ext uri="{FF2B5EF4-FFF2-40B4-BE49-F238E27FC236}">
                        <a16:creationId xmlns:a16="http://schemas.microsoft.com/office/drawing/2014/main" id="{35BE28D0-B5DA-DDA5-D9BC-66F43FBEA322}"/>
                      </a:ext>
                    </a:extLst>
                  </p:cNvPr>
                  <p:cNvSpPr/>
                  <p:nvPr/>
                </p:nvSpPr>
                <p:spPr>
                  <a:xfrm>
                    <a:off x="6483802" y="2345317"/>
                    <a:ext cx="2172843" cy="500932"/>
                  </a:xfrm>
                  <a:prstGeom prst="round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≥1</m:t>
                          </m:r>
                        </m:oMath>
                      </m:oMathPara>
                    </a14:m>
                    <a:endParaRPr lang="en-GB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" name="Abgerundetes Rechteck 19">
                    <a:extLst>
                      <a:ext uri="{FF2B5EF4-FFF2-40B4-BE49-F238E27FC236}">
                        <a16:creationId xmlns:a16="http://schemas.microsoft.com/office/drawing/2014/main" id="{35BE28D0-B5DA-DDA5-D9BC-66F43FBEA32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83802" y="2345317"/>
                    <a:ext cx="2172843" cy="500932"/>
                  </a:xfrm>
                  <a:prstGeom prst="round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4" name="Textfeld 24">
                <a:extLst>
                  <a:ext uri="{FF2B5EF4-FFF2-40B4-BE49-F238E27FC236}">
                    <a16:creationId xmlns:a16="http://schemas.microsoft.com/office/drawing/2014/main" id="{92BA254E-B389-3881-00E6-9CC748B79DA4}"/>
                  </a:ext>
                </a:extLst>
              </p:cNvPr>
              <p:cNvSpPr txBox="1"/>
              <p:nvPr/>
            </p:nvSpPr>
            <p:spPr>
              <a:xfrm>
                <a:off x="7208261" y="2038011"/>
                <a:ext cx="3145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/>
                  <a:t>+</a:t>
                </a:r>
                <a:endParaRPr lang="en-GB" dirty="0"/>
              </a:p>
            </p:txBody>
          </p:sp>
        </p:grpSp>
        <p:cxnSp>
          <p:nvCxnSpPr>
            <p:cNvPr id="15" name="Gerade Verbindung mit Pfeil 31">
              <a:extLst>
                <a:ext uri="{FF2B5EF4-FFF2-40B4-BE49-F238E27FC236}">
                  <a16:creationId xmlns:a16="http://schemas.microsoft.com/office/drawing/2014/main" id="{6463B3B1-8328-28B8-888B-4868F4AC1650}"/>
                </a:ext>
              </a:extLst>
            </p:cNvPr>
            <p:cNvCxnSpPr>
              <a:cxnSpLocks/>
              <a:stCxn id="13" idx="2"/>
              <a:endCxn id="18" idx="0"/>
            </p:cNvCxnSpPr>
            <p:nvPr/>
          </p:nvCxnSpPr>
          <p:spPr>
            <a:xfrm>
              <a:off x="8344399" y="2697906"/>
              <a:ext cx="298962" cy="4489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Gerade Verbindung mit Pfeil 32">
              <a:extLst>
                <a:ext uri="{FF2B5EF4-FFF2-40B4-BE49-F238E27FC236}">
                  <a16:creationId xmlns:a16="http://schemas.microsoft.com/office/drawing/2014/main" id="{25DBD4B7-07C4-CEA3-A424-85E402B2DB08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 flipH="1">
              <a:off x="9289823" y="1850147"/>
              <a:ext cx="1681600" cy="130507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uppieren 38">
              <a:extLst>
                <a:ext uri="{FF2B5EF4-FFF2-40B4-BE49-F238E27FC236}">
                  <a16:creationId xmlns:a16="http://schemas.microsoft.com/office/drawing/2014/main" id="{4F8F4713-FAA1-C152-7605-AC98D44114A7}"/>
                </a:ext>
              </a:extLst>
            </p:cNvPr>
            <p:cNvGrpSpPr/>
            <p:nvPr/>
          </p:nvGrpSpPr>
          <p:grpSpPr>
            <a:xfrm>
              <a:off x="7807084" y="2840899"/>
              <a:ext cx="1672554" cy="806870"/>
              <a:chOff x="7032909" y="2989242"/>
              <a:chExt cx="1672554" cy="80687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Abgerundetes Rechteck 26">
                    <a:extLst>
                      <a:ext uri="{FF2B5EF4-FFF2-40B4-BE49-F238E27FC236}">
                        <a16:creationId xmlns:a16="http://schemas.microsoft.com/office/drawing/2014/main" id="{ECE2E392-B40B-5E97-AB51-4CE7F237AD56}"/>
                      </a:ext>
                    </a:extLst>
                  </p:cNvPr>
                  <p:cNvSpPr/>
                  <p:nvPr/>
                </p:nvSpPr>
                <p:spPr>
                  <a:xfrm>
                    <a:off x="7032909" y="3295180"/>
                    <a:ext cx="1672554" cy="500932"/>
                  </a:xfrm>
                  <a:prstGeom prst="round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≥1</m:t>
                          </m:r>
                        </m:oMath>
                      </m:oMathPara>
                    </a14:m>
                    <a:endParaRPr lang="en-GB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" name="Abgerundetes Rechteck 26">
                    <a:extLst>
                      <a:ext uri="{FF2B5EF4-FFF2-40B4-BE49-F238E27FC236}">
                        <a16:creationId xmlns:a16="http://schemas.microsoft.com/office/drawing/2014/main" id="{ECE2E392-B40B-5E97-AB51-4CE7F237AD5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32909" y="3295180"/>
                    <a:ext cx="1672554" cy="500932"/>
                  </a:xfrm>
                  <a:prstGeom prst="round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feld 37">
                    <a:extLst>
                      <a:ext uri="{FF2B5EF4-FFF2-40B4-BE49-F238E27FC236}">
                        <a16:creationId xmlns:a16="http://schemas.microsoft.com/office/drawing/2014/main" id="{5F30307C-7E4C-6ED4-3739-45193E7B462A}"/>
                      </a:ext>
                    </a:extLst>
                  </p:cNvPr>
                  <p:cNvSpPr txBox="1"/>
                  <p:nvPr/>
                </p:nvSpPr>
                <p:spPr>
                  <a:xfrm>
                    <a:off x="8023512" y="2989242"/>
                    <a:ext cx="41549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19" name="Textfeld 37">
                    <a:extLst>
                      <a:ext uri="{FF2B5EF4-FFF2-40B4-BE49-F238E27FC236}">
                        <a16:creationId xmlns:a16="http://schemas.microsoft.com/office/drawing/2014/main" id="{5F30307C-7E4C-6ED4-3739-45193E7B462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23512" y="2989242"/>
                    <a:ext cx="415498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" name="Gruppieren 40">
              <a:extLst>
                <a:ext uri="{FF2B5EF4-FFF2-40B4-BE49-F238E27FC236}">
                  <a16:creationId xmlns:a16="http://schemas.microsoft.com/office/drawing/2014/main" id="{1BC01B0D-6703-ACA4-6B50-07A8E90758F6}"/>
                </a:ext>
              </a:extLst>
            </p:cNvPr>
            <p:cNvGrpSpPr/>
            <p:nvPr/>
          </p:nvGrpSpPr>
          <p:grpSpPr>
            <a:xfrm>
              <a:off x="8566457" y="3814452"/>
              <a:ext cx="1658397" cy="815231"/>
              <a:chOff x="7451809" y="2980881"/>
              <a:chExt cx="861575" cy="81523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Abgerundetes Rechteck 41">
                    <a:extLst>
                      <a:ext uri="{FF2B5EF4-FFF2-40B4-BE49-F238E27FC236}">
                        <a16:creationId xmlns:a16="http://schemas.microsoft.com/office/drawing/2014/main" id="{E7A1F346-1D4A-A528-7DF2-65159484F7EB}"/>
                      </a:ext>
                    </a:extLst>
                  </p:cNvPr>
                  <p:cNvSpPr/>
                  <p:nvPr/>
                </p:nvSpPr>
                <p:spPr>
                  <a:xfrm>
                    <a:off x="7451809" y="3295180"/>
                    <a:ext cx="861575" cy="500932"/>
                  </a:xfrm>
                  <a:prstGeom prst="round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  <m: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≥1</m:t>
                          </m:r>
                        </m:oMath>
                      </m:oMathPara>
                    </a14:m>
                    <a:endParaRPr lang="en-GB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Abgerundetes Rechteck 41">
                    <a:extLst>
                      <a:ext uri="{FF2B5EF4-FFF2-40B4-BE49-F238E27FC236}">
                        <a16:creationId xmlns:a16="http://schemas.microsoft.com/office/drawing/2014/main" id="{E7A1F346-1D4A-A528-7DF2-65159484F7E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51809" y="3295180"/>
                    <a:ext cx="861575" cy="500932"/>
                  </a:xfrm>
                  <a:prstGeom prst="round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feld 42">
                    <a:extLst>
                      <a:ext uri="{FF2B5EF4-FFF2-40B4-BE49-F238E27FC236}">
                        <a16:creationId xmlns:a16="http://schemas.microsoft.com/office/drawing/2014/main" id="{64A74BA9-F4E8-22D0-2412-833B2C618812}"/>
                      </a:ext>
                    </a:extLst>
                  </p:cNvPr>
                  <p:cNvSpPr txBox="1"/>
                  <p:nvPr/>
                </p:nvSpPr>
                <p:spPr>
                  <a:xfrm>
                    <a:off x="7720871" y="2980881"/>
                    <a:ext cx="21586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22" name="Textfeld 42">
                    <a:extLst>
                      <a:ext uri="{FF2B5EF4-FFF2-40B4-BE49-F238E27FC236}">
                        <a16:creationId xmlns:a16="http://schemas.microsoft.com/office/drawing/2014/main" id="{64A74BA9-F4E8-22D0-2412-833B2C61881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20871" y="2980881"/>
                    <a:ext cx="215861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3" name="Gerade Verbindung mit Pfeil 44">
              <a:extLst>
                <a:ext uri="{FF2B5EF4-FFF2-40B4-BE49-F238E27FC236}">
                  <a16:creationId xmlns:a16="http://schemas.microsoft.com/office/drawing/2014/main" id="{C982D61A-C7DF-07B5-BD24-C5AACF4B44C5}"/>
                </a:ext>
              </a:extLst>
            </p:cNvPr>
            <p:cNvCxnSpPr>
              <a:cxnSpLocks/>
              <a:stCxn id="18" idx="2"/>
              <a:endCxn id="21" idx="0"/>
            </p:cNvCxnSpPr>
            <p:nvPr/>
          </p:nvCxnSpPr>
          <p:spPr>
            <a:xfrm>
              <a:off x="8643361" y="3647769"/>
              <a:ext cx="752295" cy="4809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Gerade Verbindung mit Pfeil 46">
              <a:extLst>
                <a:ext uri="{FF2B5EF4-FFF2-40B4-BE49-F238E27FC236}">
                  <a16:creationId xmlns:a16="http://schemas.microsoft.com/office/drawing/2014/main" id="{6E2CEBC3-C5C0-67CF-7855-A8646838535E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9836241" y="3524928"/>
              <a:ext cx="569597" cy="6029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5" name="Gruppieren 47">
              <a:extLst>
                <a:ext uri="{FF2B5EF4-FFF2-40B4-BE49-F238E27FC236}">
                  <a16:creationId xmlns:a16="http://schemas.microsoft.com/office/drawing/2014/main" id="{0585D51F-79BB-F471-6FA3-DB6231597223}"/>
                </a:ext>
              </a:extLst>
            </p:cNvPr>
            <p:cNvGrpSpPr/>
            <p:nvPr/>
          </p:nvGrpSpPr>
          <p:grpSpPr>
            <a:xfrm>
              <a:off x="9556755" y="4785365"/>
              <a:ext cx="1102227" cy="806332"/>
              <a:chOff x="7100315" y="3002992"/>
              <a:chExt cx="1102227" cy="806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Abgerundetes Rechteck 48">
                    <a:extLst>
                      <a:ext uri="{FF2B5EF4-FFF2-40B4-BE49-F238E27FC236}">
                        <a16:creationId xmlns:a16="http://schemas.microsoft.com/office/drawing/2014/main" id="{3FA727AD-3269-E514-1965-EC00FEF8A03C}"/>
                      </a:ext>
                    </a:extLst>
                  </p:cNvPr>
                  <p:cNvSpPr/>
                  <p:nvPr/>
                </p:nvSpPr>
                <p:spPr>
                  <a:xfrm>
                    <a:off x="7100315" y="3308392"/>
                    <a:ext cx="1102227" cy="500932"/>
                  </a:xfrm>
                  <a:prstGeom prst="round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≥1</m:t>
                          </m:r>
                        </m:oMath>
                      </m:oMathPara>
                    </a14:m>
                    <a:endParaRPr lang="en-GB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6" name="Abgerundetes Rechteck 48">
                    <a:extLst>
                      <a:ext uri="{FF2B5EF4-FFF2-40B4-BE49-F238E27FC236}">
                        <a16:creationId xmlns:a16="http://schemas.microsoft.com/office/drawing/2014/main" id="{3FA727AD-3269-E514-1965-EC00FEF8A03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00315" y="3308392"/>
                    <a:ext cx="1102227" cy="500932"/>
                  </a:xfrm>
                  <a:prstGeom prst="roundRect">
                    <a:avLst/>
                  </a:prstGeom>
                  <a:blipFill>
                    <a:blip r:embed="rId1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Textfeld 49">
                    <a:extLst>
                      <a:ext uri="{FF2B5EF4-FFF2-40B4-BE49-F238E27FC236}">
                        <a16:creationId xmlns:a16="http://schemas.microsoft.com/office/drawing/2014/main" id="{29980E2D-54C4-B75A-5E53-DD03B354D909}"/>
                      </a:ext>
                    </a:extLst>
                  </p:cNvPr>
                  <p:cNvSpPr txBox="1"/>
                  <p:nvPr/>
                </p:nvSpPr>
                <p:spPr>
                  <a:xfrm>
                    <a:off x="7525594" y="3002992"/>
                    <a:ext cx="41902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27" name="Textfeld 49">
                    <a:extLst>
                      <a:ext uri="{FF2B5EF4-FFF2-40B4-BE49-F238E27FC236}">
                        <a16:creationId xmlns:a16="http://schemas.microsoft.com/office/drawing/2014/main" id="{29980E2D-54C4-B75A-5E53-DD03B354D90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25594" y="3002992"/>
                    <a:ext cx="419024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8" name="Gerade Verbindung mit Pfeil 51">
              <a:extLst>
                <a:ext uri="{FF2B5EF4-FFF2-40B4-BE49-F238E27FC236}">
                  <a16:creationId xmlns:a16="http://schemas.microsoft.com/office/drawing/2014/main" id="{2723A888-9D35-9591-31F0-8C5231682BBA}"/>
                </a:ext>
              </a:extLst>
            </p:cNvPr>
            <p:cNvCxnSpPr>
              <a:cxnSpLocks/>
              <a:stCxn id="21" idx="2"/>
            </p:cNvCxnSpPr>
            <p:nvPr/>
          </p:nvCxnSpPr>
          <p:spPr>
            <a:xfrm>
              <a:off x="9395656" y="4629683"/>
              <a:ext cx="671744" cy="44787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Gerade Verbindung mit Pfeil 54">
              <a:extLst>
                <a:ext uri="{FF2B5EF4-FFF2-40B4-BE49-F238E27FC236}">
                  <a16:creationId xmlns:a16="http://schemas.microsoft.com/office/drawing/2014/main" id="{E9F22D3C-B586-DF48-5C5D-ED7DAA31D722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 flipH="1">
              <a:off x="10345583" y="2922968"/>
              <a:ext cx="1082149" cy="21545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0" name="Gruppieren 55">
              <a:extLst>
                <a:ext uri="{FF2B5EF4-FFF2-40B4-BE49-F238E27FC236}">
                  <a16:creationId xmlns:a16="http://schemas.microsoft.com/office/drawing/2014/main" id="{021499E4-634E-514C-5CEF-D80235064E14}"/>
                </a:ext>
              </a:extLst>
            </p:cNvPr>
            <p:cNvGrpSpPr/>
            <p:nvPr/>
          </p:nvGrpSpPr>
          <p:grpSpPr>
            <a:xfrm>
              <a:off x="9914215" y="5638804"/>
              <a:ext cx="1210208" cy="785098"/>
              <a:chOff x="7451810" y="2982136"/>
              <a:chExt cx="419024" cy="78509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Abgerundetes Rechteck 56">
                    <a:extLst>
                      <a:ext uri="{FF2B5EF4-FFF2-40B4-BE49-F238E27FC236}">
                        <a16:creationId xmlns:a16="http://schemas.microsoft.com/office/drawing/2014/main" id="{29FB8D6D-E923-8A01-4828-9F22D3C87532}"/>
                      </a:ext>
                    </a:extLst>
                  </p:cNvPr>
                  <p:cNvSpPr/>
                  <p:nvPr/>
                </p:nvSpPr>
                <p:spPr>
                  <a:xfrm>
                    <a:off x="7451810" y="3266302"/>
                    <a:ext cx="419024" cy="500932"/>
                  </a:xfrm>
                  <a:prstGeom prst="round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GB" b="0" i="1" smtClean="0">
                              <a:solidFill>
                                <a:sysClr val="windowText" lastClr="000000"/>
                              </a:solidFill>
                              <a:latin typeface="Cambria Math" panose="02040503050406030204" pitchFamily="18" charset="0"/>
                            </a:rPr>
                            <m:t>0≥1</m:t>
                          </m:r>
                        </m:oMath>
                      </m:oMathPara>
                    </a14:m>
                    <a:endParaRPr lang="en-GB" dirty="0">
                      <a:solidFill>
                        <a:sysClr val="windowText" lastClr="00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1" name="Abgerundetes Rechteck 56">
                    <a:extLst>
                      <a:ext uri="{FF2B5EF4-FFF2-40B4-BE49-F238E27FC236}">
                        <a16:creationId xmlns:a16="http://schemas.microsoft.com/office/drawing/2014/main" id="{29FB8D6D-E923-8A01-4828-9F22D3C8753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51810" y="3266302"/>
                    <a:ext cx="419024" cy="500932"/>
                  </a:xfrm>
                  <a:prstGeom prst="round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Textfeld 57">
                    <a:extLst>
                      <a:ext uri="{FF2B5EF4-FFF2-40B4-BE49-F238E27FC236}">
                        <a16:creationId xmlns:a16="http://schemas.microsoft.com/office/drawing/2014/main" id="{4CED9B32-BEA7-0D47-75A8-3FA8976CA1AA}"/>
                      </a:ext>
                    </a:extLst>
                  </p:cNvPr>
                  <p:cNvSpPr txBox="1"/>
                  <p:nvPr/>
                </p:nvSpPr>
                <p:spPr>
                  <a:xfrm>
                    <a:off x="7471757" y="2982136"/>
                    <a:ext cx="14386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lang="en-GB" dirty="0"/>
                  </a:p>
                </p:txBody>
              </p:sp>
            </mc:Choice>
            <mc:Fallback xmlns="">
              <p:sp>
                <p:nvSpPr>
                  <p:cNvPr id="32" name="Textfeld 57">
                    <a:extLst>
                      <a:ext uri="{FF2B5EF4-FFF2-40B4-BE49-F238E27FC236}">
                        <a16:creationId xmlns:a16="http://schemas.microsoft.com/office/drawing/2014/main" id="{4CED9B32-BEA7-0D47-75A8-3FA8976CA1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71757" y="2982136"/>
                    <a:ext cx="143863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3" name="Gerade Verbindung mit Pfeil 61">
              <a:extLst>
                <a:ext uri="{FF2B5EF4-FFF2-40B4-BE49-F238E27FC236}">
                  <a16:creationId xmlns:a16="http://schemas.microsoft.com/office/drawing/2014/main" id="{1139EC5B-737D-5A47-F13F-9BC5A495DEB6}"/>
                </a:ext>
              </a:extLst>
            </p:cNvPr>
            <p:cNvCxnSpPr>
              <a:cxnSpLocks/>
              <a:stCxn id="26" idx="2"/>
            </p:cNvCxnSpPr>
            <p:nvPr/>
          </p:nvCxnSpPr>
          <p:spPr>
            <a:xfrm>
              <a:off x="10107869" y="5591697"/>
              <a:ext cx="245944" cy="33127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Gerade Verbindung mit Pfeil 63">
              <a:extLst>
                <a:ext uri="{FF2B5EF4-FFF2-40B4-BE49-F238E27FC236}">
                  <a16:creationId xmlns:a16="http://schemas.microsoft.com/office/drawing/2014/main" id="{5FD4E945-E048-182E-D318-C2E4C7D34F51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 flipH="1">
              <a:off x="10871916" y="5035831"/>
              <a:ext cx="538702" cy="88713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Abgerundetes Rechteck 15">
                  <a:extLst>
                    <a:ext uri="{FF2B5EF4-FFF2-40B4-BE49-F238E27FC236}">
                      <a16:creationId xmlns:a16="http://schemas.microsoft.com/office/drawing/2014/main" id="{6B6DA2F0-7C2B-2C31-9181-1BC6CC2F7514}"/>
                    </a:ext>
                  </a:extLst>
                </p:cNvPr>
                <p:cNvSpPr/>
                <p:nvPr/>
              </p:nvSpPr>
              <p:spPr>
                <a:xfrm>
                  <a:off x="6663553" y="629867"/>
                  <a:ext cx="1253654" cy="500932"/>
                </a:xfrm>
                <a:prstGeom prst="roundRect">
                  <a:avLst/>
                </a:prstGeom>
                <a:no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GB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GB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GB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  <m:r>
                          <a:rPr lang="en-GB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GB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GB" dirty="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5" name="Abgerundetes Rechteck 15">
                  <a:extLst>
                    <a:ext uri="{FF2B5EF4-FFF2-40B4-BE49-F238E27FC236}">
                      <a16:creationId xmlns:a16="http://schemas.microsoft.com/office/drawing/2014/main" id="{6B6DA2F0-7C2B-2C31-9181-1BC6CC2F75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63553" y="629867"/>
                  <a:ext cx="1253654" cy="500932"/>
                </a:xfrm>
                <a:prstGeom prst="round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Abgerundetes Rechteck 3">
                  <a:extLst>
                    <a:ext uri="{FF2B5EF4-FFF2-40B4-BE49-F238E27FC236}">
                      <a16:creationId xmlns:a16="http://schemas.microsoft.com/office/drawing/2014/main" id="{70D5B542-8968-CB6F-8245-77055B5AFF2C}"/>
                    </a:ext>
                  </a:extLst>
                </p:cNvPr>
                <p:cNvSpPr/>
                <p:nvPr/>
              </p:nvSpPr>
              <p:spPr>
                <a:xfrm>
                  <a:off x="8493880" y="622213"/>
                  <a:ext cx="1253654" cy="500932"/>
                </a:xfrm>
                <a:prstGeom prst="roundRect">
                  <a:avLst/>
                </a:prstGeom>
                <a:no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acc>
                          <m:accPr>
                            <m:chr m:val="̅"/>
                            <m:ctrlPr>
                              <a:rPr lang="en-GB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r>
                          <a:rPr lang="en-GB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GB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  <m:r>
                          <a:rPr lang="en-GB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∨</m:t>
                        </m:r>
                        <m:r>
                          <a:rPr lang="en-GB" b="0" i="1" smtClean="0">
                            <a:solidFill>
                              <a:schemeClr val="bg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GB" dirty="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6" name="Abgerundetes Rechteck 3">
                  <a:extLst>
                    <a:ext uri="{FF2B5EF4-FFF2-40B4-BE49-F238E27FC236}">
                      <a16:creationId xmlns:a16="http://schemas.microsoft.com/office/drawing/2014/main" id="{70D5B542-8968-CB6F-8245-77055B5AFF2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3880" y="622213"/>
                  <a:ext cx="1253654" cy="500932"/>
                </a:xfrm>
                <a:prstGeom prst="roundRect">
                  <a:avLst/>
                </a:prstGeom>
                <a:blipFill>
                  <a:blip r:embed="rId20"/>
                  <a:stretch>
                    <a:fillRect/>
                  </a:stretch>
                </a:blip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Abgerundetes Rechteck 18">
                  <a:extLst>
                    <a:ext uri="{FF2B5EF4-FFF2-40B4-BE49-F238E27FC236}">
                      <a16:creationId xmlns:a16="http://schemas.microsoft.com/office/drawing/2014/main" id="{224A6F7A-9BEA-FCB0-E4E5-FC972A628840}"/>
                    </a:ext>
                  </a:extLst>
                </p:cNvPr>
                <p:cNvSpPr/>
                <p:nvPr/>
              </p:nvSpPr>
              <p:spPr>
                <a:xfrm>
                  <a:off x="10871916" y="769606"/>
                  <a:ext cx="367081" cy="500932"/>
                </a:xfrm>
                <a:prstGeom prst="roundRect">
                  <a:avLst/>
                </a:prstGeom>
                <a:no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acc>
                          <m:accPr>
                            <m:chr m:val="̅"/>
                            <m:ctrlPr>
                              <a:rPr lang="en-GB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</m:acc>
                      </m:oMath>
                    </m:oMathPara>
                  </a14:m>
                  <a:endParaRPr lang="en-GB" dirty="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7" name="Abgerundetes Rechteck 18">
                  <a:extLst>
                    <a:ext uri="{FF2B5EF4-FFF2-40B4-BE49-F238E27FC236}">
                      <a16:creationId xmlns:a16="http://schemas.microsoft.com/office/drawing/2014/main" id="{224A6F7A-9BEA-FCB0-E4E5-FC972A62884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1916" y="769606"/>
                  <a:ext cx="367081" cy="500932"/>
                </a:xfrm>
                <a:prstGeom prst="roundRect">
                  <a:avLst/>
                </a:prstGeom>
                <a:blipFill>
                  <a:blip r:embed="rId21"/>
                  <a:stretch>
                    <a:fillRect r="-3175"/>
                  </a:stretch>
                </a:blip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Abgerundetes Rechteck 17">
                  <a:extLst>
                    <a:ext uri="{FF2B5EF4-FFF2-40B4-BE49-F238E27FC236}">
                      <a16:creationId xmlns:a16="http://schemas.microsoft.com/office/drawing/2014/main" id="{7EFAE573-8B46-0F7C-383D-B6DAD3DC0485}"/>
                    </a:ext>
                  </a:extLst>
                </p:cNvPr>
                <p:cNvSpPr/>
                <p:nvPr/>
              </p:nvSpPr>
              <p:spPr>
                <a:xfrm>
                  <a:off x="10230790" y="2447440"/>
                  <a:ext cx="367081" cy="500932"/>
                </a:xfrm>
                <a:prstGeom prst="roundRect">
                  <a:avLst/>
                </a:prstGeom>
                <a:no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acc>
                          <m:accPr>
                            <m:chr m:val="̅"/>
                            <m:ctrlPr>
                              <a:rPr lang="en-GB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en-GB" dirty="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8" name="Abgerundetes Rechteck 17">
                  <a:extLst>
                    <a:ext uri="{FF2B5EF4-FFF2-40B4-BE49-F238E27FC236}">
                      <a16:creationId xmlns:a16="http://schemas.microsoft.com/office/drawing/2014/main" id="{7EFAE573-8B46-0F7C-383D-B6DAD3DC048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30790" y="2447440"/>
                  <a:ext cx="367081" cy="500932"/>
                </a:xfrm>
                <a:prstGeom prst="round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Abgerundetes Rechteck 16">
                  <a:extLst>
                    <a:ext uri="{FF2B5EF4-FFF2-40B4-BE49-F238E27FC236}">
                      <a16:creationId xmlns:a16="http://schemas.microsoft.com/office/drawing/2014/main" id="{4ECABA3B-3640-544E-169A-BF7A9EFF620E}"/>
                    </a:ext>
                  </a:extLst>
                </p:cNvPr>
                <p:cNvSpPr/>
                <p:nvPr/>
              </p:nvSpPr>
              <p:spPr>
                <a:xfrm>
                  <a:off x="11227077" y="1961416"/>
                  <a:ext cx="367081" cy="500932"/>
                </a:xfrm>
                <a:prstGeom prst="roundRect">
                  <a:avLst/>
                </a:prstGeom>
                <a:no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acc>
                          <m:accPr>
                            <m:chr m:val="̅"/>
                            <m:ctrlPr>
                              <a:rPr lang="en-GB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</m:acc>
                      </m:oMath>
                    </m:oMathPara>
                  </a14:m>
                  <a:endParaRPr lang="en-GB" dirty="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9" name="Abgerundetes Rechteck 16">
                  <a:extLst>
                    <a:ext uri="{FF2B5EF4-FFF2-40B4-BE49-F238E27FC236}">
                      <a16:creationId xmlns:a16="http://schemas.microsoft.com/office/drawing/2014/main" id="{4ECABA3B-3640-544E-169A-BF7A9EFF620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27077" y="1961416"/>
                  <a:ext cx="367081" cy="500932"/>
                </a:xfrm>
                <a:prstGeom prst="round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Abgerundetes Rechteck 6">
                  <a:extLst>
                    <a:ext uri="{FF2B5EF4-FFF2-40B4-BE49-F238E27FC236}">
                      <a16:creationId xmlns:a16="http://schemas.microsoft.com/office/drawing/2014/main" id="{581E36E6-77C1-F768-FD20-839EF503EE5E}"/>
                    </a:ext>
                  </a:extLst>
                </p:cNvPr>
                <p:cNvSpPr/>
                <p:nvPr/>
              </p:nvSpPr>
              <p:spPr>
                <a:xfrm>
                  <a:off x="11244192" y="3937409"/>
                  <a:ext cx="367081" cy="500932"/>
                </a:xfrm>
                <a:prstGeom prst="roundRect">
                  <a:avLst/>
                </a:prstGeom>
                <a:noFill/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acc>
                          <m:accPr>
                            <m:chr m:val="̅"/>
                            <m:ctrlPr>
                              <a:rPr lang="en-GB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GB" b="0" i="1" smtClean="0">
                                <a:solidFill>
                                  <a:schemeClr val="bg1">
                                    <a:lumMod val="6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acc>
                      </m:oMath>
                    </m:oMathPara>
                  </a14:m>
                  <a:endParaRPr lang="en-GB" dirty="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40" name="Abgerundetes Rechteck 6">
                  <a:extLst>
                    <a:ext uri="{FF2B5EF4-FFF2-40B4-BE49-F238E27FC236}">
                      <a16:creationId xmlns:a16="http://schemas.microsoft.com/office/drawing/2014/main" id="{581E36E6-77C1-F768-FD20-839EF503EE5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44192" y="3937409"/>
                  <a:ext cx="367081" cy="500932"/>
                </a:xfrm>
                <a:prstGeom prst="roundRect">
                  <a:avLst/>
                </a:prstGeom>
                <a:blipFill>
                  <a:blip r:embed="rId24"/>
                  <a:stretch>
                    <a:fillRect/>
                  </a:stretch>
                </a:blipFill>
                <a:ln>
                  <a:solidFill>
                    <a:schemeClr val="bg1">
                      <a:lumMod val="75000"/>
                    </a:schemeClr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feld 65">
                <a:extLst>
                  <a:ext uri="{FF2B5EF4-FFF2-40B4-BE49-F238E27FC236}">
                    <a16:creationId xmlns:a16="http://schemas.microsoft.com/office/drawing/2014/main" id="{7B76C6D9-653E-9B3F-D9FF-38FD2FD357FD}"/>
                  </a:ext>
                </a:extLst>
              </p:cNvPr>
              <p:cNvSpPr txBox="1"/>
              <p:nvPr/>
            </p:nvSpPr>
            <p:spPr>
              <a:xfrm>
                <a:off x="1116607" y="5476747"/>
                <a:ext cx="768688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size	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= #nodes</a:t>
                </a:r>
                <a:r>
                  <a:rPr lang="en-GB" sz="2400" dirty="0">
                    <a:solidFill>
                      <a:srgbClr val="00B05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		</a:t>
                </a:r>
                <a:r>
                  <a:rPr lang="en-GB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(</a:t>
                </a:r>
                <a:r>
                  <a:rPr lang="en-GB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worst</a:t>
                </a:r>
                <a:r>
                  <a:rPr lang="en-GB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case</a:t>
                </a:r>
                <a:r>
                  <a:rPr lang="en-GB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≤</m:t>
                    </m:r>
                    <m:sSup>
                      <m:sSup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𝑂</m:t>
                        </m:r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(#</m:t>
                        </m:r>
                        <m:r>
                          <m:rPr>
                            <m:sty m:val="p"/>
                          </m:rPr>
                          <a:rPr lang="en-GB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variables</m:t>
                        </m:r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GB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)</a:t>
                </a:r>
              </a:p>
              <a:p>
                <a:r>
                  <a:rPr lang="en-GB" sz="2400" dirty="0" err="1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depth</a:t>
                </a:r>
                <a:r>
                  <a:rPr lang="en-GB" sz="2400" dirty="0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	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=</a:t>
                </a:r>
                <a:r>
                  <a:rPr lang="en-GB" sz="2400" dirty="0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max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path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length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	</a:t>
                </a:r>
                <a:r>
                  <a:rPr lang="en-GB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(</a:t>
                </a:r>
                <a:r>
                  <a:rPr lang="en-GB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worst</a:t>
                </a:r>
                <a:r>
                  <a:rPr lang="en-GB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case</a:t>
                </a:r>
                <a:r>
                  <a:rPr lang="en-GB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≤</m:t>
                    </m:r>
                    <m:r>
                      <a:rPr lang="en-GB" b="0" i="0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#</m:t>
                    </m:r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variables</m:t>
                    </m:r>
                  </m:oMath>
                </a14:m>
                <a:r>
                  <a:rPr lang="en-GB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)</a:t>
                </a:r>
                <a:endParaRPr lang="en-GB" dirty="0">
                  <a:solidFill>
                    <a:srgbClr val="00B05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43" name="Textfeld 65">
                <a:extLst>
                  <a:ext uri="{FF2B5EF4-FFF2-40B4-BE49-F238E27FC236}">
                    <a16:creationId xmlns:a16="http://schemas.microsoft.com/office/drawing/2014/main" id="{7B76C6D9-653E-9B3F-D9FF-38FD2FD35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607" y="5476747"/>
                <a:ext cx="7686882" cy="1200329"/>
              </a:xfrm>
              <a:prstGeom prst="rect">
                <a:avLst/>
              </a:prstGeom>
              <a:blipFill>
                <a:blip r:embed="rId25"/>
                <a:stretch>
                  <a:fillRect l="-1190" t="-4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340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D6702D-067D-083A-E111-374DCCADA0B1}"/>
              </a:ext>
            </a:extLst>
          </p:cNvPr>
          <p:cNvSpPr txBox="1"/>
          <p:nvPr/>
        </p:nvSpPr>
        <p:spPr>
          <a:xfrm>
            <a:off x="914400" y="731520"/>
            <a:ext cx="7054937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800" dirty="0" err="1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Tseitin</a:t>
            </a:r>
            <a:r>
              <a:rPr lang="en-GB" sz="28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 Formulas (Handshake Lemma)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03CC121-E79B-9CEE-5E7E-45CA4E7A35E0}"/>
                  </a:ext>
                </a:extLst>
              </p:cNvPr>
              <p:cNvSpPr txBox="1"/>
              <p:nvPr/>
            </p:nvSpPr>
            <p:spPr>
              <a:xfrm>
                <a:off x="1369719" y="1271234"/>
                <a:ext cx="9649820" cy="15136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Graph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𝐺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=(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𝑉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,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𝐸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)</m:t>
                    </m:r>
                  </m:oMath>
                </a14:m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Labelling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b="0" i="0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lbl</m:t>
                    </m:r>
                    <m:d>
                      <m:dPr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𝑣</m:t>
                        </m:r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0, 1</m:t>
                        </m:r>
                      </m:e>
                    </m:d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for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𝑣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∈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𝑉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s.t.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naryPr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𝑣</m:t>
                        </m:r>
                      </m:sub>
                      <m:sup/>
                      <m:e>
                        <m:r>
                          <m:rPr>
                            <m:sty m:val="p"/>
                          </m:rPr>
                          <a:rPr lang="en-GB" sz="2400" b="0" i="0" smtClean="0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lbl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(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𝑣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odd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Edges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𝑒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∈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𝐸</m:t>
                    </m:r>
                    <m:r>
                      <a:rPr lang="en-GB" sz="2400" b="0" i="0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⇔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𝑥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𝑒</m:t>
                        </m:r>
                      </m:sub>
                    </m:sSub>
                  </m:oMath>
                </a14:m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Constraints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en-GB" sz="2200" i="1" smtClean="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sz="2200" i="1" smtClean="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GB" sz="2200" i="1" smtClean="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</a:rPr>
                          <m:t>∋</m:t>
                        </m:r>
                        <m:r>
                          <a:rPr lang="en-GB" sz="2200" i="1" smtClean="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sz="2200" i="1" smtClean="0">
                                <a:solidFill>
                                  <a:srgbClr val="3C28F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200" i="1" smtClean="0">
                                <a:solidFill>
                                  <a:srgbClr val="3C28FB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200" i="1" smtClean="0">
                                <a:solidFill>
                                  <a:srgbClr val="3C28FB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GB" sz="2200" i="1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r>
                          <m:rPr>
                            <m:sty m:val="p"/>
                          </m:rPr>
                          <a:rPr lang="en-GB" sz="2200" b="0" i="0" smtClean="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</a:rPr>
                          <m:t>lbl</m:t>
                        </m:r>
                        <m:r>
                          <a:rPr lang="en-GB" sz="2200" b="0" i="1" smtClean="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200" b="0" i="1" smtClean="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GB" sz="2200" b="0" i="1" smtClean="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</a:rPr>
                          <m:t>) (</m:t>
                        </m:r>
                        <m:r>
                          <m:rPr>
                            <m:sty m:val="p"/>
                          </m:rPr>
                          <a:rPr lang="en-GB" sz="2200" b="0" i="1" smtClean="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GB" sz="2200" b="0" i="1" smtClean="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</a:rPr>
                          <m:t> 2)</m:t>
                        </m:r>
                      </m:e>
                    </m:nary>
                  </m:oMath>
                </a14:m>
                <a:endParaRPr lang="en-GB" sz="2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B03CC121-E79B-9CEE-5E7E-45CA4E7A3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9719" y="1271234"/>
                <a:ext cx="9649820" cy="1513684"/>
              </a:xfrm>
              <a:prstGeom prst="rect">
                <a:avLst/>
              </a:prstGeom>
              <a:blipFill>
                <a:blip r:embed="rId3"/>
                <a:stretch>
                  <a:fillRect l="-1832" t="-18145" b="-6975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477C59AE-C553-3015-8D64-E1A3E43A7E84}"/>
                  </a:ext>
                </a:extLst>
              </p:cNvPr>
              <p:cNvSpPr txBox="1"/>
              <p:nvPr/>
            </p:nvSpPr>
            <p:spPr>
              <a:xfrm>
                <a:off x="3430184" y="3173618"/>
                <a:ext cx="2512009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GB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GB" sz="16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a:rPr lang="en-GB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GB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acc>
                      <m:r>
                        <a:rPr lang="en-GB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160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477C59AE-C553-3015-8D64-E1A3E43A7E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0184" y="3173618"/>
                <a:ext cx="2512009" cy="86177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Foliennummernplatzhalter 40">
            <a:extLst>
              <a:ext uri="{FF2B5EF4-FFF2-40B4-BE49-F238E27FC236}">
                <a16:creationId xmlns:a16="http://schemas.microsoft.com/office/drawing/2014/main" id="{1B5BCA18-4A74-9F75-7048-32C7C4094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10</a:t>
            </a:fld>
            <a:endParaRPr lang="en-GB" dirty="0"/>
          </a:p>
        </p:txBody>
      </p:sp>
      <p:sp>
        <p:nvSpPr>
          <p:cNvPr id="75" name="Textfeld 51">
            <a:extLst>
              <a:ext uri="{FF2B5EF4-FFF2-40B4-BE49-F238E27FC236}">
                <a16:creationId xmlns:a16="http://schemas.microsoft.com/office/drawing/2014/main" id="{A6CE1074-7EBC-F024-BC45-B65B0AA16FB1}"/>
              </a:ext>
            </a:extLst>
          </p:cNvPr>
          <p:cNvSpPr txBox="1"/>
          <p:nvPr/>
        </p:nvSpPr>
        <p:spPr>
          <a:xfrm>
            <a:off x="1369719" y="4959616"/>
            <a:ext cx="95394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altLang="zh-CN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Extensive study since </a:t>
            </a:r>
            <a:r>
              <a:rPr lang="en-GB" sz="24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</a:t>
            </a:r>
            <a:r>
              <a:rPr lang="en-GB" sz="2400" dirty="0" err="1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Tseitin</a:t>
            </a:r>
            <a:r>
              <a:rPr lang="en-GB" sz="24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‘68]</a:t>
            </a:r>
            <a:endParaRPr lang="en-GB" altLang="zh-CN"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altLang="zh-CN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Exponential resolution size lower bound </a:t>
            </a:r>
            <a:r>
              <a:rPr lang="en-GB" sz="24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[Urquhart ‘87]</a:t>
            </a:r>
            <a:endParaRPr lang="en-GB" altLang="zh-CN"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altLang="zh-CN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Also studied for sum-of-squares (SoS), bounded-depth Frege, stabbing planes, …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7DC336A-3C56-09E8-EAD2-05BDEC7EE8D3}"/>
              </a:ext>
            </a:extLst>
          </p:cNvPr>
          <p:cNvGrpSpPr/>
          <p:nvPr/>
        </p:nvGrpSpPr>
        <p:grpSpPr>
          <a:xfrm>
            <a:off x="1617893" y="3173620"/>
            <a:ext cx="1582350" cy="1397565"/>
            <a:chOff x="1464742" y="1594308"/>
            <a:chExt cx="1684038" cy="1386204"/>
          </a:xfrm>
        </p:grpSpPr>
        <p:sp>
          <p:nvSpPr>
            <p:cNvPr id="39" name="Flowchart: Connector 38">
              <a:extLst>
                <a:ext uri="{FF2B5EF4-FFF2-40B4-BE49-F238E27FC236}">
                  <a16:creationId xmlns:a16="http://schemas.microsoft.com/office/drawing/2014/main" id="{B978D035-33F2-84FD-5F16-6FE8EA0E90C0}"/>
                </a:ext>
              </a:extLst>
            </p:cNvPr>
            <p:cNvSpPr/>
            <p:nvPr/>
          </p:nvSpPr>
          <p:spPr>
            <a:xfrm>
              <a:off x="2935944" y="1594308"/>
              <a:ext cx="207264" cy="207264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Flowchart: Connector 39">
              <a:extLst>
                <a:ext uri="{FF2B5EF4-FFF2-40B4-BE49-F238E27FC236}">
                  <a16:creationId xmlns:a16="http://schemas.microsoft.com/office/drawing/2014/main" id="{1DB93F8F-E073-FD61-6078-4579B1E531FC}"/>
                </a:ext>
              </a:extLst>
            </p:cNvPr>
            <p:cNvSpPr/>
            <p:nvPr/>
          </p:nvSpPr>
          <p:spPr>
            <a:xfrm>
              <a:off x="1464742" y="2772981"/>
              <a:ext cx="207264" cy="207264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2" name="Flowchart: Connector 41">
              <a:extLst>
                <a:ext uri="{FF2B5EF4-FFF2-40B4-BE49-F238E27FC236}">
                  <a16:creationId xmlns:a16="http://schemas.microsoft.com/office/drawing/2014/main" id="{13DD3B2B-512F-C208-B34D-E7858BFF351B}"/>
                </a:ext>
              </a:extLst>
            </p:cNvPr>
            <p:cNvSpPr/>
            <p:nvPr/>
          </p:nvSpPr>
          <p:spPr>
            <a:xfrm>
              <a:off x="1464743" y="1594308"/>
              <a:ext cx="207264" cy="207264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>
                <a:solidFill>
                  <a:srgbClr val="FF0000"/>
                </a:solidFill>
              </a:endParaRPr>
            </a:p>
          </p:txBody>
        </p:sp>
        <p:sp>
          <p:nvSpPr>
            <p:cNvPr id="43" name="Flowchart: Connector 42">
              <a:extLst>
                <a:ext uri="{FF2B5EF4-FFF2-40B4-BE49-F238E27FC236}">
                  <a16:creationId xmlns:a16="http://schemas.microsoft.com/office/drawing/2014/main" id="{AA0083B2-C999-A0A9-937E-B737E539D1AF}"/>
                </a:ext>
              </a:extLst>
            </p:cNvPr>
            <p:cNvSpPr/>
            <p:nvPr/>
          </p:nvSpPr>
          <p:spPr>
            <a:xfrm>
              <a:off x="2941516" y="2773248"/>
              <a:ext cx="207264" cy="207264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44" name="Gerade Verbindung 10">
              <a:extLst>
                <a:ext uri="{FF2B5EF4-FFF2-40B4-BE49-F238E27FC236}">
                  <a16:creationId xmlns:a16="http://schemas.microsoft.com/office/drawing/2014/main" id="{9584C46E-F792-A1CF-D54D-1F2F7DB2FCF1}"/>
                </a:ext>
              </a:extLst>
            </p:cNvPr>
            <p:cNvCxnSpPr>
              <a:cxnSpLocks/>
              <a:stCxn id="39" idx="2"/>
              <a:endCxn id="42" idx="6"/>
            </p:cNvCxnSpPr>
            <p:nvPr/>
          </p:nvCxnSpPr>
          <p:spPr>
            <a:xfrm flipH="1">
              <a:off x="1672007" y="1697941"/>
              <a:ext cx="1263936" cy="0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Gerade Verbindung 10">
              <a:extLst>
                <a:ext uri="{FF2B5EF4-FFF2-40B4-BE49-F238E27FC236}">
                  <a16:creationId xmlns:a16="http://schemas.microsoft.com/office/drawing/2014/main" id="{91561845-5B39-E197-66B1-D1004982C096}"/>
                </a:ext>
              </a:extLst>
            </p:cNvPr>
            <p:cNvCxnSpPr>
              <a:cxnSpLocks/>
              <a:stCxn id="40" idx="0"/>
              <a:endCxn id="42" idx="4"/>
            </p:cNvCxnSpPr>
            <p:nvPr/>
          </p:nvCxnSpPr>
          <p:spPr>
            <a:xfrm flipV="1">
              <a:off x="1568375" y="1801572"/>
              <a:ext cx="1" cy="971408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Gerade Verbindung 10">
              <a:extLst>
                <a:ext uri="{FF2B5EF4-FFF2-40B4-BE49-F238E27FC236}">
                  <a16:creationId xmlns:a16="http://schemas.microsoft.com/office/drawing/2014/main" id="{EBCBDBD6-1A19-7D9A-C390-A2843B6B9339}"/>
                </a:ext>
              </a:extLst>
            </p:cNvPr>
            <p:cNvCxnSpPr>
              <a:cxnSpLocks/>
              <a:stCxn id="39" idx="4"/>
              <a:endCxn id="43" idx="0"/>
            </p:cNvCxnSpPr>
            <p:nvPr/>
          </p:nvCxnSpPr>
          <p:spPr>
            <a:xfrm>
              <a:off x="3039577" y="1801572"/>
              <a:ext cx="5571" cy="971675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Gerade Verbindung 10">
              <a:extLst>
                <a:ext uri="{FF2B5EF4-FFF2-40B4-BE49-F238E27FC236}">
                  <a16:creationId xmlns:a16="http://schemas.microsoft.com/office/drawing/2014/main" id="{7D20A1D6-E2DF-9DFE-0877-1824DF5D524B}"/>
                </a:ext>
              </a:extLst>
            </p:cNvPr>
            <p:cNvCxnSpPr>
              <a:cxnSpLocks/>
              <a:stCxn id="39" idx="3"/>
              <a:endCxn id="40" idx="7"/>
            </p:cNvCxnSpPr>
            <p:nvPr/>
          </p:nvCxnSpPr>
          <p:spPr>
            <a:xfrm flipH="1">
              <a:off x="1641654" y="1771219"/>
              <a:ext cx="1324643" cy="1032115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Gerade Verbindung 10">
              <a:extLst>
                <a:ext uri="{FF2B5EF4-FFF2-40B4-BE49-F238E27FC236}">
                  <a16:creationId xmlns:a16="http://schemas.microsoft.com/office/drawing/2014/main" id="{C51E7389-43C0-DB6A-9442-F909B0970411}"/>
                </a:ext>
              </a:extLst>
            </p:cNvPr>
            <p:cNvCxnSpPr>
              <a:cxnSpLocks/>
              <a:stCxn id="43" idx="2"/>
              <a:endCxn id="40" idx="6"/>
            </p:cNvCxnSpPr>
            <p:nvPr/>
          </p:nvCxnSpPr>
          <p:spPr>
            <a:xfrm flipH="1" flipV="1">
              <a:off x="1672006" y="2876614"/>
              <a:ext cx="1269509" cy="267"/>
            </a:xfrm>
            <a:prstGeom prst="line">
              <a:avLst/>
            </a:prstGeom>
            <a:ln w="3175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405ECE9-7762-C29A-BD27-7B6ECD198402}"/>
                  </a:ext>
                </a:extLst>
              </p:cNvPr>
              <p:cNvSpPr txBox="1"/>
              <p:nvPr/>
            </p:nvSpPr>
            <p:spPr>
              <a:xfrm>
                <a:off x="2960239" y="2810595"/>
                <a:ext cx="3799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405ECE9-7762-C29A-BD27-7B6ECD198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239" y="2810595"/>
                <a:ext cx="37997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4BA106B-C1C5-A27A-5A45-52803B45C8A4}"/>
                  </a:ext>
                </a:extLst>
              </p:cNvPr>
              <p:cNvSpPr txBox="1"/>
              <p:nvPr/>
            </p:nvSpPr>
            <p:spPr>
              <a:xfrm>
                <a:off x="1467855" y="2804288"/>
                <a:ext cx="3799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4BA106B-C1C5-A27A-5A45-52803B45C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7855" y="2804288"/>
                <a:ext cx="379976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6FCE352-C7BA-5B2E-3A6E-873292ECA645}"/>
                  </a:ext>
                </a:extLst>
              </p:cNvPr>
              <p:cNvSpPr txBox="1"/>
              <p:nvPr/>
            </p:nvSpPr>
            <p:spPr>
              <a:xfrm>
                <a:off x="1467855" y="4570914"/>
                <a:ext cx="3799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26FCE352-C7BA-5B2E-3A6E-873292ECA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7855" y="4570914"/>
                <a:ext cx="37997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D1DC826-2F5C-7010-F0B1-DD9E761A863E}"/>
                  </a:ext>
                </a:extLst>
              </p:cNvPr>
              <p:cNvSpPr txBox="1"/>
              <p:nvPr/>
            </p:nvSpPr>
            <p:spPr>
              <a:xfrm>
                <a:off x="2216462" y="2942735"/>
                <a:ext cx="3799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D1DC826-2F5C-7010-F0B1-DD9E761A8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6462" y="2942735"/>
                <a:ext cx="37997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4386621-2192-6FD4-A03B-6E20E6F1C125}"/>
                  </a:ext>
                </a:extLst>
              </p:cNvPr>
              <p:cNvSpPr txBox="1"/>
              <p:nvPr/>
            </p:nvSpPr>
            <p:spPr>
              <a:xfrm>
                <a:off x="2026474" y="3687489"/>
                <a:ext cx="3799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4386621-2192-6FD4-A03B-6E20E6F1C1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6474" y="3687489"/>
                <a:ext cx="37997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6D706CE-F319-3760-900E-564DAA8B056D}"/>
                  </a:ext>
                </a:extLst>
              </p:cNvPr>
              <p:cNvSpPr txBox="1"/>
              <p:nvPr/>
            </p:nvSpPr>
            <p:spPr>
              <a:xfrm>
                <a:off x="1369719" y="3687601"/>
                <a:ext cx="3799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6D706CE-F319-3760-900E-564DAA8B05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9719" y="3687601"/>
                <a:ext cx="379976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0FAF4C1-C429-7FF5-8907-44BC84FA4285}"/>
                  </a:ext>
                </a:extLst>
              </p:cNvPr>
              <p:cNvSpPr txBox="1"/>
              <p:nvPr/>
            </p:nvSpPr>
            <p:spPr>
              <a:xfrm>
                <a:off x="3054440" y="3691063"/>
                <a:ext cx="3799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0FAF4C1-C429-7FF5-8907-44BC84FA4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440" y="3691063"/>
                <a:ext cx="379976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E0C1DB8-8A48-6839-CF81-4C343901D815}"/>
                  </a:ext>
                </a:extLst>
              </p:cNvPr>
              <p:cNvSpPr txBox="1"/>
              <p:nvPr/>
            </p:nvSpPr>
            <p:spPr>
              <a:xfrm>
                <a:off x="2214047" y="4432469"/>
                <a:ext cx="3799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E0C1DB8-8A48-6839-CF81-4C343901D8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4047" y="4432469"/>
                <a:ext cx="37997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B6BA2DD-96DC-4D2F-A737-2B09EECE4599}"/>
                  </a:ext>
                </a:extLst>
              </p:cNvPr>
              <p:cNvSpPr txBox="1"/>
              <p:nvPr/>
            </p:nvSpPr>
            <p:spPr>
              <a:xfrm>
                <a:off x="2960239" y="4570914"/>
                <a:ext cx="3799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B6BA2DD-96DC-4D2F-A737-2B09EECE45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239" y="4570914"/>
                <a:ext cx="379976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F3187C4B-6184-92BF-25A8-4BE7A8944A46}"/>
              </a:ext>
            </a:extLst>
          </p:cNvPr>
          <p:cNvSpPr/>
          <p:nvPr/>
        </p:nvSpPr>
        <p:spPr>
          <a:xfrm>
            <a:off x="1617892" y="3173619"/>
            <a:ext cx="194749" cy="208963"/>
          </a:xfrm>
          <a:prstGeom prst="flowChartConnector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F2E9B8FA-891B-929F-640A-D468912A1154}"/>
              </a:ext>
            </a:extLst>
          </p:cNvPr>
          <p:cNvSpPr/>
          <p:nvPr/>
        </p:nvSpPr>
        <p:spPr>
          <a:xfrm>
            <a:off x="3000257" y="3173619"/>
            <a:ext cx="194749" cy="208963"/>
          </a:xfrm>
          <a:prstGeom prst="flowChartConnector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CA63A3B4-CA94-91CF-05D6-32552C3A9D77}"/>
              </a:ext>
            </a:extLst>
          </p:cNvPr>
          <p:cNvSpPr/>
          <p:nvPr/>
        </p:nvSpPr>
        <p:spPr>
          <a:xfrm>
            <a:off x="1617892" y="4361680"/>
            <a:ext cx="194749" cy="208963"/>
          </a:xfrm>
          <a:prstGeom prst="flowChartConnector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A3FE4ACC-A925-2E4F-F69C-FC6133C4067C}"/>
              </a:ext>
            </a:extLst>
          </p:cNvPr>
          <p:cNvSpPr/>
          <p:nvPr/>
        </p:nvSpPr>
        <p:spPr>
          <a:xfrm>
            <a:off x="3008035" y="4361679"/>
            <a:ext cx="194749" cy="208963"/>
          </a:xfrm>
          <a:prstGeom prst="flowChartConnector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feld 32">
                <a:extLst>
                  <a:ext uri="{FF2B5EF4-FFF2-40B4-BE49-F238E27FC236}">
                    <a16:creationId xmlns:a16="http://schemas.microsoft.com/office/drawing/2014/main" id="{392ED97A-B32D-8255-0877-FF93C2D10CF6}"/>
                  </a:ext>
                </a:extLst>
              </p:cNvPr>
              <p:cNvSpPr txBox="1"/>
              <p:nvPr/>
            </p:nvSpPr>
            <p:spPr>
              <a:xfrm>
                <a:off x="4647733" y="3204867"/>
                <a:ext cx="2512009" cy="13542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acc>
                      <m:r>
                        <a:rPr lang="en-GB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acc>
                      <m:r>
                        <a:rPr lang="en-GB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acc>
                      <m:r>
                        <a:rPr lang="en-GB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acc>
                      <m:r>
                        <a:rPr lang="en-GB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160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49" name="Textfeld 32">
                <a:extLst>
                  <a:ext uri="{FF2B5EF4-FFF2-40B4-BE49-F238E27FC236}">
                    <a16:creationId xmlns:a16="http://schemas.microsoft.com/office/drawing/2014/main" id="{392ED97A-B32D-8255-0877-FF93C2D10C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7733" y="3204867"/>
                <a:ext cx="2512009" cy="135421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feld 32">
                <a:extLst>
                  <a:ext uri="{FF2B5EF4-FFF2-40B4-BE49-F238E27FC236}">
                    <a16:creationId xmlns:a16="http://schemas.microsoft.com/office/drawing/2014/main" id="{F14F3A24-55A0-19AF-F59A-FDDD8C44CD55}"/>
                  </a:ext>
                </a:extLst>
              </p:cNvPr>
              <p:cNvSpPr txBox="1"/>
              <p:nvPr/>
            </p:nvSpPr>
            <p:spPr>
              <a:xfrm>
                <a:off x="6038369" y="3204867"/>
                <a:ext cx="2512009" cy="13542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acc>
                      <m:r>
                        <a:rPr lang="en-GB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acc>
                      <m:r>
                        <a:rPr lang="en-GB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acc>
                      <m:r>
                        <a:rPr lang="en-GB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</m:acc>
                      <m:r>
                        <a:rPr lang="en-GB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GB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160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2" name="Textfeld 32">
                <a:extLst>
                  <a:ext uri="{FF2B5EF4-FFF2-40B4-BE49-F238E27FC236}">
                    <a16:creationId xmlns:a16="http://schemas.microsoft.com/office/drawing/2014/main" id="{F14F3A24-55A0-19AF-F59A-FDDD8C44C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8369" y="3204867"/>
                <a:ext cx="2512009" cy="135421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feld 32">
                <a:extLst>
                  <a:ext uri="{FF2B5EF4-FFF2-40B4-BE49-F238E27FC236}">
                    <a16:creationId xmlns:a16="http://schemas.microsoft.com/office/drawing/2014/main" id="{0DD82F68-8168-24F5-7993-28E512487E45}"/>
                  </a:ext>
                </a:extLst>
              </p:cNvPr>
              <p:cNvSpPr txBox="1"/>
              <p:nvPr/>
            </p:nvSpPr>
            <p:spPr>
              <a:xfrm>
                <a:off x="7168651" y="3204867"/>
                <a:ext cx="2512009" cy="861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GB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GB" sz="16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acc>
                      <m:r>
                        <a:rPr lang="en-GB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</m:oMath>
                  </m:oMathPara>
                </a14:m>
                <a:endParaRPr lang="en-GB" sz="1600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53" name="Textfeld 32">
                <a:extLst>
                  <a:ext uri="{FF2B5EF4-FFF2-40B4-BE49-F238E27FC236}">
                    <a16:creationId xmlns:a16="http://schemas.microsoft.com/office/drawing/2014/main" id="{0DD82F68-8168-24F5-7993-28E512487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8651" y="3204867"/>
                <a:ext cx="2512009" cy="86177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9593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mph" presetSubtype="1" autoRev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52" dur="indefinite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3" presetClass="emph" presetSubtype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56" dur="indefinite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60" dur="indefinite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3" presetClass="emph" presetSubtype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62" dur="indefinite"/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3" presetClass="emph" presetSubtype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64" dur="indefinite"/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3" presetClass="emph" presetSubtype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66" dur="indefinite"/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74" dur="indefinite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3" presetClass="emph" presetSubtype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76" dur="indefinite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3" presetClass="emph" presetSubtype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78" dur="indefinite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3" presetClass="emph" presetSubtype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80" dur="indefinite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mph" presetSubtype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88" dur="indefinite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3" presetClass="emph" presetSubtype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90" dur="indefinite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uild="allAtOnce"/>
      <p:bldP spid="75" grpId="0"/>
      <p:bldP spid="22" grpId="0"/>
      <p:bldP spid="23" grpId="0"/>
      <p:bldP spid="27" grpId="0"/>
      <p:bldP spid="28" grpId="0"/>
      <p:bldP spid="29" grpId="0"/>
      <p:bldP spid="30" grpId="0"/>
      <p:bldP spid="31" grpId="0"/>
      <p:bldP spid="32" grpId="0"/>
      <p:bldP spid="34" grpId="0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38" grpId="0" animBg="1"/>
      <p:bldP spid="38" grpId="1" animBg="1"/>
      <p:bldP spid="49" grpId="0" uiExpand="1" build="allAtOnce"/>
      <p:bldP spid="52" grpId="0" build="allAtOnce"/>
      <p:bldP spid="53" grpId="0" build="allAtOnce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8130B-2EAE-1B66-D2C7-45F12C94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525172-3013-0CE2-11CC-3D3E977D4257}"/>
              </a:ext>
            </a:extLst>
          </p:cNvPr>
          <p:cNvSpPr txBox="1"/>
          <p:nvPr/>
        </p:nvSpPr>
        <p:spPr>
          <a:xfrm>
            <a:off x="914400" y="731520"/>
            <a:ext cx="881608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altLang="zh-CN" sz="28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Supercritical trade-offs for </a:t>
            </a:r>
            <a:r>
              <a:rPr lang="en-GB" altLang="zh-CN" sz="2800" dirty="0" err="1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Tseitin</a:t>
            </a:r>
            <a:r>
              <a:rPr lang="en-GB" altLang="zh-CN" sz="28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 Formulas?</a:t>
            </a:r>
            <a:endParaRPr lang="en-GB" altLang="zh-CN" sz="2400" dirty="0">
              <a:solidFill>
                <a:srgbClr val="3C28FB"/>
              </a:solidFill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D95DAE5C-B739-C43E-1BAB-AAF2B5D27887}"/>
              </a:ext>
            </a:extLst>
          </p:cNvPr>
          <p:cNvSpPr txBox="1"/>
          <p:nvPr/>
        </p:nvSpPr>
        <p:spPr>
          <a:xfrm>
            <a:off x="909087" y="1375555"/>
            <a:ext cx="97658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altLang="zh-CN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Long-standing conjecture: Tseitin formulas exponentially hard for cutting planes</a:t>
            </a:r>
            <a:endParaRPr lang="en-GB" altLang="zh-CN" sz="2400" dirty="0">
              <a:solidFill>
                <a:srgbClr val="3C28FB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08" name="Foliennummernplatzhalter 107">
            <a:extLst>
              <a:ext uri="{FF2B5EF4-FFF2-40B4-BE49-F238E27FC236}">
                <a16:creationId xmlns:a16="http://schemas.microsoft.com/office/drawing/2014/main" id="{72252CA8-FFCA-CAF7-8A9C-BC97A193A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4592" y="6146565"/>
            <a:ext cx="2743200" cy="365125"/>
          </a:xfrm>
        </p:spPr>
        <p:txBody>
          <a:bodyPr/>
          <a:lstStyle/>
          <a:p>
            <a:fld id="{4530D112-B9FF-4E08-90B6-37EA964743A0}" type="slidenum">
              <a:rPr lang="en-GB" smtClean="0"/>
              <a:t>11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DC7641-B455-08D1-D5F1-27F9D6084DAC}"/>
                  </a:ext>
                </a:extLst>
              </p:cNvPr>
              <p:cNvSpPr txBox="1"/>
              <p:nvPr/>
            </p:nvSpPr>
            <p:spPr>
              <a:xfrm>
                <a:off x="1086873" y="2313444"/>
                <a:ext cx="8460510" cy="755079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GB" sz="2400" dirty="0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Theorem</a:t>
                </a:r>
                <a:r>
                  <a:rPr lang="en-GB" sz="2400" dirty="0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>
                    <a:solidFill>
                      <a:srgbClr val="3C28FB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[</a:t>
                </a:r>
                <a:r>
                  <a:rPr lang="en-GB" sz="2400" dirty="0" err="1">
                    <a:solidFill>
                      <a:srgbClr val="3C28FB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Dadush</a:t>
                </a:r>
                <a:r>
                  <a:rPr lang="en-GB" sz="2400" dirty="0">
                    <a:solidFill>
                      <a:srgbClr val="3C28FB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, Tiwari ‘20]</a:t>
                </a:r>
              </a:p>
              <a:p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 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Exist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size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GB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GB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GB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</a:rPr>
                  <a:t> 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cutting planes proofs for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Tseitin</a:t>
                </a:r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DC7641-B455-08D1-D5F1-27F9D6084D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6873" y="2313444"/>
                <a:ext cx="8460510" cy="755079"/>
              </a:xfrm>
              <a:prstGeom prst="rect">
                <a:avLst/>
              </a:prstGeom>
              <a:blipFill>
                <a:blip r:embed="rId3"/>
                <a:stretch>
                  <a:fillRect l="-1151" t="-12000" b="-2320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feld 51">
                <a:extLst>
                  <a:ext uri="{FF2B5EF4-FFF2-40B4-BE49-F238E27FC236}">
                    <a16:creationId xmlns:a16="http://schemas.microsoft.com/office/drawing/2014/main" id="{0A1D243E-3632-60C4-0B80-1F45A7B55F89}"/>
                  </a:ext>
                </a:extLst>
              </p:cNvPr>
              <p:cNvSpPr txBox="1"/>
              <p:nvPr/>
            </p:nvSpPr>
            <p:spPr>
              <a:xfrm>
                <a:off x="909087" y="3267720"/>
                <a:ext cx="10126057" cy="9866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Cutting planes requires depth</a:t>
                </a:r>
                <a14:m>
                  <m:oMath xmlns:m="http://schemas.openxmlformats.org/officeDocument/2006/math">
                    <m:r>
                      <a:rPr lang="en-GB" sz="2875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8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GB" sz="28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GB" sz="28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8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875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>
                    <a:solidFill>
                      <a:srgbClr val="3C28FB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[FGIPRTW ’21]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But</a:t>
                </a:r>
                <a:r>
                  <a:rPr lang="en-GB" sz="2400" dirty="0">
                    <a:solidFill>
                      <a:srgbClr val="3C28FB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 [</a:t>
                </a:r>
                <a:r>
                  <a:rPr lang="en-GB" sz="2400" dirty="0" err="1">
                    <a:solidFill>
                      <a:srgbClr val="3C28FB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Dadush</a:t>
                </a:r>
                <a:r>
                  <a:rPr lang="en-GB" sz="2400" dirty="0">
                    <a:solidFill>
                      <a:srgbClr val="3C28FB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, </a:t>
                </a:r>
                <a:r>
                  <a:rPr lang="en-GB" sz="2400" dirty="0" err="1">
                    <a:solidFill>
                      <a:srgbClr val="3C28FB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Tiwari</a:t>
                </a:r>
                <a:r>
                  <a:rPr lang="en-GB" sz="2400" dirty="0">
                    <a:solidFill>
                      <a:srgbClr val="3C28FB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 ‘20]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refutations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have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supercritical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depth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87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7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875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GB" sz="287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GB" sz="287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GB" sz="287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sz="2875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endParaRPr lang="en-GB" altLang="zh-CN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11" name="Textfeld 51">
                <a:extLst>
                  <a:ext uri="{FF2B5EF4-FFF2-40B4-BE49-F238E27FC236}">
                    <a16:creationId xmlns:a16="http://schemas.microsoft.com/office/drawing/2014/main" id="{0A1D243E-3632-60C4-0B80-1F45A7B55F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087" y="3267720"/>
                <a:ext cx="10126057" cy="986680"/>
              </a:xfrm>
              <a:prstGeom prst="rect">
                <a:avLst/>
              </a:prstGeom>
              <a:blipFill>
                <a:blip r:embed="rId4"/>
                <a:stretch>
                  <a:fillRect l="-783" b="-1172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4">
            <a:extLst>
              <a:ext uri="{FF2B5EF4-FFF2-40B4-BE49-F238E27FC236}">
                <a16:creationId xmlns:a16="http://schemas.microsoft.com/office/drawing/2014/main" id="{787A77AC-DC3C-7A58-4204-9C3DB73F77DB}"/>
              </a:ext>
            </a:extLst>
          </p:cNvPr>
          <p:cNvSpPr txBox="1"/>
          <p:nvPr/>
        </p:nvSpPr>
        <p:spPr>
          <a:xfrm>
            <a:off x="1762623" y="4582885"/>
            <a:ext cx="7109011" cy="83099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lvl="1" algn="ctr"/>
            <a:r>
              <a:rPr lang="en-GB" altLang="zh-CN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 </a:t>
            </a:r>
            <a:r>
              <a:rPr lang="en-GB" altLang="zh-CN"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Tseitin</a:t>
            </a:r>
            <a:r>
              <a:rPr lang="en-GB" altLang="zh-CN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formulas yield supercritical trade-offs for size vs depth in cutting planes?</a:t>
            </a:r>
            <a:endParaRPr lang="en-GB" altLang="zh-CN" sz="240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774CD8-FFBB-31BA-0FFA-91CBCA1CD532}"/>
              </a:ext>
            </a:extLst>
          </p:cNvPr>
          <p:cNvSpPr txBox="1"/>
          <p:nvPr/>
        </p:nvSpPr>
        <p:spPr>
          <a:xfrm>
            <a:off x="909088" y="5684900"/>
            <a:ext cx="99463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Supercritical trade-offs in # variables (though not for </a:t>
            </a:r>
            <a:r>
              <a:rPr lang="en-GB"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Tseitin</a:t>
            </a: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 </a:t>
            </a:r>
            <a:b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GB" sz="24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[Fleming-Pitassi-Robere ’22]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DB614A-A13C-0C15-6951-77169B61E332}"/>
              </a:ext>
            </a:extLst>
          </p:cNvPr>
          <p:cNvSpPr txBox="1"/>
          <p:nvPr/>
        </p:nvSpPr>
        <p:spPr>
          <a:xfrm>
            <a:off x="3532909" y="1739950"/>
            <a:ext cx="1620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FALSE!</a:t>
            </a:r>
          </a:p>
        </p:txBody>
      </p:sp>
    </p:spTree>
    <p:extLst>
      <p:ext uri="{BB962C8B-B14F-4D97-AF65-F5344CB8AC3E}">
        <p14:creationId xmlns:p14="http://schemas.microsoft.com/office/powerpoint/2010/main" val="2466277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/>
      <p:bldP spid="12" grpId="0" animBg="1"/>
      <p:bldP spid="13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6932A-749E-73CB-577C-A9B203513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661E9E1F-D79F-7F58-40BA-DEE04A801C98}"/>
              </a:ext>
            </a:extLst>
          </p:cNvPr>
          <p:cNvSpPr txBox="1"/>
          <p:nvPr/>
        </p:nvSpPr>
        <p:spPr>
          <a:xfrm>
            <a:off x="916252" y="731520"/>
            <a:ext cx="881608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altLang="zh-CN" sz="28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Our Result: Cutting Planes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D84B34F-958B-CE6C-4191-108CA6D1E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12</a:t>
            </a:fld>
            <a:endParaRPr lang="en-GB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A2FC9B5-149A-3611-C5F2-8A47C17E0822}"/>
              </a:ext>
            </a:extLst>
          </p:cNvPr>
          <p:cNvGrpSpPr/>
          <p:nvPr/>
        </p:nvGrpSpPr>
        <p:grpSpPr>
          <a:xfrm>
            <a:off x="1153049" y="2102330"/>
            <a:ext cx="8690198" cy="1646605"/>
            <a:chOff x="1497423" y="1634566"/>
            <a:chExt cx="8234911" cy="16466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9DD1FDE-0F84-5E2C-DF39-63EF82192EFB}"/>
                    </a:ext>
                  </a:extLst>
                </p:cNvPr>
                <p:cNvSpPr txBox="1"/>
                <p:nvPr/>
              </p:nvSpPr>
              <p:spPr>
                <a:xfrm>
                  <a:off x="1497423" y="1634566"/>
                  <a:ext cx="8126393" cy="1631216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1"/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GB" sz="1000" b="1" dirty="0">
                      <a:solidFill>
                        <a:srgbClr val="3C28FB"/>
                      </a:solidFill>
                      <a:latin typeface="Iskoola Pota" panose="020B0502040204020203" pitchFamily="34" charset="0"/>
                      <a:cs typeface="Iskoola Pota" panose="020B0502040204020203" pitchFamily="34" charset="0"/>
                    </a:rPr>
                    <a:t>  </a:t>
                  </a:r>
                </a:p>
                <a:p>
                  <a:r>
                    <a:rPr lang="en-GB" sz="2400" b="1" dirty="0">
                      <a:solidFill>
                        <a:srgbClr val="3C28FB"/>
                      </a:solidFill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 </a:t>
                  </a:r>
                  <a:r>
                    <a:rPr lang="en-GB" sz="2400" dirty="0">
                      <a:solidFill>
                        <a:srgbClr val="3C28FB"/>
                      </a:solidFill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Theorem (size-depth trade-off for cutting planes)</a:t>
                  </a:r>
                  <a:endParaRPr lang="en-GB" sz="10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  <a:p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     </a:t>
                  </a:r>
                  <a14:m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  <a:cs typeface="Iskoola Pota" panose="020B0502040204020203" pitchFamily="34" charset="0"/>
                        </a:rPr>
                        <m:t>∃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CNF formulas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2400" i="1" smtClean="0">
                              <a:latin typeface="Cambria Math" panose="02040503050406030204" pitchFamily="18" charset="0"/>
                              <a:cs typeface="Iskoola Pota" panose="020B0502040204020203" pitchFamily="34" charset="0"/>
                            </a:rPr>
                          </m:ctrlPr>
                        </m:sSubPr>
                        <m:e>
                          <m:r>
                            <a:rPr lang="en-GB" sz="2400" i="1" smtClean="0">
                              <a:latin typeface="Cambria Math" panose="02040503050406030204" pitchFamily="18" charset="0"/>
                              <a:cs typeface="Iskoola Pota" panose="020B0502040204020203" pitchFamily="34" charset="0"/>
                            </a:rPr>
                            <m:t>𝐹</m:t>
                          </m:r>
                        </m:e>
                        <m:sub>
                          <m:r>
                            <a:rPr lang="en-GB" sz="2400" i="1" smtClean="0">
                              <a:latin typeface="Cambria Math" panose="02040503050406030204" pitchFamily="18" charset="0"/>
                              <a:cs typeface="Iskoola Pota" panose="020B0502040204020203" pitchFamily="34" charset="0"/>
                            </a:rPr>
                            <m:t>𝑛</m:t>
                          </m:r>
                        </m:sub>
                      </m:sSub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on </a:t>
                  </a:r>
                  <a14:m>
                    <m:oMath xmlns:m="http://schemas.openxmlformats.org/officeDocument/2006/math">
                      <m:r>
                        <a:rPr lang="en-GB" sz="2400" i="1" smtClean="0">
                          <a:latin typeface="Cambria Math" panose="02040503050406030204" pitchFamily="18" charset="0"/>
                          <a:cs typeface="Iskoola Pota" panose="020B0502040204020203" pitchFamily="34" charset="0"/>
                        </a:rPr>
                        <m:t>𝑛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variables s.t.</a:t>
                  </a:r>
                </a:p>
                <a:p>
                  <a:endParaRPr lang="en-GB" sz="2400" dirty="0">
                    <a:latin typeface="Iskoola Pota" panose="020B0502040204020203" pitchFamily="34" charset="0"/>
                    <a:cs typeface="Iskoola Pota" panose="020B0502040204020203" pitchFamily="34" charset="0"/>
                  </a:endParaRPr>
                </a:p>
                <a:p>
                  <a:r>
                    <a:rPr lang="en-GB" sz="2400" dirty="0">
                      <a:latin typeface="Iskoola Pota" panose="020B0502040204020203" pitchFamily="34" charset="0"/>
                      <a:cs typeface="Iskoola Pota" panose="020B0502040204020203" pitchFamily="34" charset="0"/>
                    </a:rPr>
                    <a:t>      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69DD1FDE-0F84-5E2C-DF39-63EF82192E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7423" y="1634566"/>
                  <a:ext cx="8126393" cy="1631216"/>
                </a:xfrm>
                <a:prstGeom prst="rect">
                  <a:avLst/>
                </a:prstGeom>
                <a:blipFill>
                  <a:blip r:embed="rId3"/>
                  <a:stretch>
                    <a:fillRect l="-355"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9364D04-E7F7-7674-2A61-E257239329A6}"/>
                    </a:ext>
                  </a:extLst>
                </p:cNvPr>
                <p:cNvSpPr txBox="1"/>
                <p:nvPr/>
              </p:nvSpPr>
              <p:spPr>
                <a:xfrm>
                  <a:off x="1878417" y="2450174"/>
                  <a:ext cx="785391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Refuted by cutting planes in size </a:t>
                  </a:r>
                  <a14:m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2400">
                          <a:latin typeface="Cambria Math" panose="02040503050406030204" pitchFamily="18" charset="0"/>
                        </a:rPr>
                        <m:t>quasipoly</m:t>
                      </m:r>
                      <m:r>
                        <m:rPr>
                          <m:nor/>
                        </m:rPr>
                        <a:rPr lang="en-GB" sz="24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GB" altLang="da-DK" sz="240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ato" panose="020F0502020204030203" pitchFamily="34" charset="0"/>
                        </a:rPr>
                        <m:t>|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m:rPr>
                          <m:nor/>
                        </m:rPr>
                        <a:rPr lang="en-GB" altLang="da-DK" sz="240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ato" panose="020F0502020204030203" pitchFamily="34" charset="0"/>
                        </a:rPr>
                        <m:t>|)</m:t>
                      </m:r>
                    </m:oMath>
                  </a14:m>
                  <a:endParaRPr lang="en-GB" sz="2400" b="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But size </a:t>
                  </a:r>
                  <a14:m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𝑛𝑠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supercritical depth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400">
                          <a:latin typeface="Cambria Math" panose="02040503050406030204" pitchFamily="18" charset="0"/>
                        </a:rPr>
                        <m:t>superpoly</m:t>
                      </m:r>
                      <m:r>
                        <m:rPr>
                          <m:nor/>
                        </m:rPr>
                        <a:rPr lang="en-GB" sz="24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GB" altLang="da-DK" sz="240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ato" panose="020F0502020204030203" pitchFamily="34" charset="0"/>
                        </a:rPr>
                        <m:t>|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m:rPr>
                          <m:nor/>
                        </m:rPr>
                        <a:rPr lang="en-GB" altLang="da-DK" sz="240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ato" panose="020F0502020204030203" pitchFamily="34" charset="0"/>
                        </a:rPr>
                        <m:t>|</m:t>
                      </m:r>
                      <m:r>
                        <a:rPr lang="en-GB" altLang="da-DK" sz="2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ato" panose="020F0502020204030203" pitchFamily="34" charset="0"/>
                        </a:rPr>
                        <m:t>)</m:t>
                      </m:r>
                    </m:oMath>
                  </a14:m>
                  <a:endPara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9364D04-E7F7-7674-2A61-E257239329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8417" y="2450174"/>
                  <a:ext cx="7853917" cy="830997"/>
                </a:xfrm>
                <a:prstGeom prst="rect">
                  <a:avLst/>
                </a:prstGeom>
                <a:blipFill>
                  <a:blip r:embed="rId4"/>
                  <a:stretch>
                    <a:fillRect l="-956" t="-5882" b="-1617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Box 4">
            <a:extLst>
              <a:ext uri="{FF2B5EF4-FFF2-40B4-BE49-F238E27FC236}">
                <a16:creationId xmlns:a16="http://schemas.microsoft.com/office/drawing/2014/main" id="{7612F323-E91B-CE5B-404A-A9408AB48017}"/>
              </a:ext>
            </a:extLst>
          </p:cNvPr>
          <p:cNvSpPr txBox="1"/>
          <p:nvPr/>
        </p:nvSpPr>
        <p:spPr>
          <a:xfrm>
            <a:off x="8074380" y="1726876"/>
            <a:ext cx="2667423" cy="954107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lvl="1" algn="ctr"/>
            <a:r>
              <a:rPr lang="en-GB" altLang="zh-CN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Supercritical </a:t>
            </a:r>
          </a:p>
          <a:p>
            <a:pPr marL="0" lvl="1" algn="ctr"/>
            <a:r>
              <a:rPr lang="en-GB" altLang="zh-CN" sz="2800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 input size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C9602B-DB8B-A843-D5F8-6FA9B599B5AD}"/>
              </a:ext>
            </a:extLst>
          </p:cNvPr>
          <p:cNvSpPr txBox="1"/>
          <p:nvPr/>
        </p:nvSpPr>
        <p:spPr>
          <a:xfrm>
            <a:off x="5638800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AFF045-84D8-0931-20F6-1EFF2F38A0F6}"/>
              </a:ext>
            </a:extLst>
          </p:cNvPr>
          <p:cNvSpPr txBox="1"/>
          <p:nvPr/>
        </p:nvSpPr>
        <p:spPr>
          <a:xfrm>
            <a:off x="1149222" y="4563009"/>
            <a:ext cx="92711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Does not resolve question for </a:t>
            </a:r>
            <a:r>
              <a:rPr lang="en-GB"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Tseitin</a:t>
            </a: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formulas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But </a:t>
            </a:r>
            <a:r>
              <a:rPr lang="en-GB"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Tseitin</a:t>
            </a: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formulas used to construct formulas with provable trade-offs</a:t>
            </a:r>
          </a:p>
        </p:txBody>
      </p:sp>
    </p:spTree>
    <p:extLst>
      <p:ext uri="{BB962C8B-B14F-4D97-AF65-F5344CB8AC3E}">
        <p14:creationId xmlns:p14="http://schemas.microsoft.com/office/powerpoint/2010/main" val="4237778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43027-2A2B-4569-7248-69E2229B3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17C906-2456-2A5C-1625-97DE52BA3D39}"/>
              </a:ext>
            </a:extLst>
          </p:cNvPr>
          <p:cNvSpPr txBox="1"/>
          <p:nvPr/>
        </p:nvSpPr>
        <p:spPr>
          <a:xfrm>
            <a:off x="914400" y="731520"/>
            <a:ext cx="881608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altLang="zh-CN" sz="28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Monotone Circuits</a:t>
            </a:r>
          </a:p>
        </p:txBody>
      </p:sp>
      <p:sp>
        <p:nvSpPr>
          <p:cNvPr id="71" name="Foliennummernplatzhalter 70">
            <a:extLst>
              <a:ext uri="{FF2B5EF4-FFF2-40B4-BE49-F238E27FC236}">
                <a16:creationId xmlns:a16="http://schemas.microsoft.com/office/drawing/2014/main" id="{8D8E8D53-2F9B-DCA3-0017-917B41C2A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13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6">
                <a:extLst>
                  <a:ext uri="{FF2B5EF4-FFF2-40B4-BE49-F238E27FC236}">
                    <a16:creationId xmlns:a16="http://schemas.microsoft.com/office/drawing/2014/main" id="{9484EA10-890C-A0F1-4BAB-1805496737A0}"/>
                  </a:ext>
                </a:extLst>
              </p:cNvPr>
              <p:cNvSpPr txBox="1"/>
              <p:nvPr/>
            </p:nvSpPr>
            <p:spPr>
              <a:xfrm>
                <a:off x="1351804" y="1631731"/>
                <a:ext cx="646158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Boolean circuits with AND, OR gates</a:t>
                </a:r>
                <a:endParaRPr lang="en-GB" sz="2400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Compute Boolean functions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→{0,1}</m:t>
                    </m:r>
                  </m:oMath>
                </a14:m>
                <a:endParaRPr lang="en-GB" sz="2400" b="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3" name="Textfeld 6">
                <a:extLst>
                  <a:ext uri="{FF2B5EF4-FFF2-40B4-BE49-F238E27FC236}">
                    <a16:creationId xmlns:a16="http://schemas.microsoft.com/office/drawing/2014/main" id="{9484EA10-890C-A0F1-4BAB-1805496737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804" y="1631731"/>
                <a:ext cx="6461586" cy="830997"/>
              </a:xfrm>
              <a:prstGeom prst="rect">
                <a:avLst/>
              </a:prstGeom>
              <a:blipFill>
                <a:blip r:embed="rId3"/>
                <a:stretch>
                  <a:fillRect l="-1321" t="-5882" r="-566" b="-161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BE011E57-082B-ECD2-E855-F486D74E170F}"/>
              </a:ext>
            </a:extLst>
          </p:cNvPr>
          <p:cNvGrpSpPr/>
          <p:nvPr/>
        </p:nvGrpSpPr>
        <p:grpSpPr>
          <a:xfrm>
            <a:off x="8701485" y="2230168"/>
            <a:ext cx="874563" cy="995165"/>
            <a:chOff x="5573149" y="2997200"/>
            <a:chExt cx="931987" cy="9951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Flowchart: Connector 35">
                  <a:extLst>
                    <a:ext uri="{FF2B5EF4-FFF2-40B4-BE49-F238E27FC236}">
                      <a16:creationId xmlns:a16="http://schemas.microsoft.com/office/drawing/2014/main" id="{5B21A439-7EC7-5F41-FA5F-2C63153C0874}"/>
                    </a:ext>
                  </a:extLst>
                </p:cNvPr>
                <p:cNvSpPr/>
                <p:nvPr/>
              </p:nvSpPr>
              <p:spPr>
                <a:xfrm>
                  <a:off x="5746045" y="2997200"/>
                  <a:ext cx="349955" cy="349955"/>
                </a:xfrm>
                <a:prstGeom prst="flowChartConnector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</m:oMath>
                    </m:oMathPara>
                  </a14:m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Flowchart: Connector 35">
                  <a:extLst>
                    <a:ext uri="{FF2B5EF4-FFF2-40B4-BE49-F238E27FC236}">
                      <a16:creationId xmlns:a16="http://schemas.microsoft.com/office/drawing/2014/main" id="{5B21A439-7EC7-5F41-FA5F-2C63153C08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6045" y="2997200"/>
                  <a:ext cx="349955" cy="349955"/>
                </a:xfrm>
                <a:prstGeom prst="flowChartConnector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7C291E43-67B5-9103-4AF2-3F698B7E815A}"/>
                </a:ext>
              </a:extLst>
            </p:cNvPr>
            <p:cNvCxnSpPr>
              <a:cxnSpLocks/>
              <a:stCxn id="55" idx="0"/>
              <a:endCxn id="36" idx="4"/>
            </p:cNvCxnSpPr>
            <p:nvPr/>
          </p:nvCxnSpPr>
          <p:spPr>
            <a:xfrm flipV="1">
              <a:off x="5573149" y="3347155"/>
              <a:ext cx="347874" cy="3274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98129A61-5B0B-9221-F6A3-004D664DDF34}"/>
                </a:ext>
              </a:extLst>
            </p:cNvPr>
            <p:cNvCxnSpPr>
              <a:cxnSpLocks/>
              <a:stCxn id="49" idx="1"/>
              <a:endCxn id="36" idx="4"/>
            </p:cNvCxnSpPr>
            <p:nvPr/>
          </p:nvCxnSpPr>
          <p:spPr>
            <a:xfrm flipH="1" flipV="1">
              <a:off x="5921023" y="3347155"/>
              <a:ext cx="584113" cy="6452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E1F38274-AA03-E69C-F566-D475B944535C}"/>
              </a:ext>
            </a:extLst>
          </p:cNvPr>
          <p:cNvGrpSpPr/>
          <p:nvPr/>
        </p:nvGrpSpPr>
        <p:grpSpPr>
          <a:xfrm>
            <a:off x="9060961" y="1440102"/>
            <a:ext cx="1605782" cy="2016993"/>
            <a:chOff x="5487742" y="2997200"/>
            <a:chExt cx="1711217" cy="201699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Flowchart: Connector 42">
                  <a:extLst>
                    <a:ext uri="{FF2B5EF4-FFF2-40B4-BE49-F238E27FC236}">
                      <a16:creationId xmlns:a16="http://schemas.microsoft.com/office/drawing/2014/main" id="{9B349506-8247-A8C6-D31F-0C65EF0E9F36}"/>
                    </a:ext>
                  </a:extLst>
                </p:cNvPr>
                <p:cNvSpPr/>
                <p:nvPr/>
              </p:nvSpPr>
              <p:spPr>
                <a:xfrm>
                  <a:off x="5746045" y="2997200"/>
                  <a:ext cx="349955" cy="349955"/>
                </a:xfrm>
                <a:prstGeom prst="flowChartConnector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</m:oMath>
                    </m:oMathPara>
                  </a14:m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3" name="Flowchart: Connector 42">
                  <a:extLst>
                    <a:ext uri="{FF2B5EF4-FFF2-40B4-BE49-F238E27FC236}">
                      <a16:creationId xmlns:a16="http://schemas.microsoft.com/office/drawing/2014/main" id="{9B349506-8247-A8C6-D31F-0C65EF0E9F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6045" y="2997200"/>
                  <a:ext cx="349955" cy="349955"/>
                </a:xfrm>
                <a:prstGeom prst="flowChartConnector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Flowchart: Connector 44">
                  <a:extLst>
                    <a:ext uri="{FF2B5EF4-FFF2-40B4-BE49-F238E27FC236}">
                      <a16:creationId xmlns:a16="http://schemas.microsoft.com/office/drawing/2014/main" id="{6C7E97C2-46BF-CD9B-096C-ECA4D5C468B9}"/>
                    </a:ext>
                  </a:extLst>
                </p:cNvPr>
                <p:cNvSpPr/>
                <p:nvPr/>
              </p:nvSpPr>
              <p:spPr>
                <a:xfrm>
                  <a:off x="6849004" y="4664238"/>
                  <a:ext cx="349955" cy="349955"/>
                </a:xfrm>
                <a:prstGeom prst="flowChartConnector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Flowchart: Connector 44">
                  <a:extLst>
                    <a:ext uri="{FF2B5EF4-FFF2-40B4-BE49-F238E27FC236}">
                      <a16:creationId xmlns:a16="http://schemas.microsoft.com/office/drawing/2014/main" id="{6C7E97C2-46BF-CD9B-096C-ECA4D5C468B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9004" y="4664238"/>
                  <a:ext cx="349955" cy="349955"/>
                </a:xfrm>
                <a:prstGeom prst="flowChartConnector">
                  <a:avLst/>
                </a:prstGeom>
                <a:blipFill>
                  <a:blip r:embed="rId6"/>
                  <a:stretch>
                    <a:fillRect l="-3571" b="-169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5A3185DE-2589-EBF9-7178-FCDF7C9F2662}"/>
                </a:ext>
              </a:extLst>
            </p:cNvPr>
            <p:cNvCxnSpPr>
              <a:cxnSpLocks/>
              <a:stCxn id="36" idx="0"/>
              <a:endCxn id="43" idx="4"/>
            </p:cNvCxnSpPr>
            <p:nvPr/>
          </p:nvCxnSpPr>
          <p:spPr>
            <a:xfrm flipV="1">
              <a:off x="5487742" y="3347155"/>
              <a:ext cx="433281" cy="4653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76F8DD7B-6A43-31C2-ADE5-706A7D6AE923}"/>
                </a:ext>
              </a:extLst>
            </p:cNvPr>
            <p:cNvCxnSpPr>
              <a:cxnSpLocks/>
              <a:stCxn id="45" idx="0"/>
              <a:endCxn id="80" idx="5"/>
            </p:cNvCxnSpPr>
            <p:nvPr/>
          </p:nvCxnSpPr>
          <p:spPr>
            <a:xfrm flipH="1" flipV="1">
              <a:off x="6634062" y="4063414"/>
              <a:ext cx="389920" cy="6008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C4C03DB-1790-CCB8-1FB9-84077A3EFA92}"/>
              </a:ext>
            </a:extLst>
          </p:cNvPr>
          <p:cNvGrpSpPr/>
          <p:nvPr/>
        </p:nvGrpSpPr>
        <p:grpSpPr>
          <a:xfrm>
            <a:off x="9203469" y="3174083"/>
            <a:ext cx="981275" cy="1194273"/>
            <a:chOff x="5396090" y="2813282"/>
            <a:chExt cx="1045705" cy="11942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Flowchart: Connector 48">
                  <a:extLst>
                    <a:ext uri="{FF2B5EF4-FFF2-40B4-BE49-F238E27FC236}">
                      <a16:creationId xmlns:a16="http://schemas.microsoft.com/office/drawing/2014/main" id="{E4EDBBD4-DE3D-140C-8412-725A158EC1C7}"/>
                    </a:ext>
                  </a:extLst>
                </p:cNvPr>
                <p:cNvSpPr/>
                <p:nvPr/>
              </p:nvSpPr>
              <p:spPr>
                <a:xfrm>
                  <a:off x="5741885" y="2813282"/>
                  <a:ext cx="349955" cy="349955"/>
                </a:xfrm>
                <a:prstGeom prst="flowChartConnector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GB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</m:oMath>
                    </m:oMathPara>
                  </a14:m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9" name="Flowchart: Connector 48">
                  <a:extLst>
                    <a:ext uri="{FF2B5EF4-FFF2-40B4-BE49-F238E27FC236}">
                      <a16:creationId xmlns:a16="http://schemas.microsoft.com/office/drawing/2014/main" id="{E4EDBBD4-DE3D-140C-8412-725A158EC1C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1885" y="2813282"/>
                  <a:ext cx="349955" cy="349955"/>
                </a:xfrm>
                <a:prstGeom prst="flowChartConnector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Flowchart: Connector 49">
                  <a:extLst>
                    <a:ext uri="{FF2B5EF4-FFF2-40B4-BE49-F238E27FC236}">
                      <a16:creationId xmlns:a16="http://schemas.microsoft.com/office/drawing/2014/main" id="{C9447B31-22A8-313E-5CD1-97C34BFD51B6}"/>
                    </a:ext>
                  </a:extLst>
                </p:cNvPr>
                <p:cNvSpPr/>
                <p:nvPr/>
              </p:nvSpPr>
              <p:spPr>
                <a:xfrm>
                  <a:off x="5396090" y="3657600"/>
                  <a:ext cx="349955" cy="349955"/>
                </a:xfrm>
                <a:prstGeom prst="flowChartConnector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0" name="Flowchart: Connector 49">
                  <a:extLst>
                    <a:ext uri="{FF2B5EF4-FFF2-40B4-BE49-F238E27FC236}">
                      <a16:creationId xmlns:a16="http://schemas.microsoft.com/office/drawing/2014/main" id="{C9447B31-22A8-313E-5CD1-97C34BFD51B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6090" y="3657600"/>
                  <a:ext cx="349955" cy="349955"/>
                </a:xfrm>
                <a:prstGeom prst="flowChartConnector">
                  <a:avLst/>
                </a:prstGeom>
                <a:blipFill>
                  <a:blip r:embed="rId8"/>
                  <a:stretch>
                    <a:fillRect l="-357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Flowchart: Connector 50">
                  <a:extLst>
                    <a:ext uri="{FF2B5EF4-FFF2-40B4-BE49-F238E27FC236}">
                      <a16:creationId xmlns:a16="http://schemas.microsoft.com/office/drawing/2014/main" id="{57C99CF2-B52E-C4A8-F20D-175FB0F4E3A5}"/>
                    </a:ext>
                  </a:extLst>
                </p:cNvPr>
                <p:cNvSpPr/>
                <p:nvPr/>
              </p:nvSpPr>
              <p:spPr>
                <a:xfrm>
                  <a:off x="6091840" y="3657600"/>
                  <a:ext cx="349955" cy="349955"/>
                </a:xfrm>
                <a:prstGeom prst="flowChartConnector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1" name="Flowchart: Connector 50">
                  <a:extLst>
                    <a:ext uri="{FF2B5EF4-FFF2-40B4-BE49-F238E27FC236}">
                      <a16:creationId xmlns:a16="http://schemas.microsoft.com/office/drawing/2014/main" id="{57C99CF2-B52E-C4A8-F20D-175FB0F4E3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1840" y="3657600"/>
                  <a:ext cx="349955" cy="349955"/>
                </a:xfrm>
                <a:prstGeom prst="flowChartConnector">
                  <a:avLst/>
                </a:prstGeom>
                <a:blipFill>
                  <a:blip r:embed="rId9"/>
                  <a:stretch>
                    <a:fillRect l="-357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338A0588-477F-37E3-72FE-E32225BB8895}"/>
                </a:ext>
              </a:extLst>
            </p:cNvPr>
            <p:cNvCxnSpPr>
              <a:cxnSpLocks/>
              <a:stCxn id="50" idx="0"/>
              <a:endCxn id="49" idx="4"/>
            </p:cNvCxnSpPr>
            <p:nvPr/>
          </p:nvCxnSpPr>
          <p:spPr>
            <a:xfrm flipV="1">
              <a:off x="5571068" y="3163237"/>
              <a:ext cx="345795" cy="4943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8A48007B-DE65-A871-C2D7-DB5DE87E977D}"/>
                </a:ext>
              </a:extLst>
            </p:cNvPr>
            <p:cNvCxnSpPr>
              <a:cxnSpLocks/>
              <a:stCxn id="51" idx="0"/>
              <a:endCxn id="49" idx="4"/>
            </p:cNvCxnSpPr>
            <p:nvPr/>
          </p:nvCxnSpPr>
          <p:spPr>
            <a:xfrm flipH="1" flipV="1">
              <a:off x="5916863" y="3163237"/>
              <a:ext cx="349955" cy="49436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1DCD530-CD3B-34FA-E38B-D8AF80FDC52A}"/>
              </a:ext>
            </a:extLst>
          </p:cNvPr>
          <p:cNvGrpSpPr/>
          <p:nvPr/>
        </p:nvGrpSpPr>
        <p:grpSpPr>
          <a:xfrm>
            <a:off x="8177819" y="2907607"/>
            <a:ext cx="923315" cy="1104623"/>
            <a:chOff x="5362969" y="2997200"/>
            <a:chExt cx="983939" cy="1104623"/>
          </a:xfrm>
        </p:grpSpPr>
        <p:sp>
          <p:nvSpPr>
            <p:cNvPr id="55" name="Flowchart: Connector 54">
              <a:extLst>
                <a:ext uri="{FF2B5EF4-FFF2-40B4-BE49-F238E27FC236}">
                  <a16:creationId xmlns:a16="http://schemas.microsoft.com/office/drawing/2014/main" id="{E8DDC597-FBF2-E1EA-0F5D-07B8D3983796}"/>
                </a:ext>
              </a:extLst>
            </p:cNvPr>
            <p:cNvSpPr/>
            <p:nvPr/>
          </p:nvSpPr>
          <p:spPr>
            <a:xfrm>
              <a:off x="5746045" y="2997200"/>
              <a:ext cx="349955" cy="349955"/>
            </a:xfrm>
            <a:prstGeom prst="flowChartConnector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b="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Flowchart: Connector 55">
                  <a:extLst>
                    <a:ext uri="{FF2B5EF4-FFF2-40B4-BE49-F238E27FC236}">
                      <a16:creationId xmlns:a16="http://schemas.microsoft.com/office/drawing/2014/main" id="{28D87FCB-A335-E201-3A68-7700DC5A4504}"/>
                    </a:ext>
                  </a:extLst>
                </p:cNvPr>
                <p:cNvSpPr/>
                <p:nvPr/>
              </p:nvSpPr>
              <p:spPr>
                <a:xfrm>
                  <a:off x="5362969" y="3751868"/>
                  <a:ext cx="349955" cy="349955"/>
                </a:xfrm>
                <a:prstGeom prst="flowChartConnector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Flowchart: Connector 55">
                  <a:extLst>
                    <a:ext uri="{FF2B5EF4-FFF2-40B4-BE49-F238E27FC236}">
                      <a16:creationId xmlns:a16="http://schemas.microsoft.com/office/drawing/2014/main" id="{28D87FCB-A335-E201-3A68-7700DC5A450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2969" y="3751868"/>
                  <a:ext cx="349955" cy="349955"/>
                </a:xfrm>
                <a:prstGeom prst="flowChartConnector">
                  <a:avLst/>
                </a:prstGeom>
                <a:blipFill>
                  <a:blip r:embed="rId10"/>
                  <a:stretch>
                    <a:fillRect l="-363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Flowchart: Connector 56">
                  <a:extLst>
                    <a:ext uri="{FF2B5EF4-FFF2-40B4-BE49-F238E27FC236}">
                      <a16:creationId xmlns:a16="http://schemas.microsoft.com/office/drawing/2014/main" id="{D0EF1151-F6B9-6A23-720C-5B2951AC6553}"/>
                    </a:ext>
                  </a:extLst>
                </p:cNvPr>
                <p:cNvSpPr/>
                <p:nvPr/>
              </p:nvSpPr>
              <p:spPr>
                <a:xfrm>
                  <a:off x="5996953" y="3751868"/>
                  <a:ext cx="349955" cy="349955"/>
                </a:xfrm>
                <a:prstGeom prst="flowChartConnector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GB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GB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Flowchart: Connector 56">
                  <a:extLst>
                    <a:ext uri="{FF2B5EF4-FFF2-40B4-BE49-F238E27FC236}">
                      <a16:creationId xmlns:a16="http://schemas.microsoft.com/office/drawing/2014/main" id="{D0EF1151-F6B9-6A23-720C-5B2951AC655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6953" y="3751868"/>
                  <a:ext cx="349955" cy="349955"/>
                </a:xfrm>
                <a:prstGeom prst="flowChartConnector">
                  <a:avLst/>
                </a:prstGeom>
                <a:blipFill>
                  <a:blip r:embed="rId11"/>
                  <a:stretch>
                    <a:fillRect l="-178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5A693C8C-2643-9213-044A-B4ECF11F0D32}"/>
                </a:ext>
              </a:extLst>
            </p:cNvPr>
            <p:cNvCxnSpPr>
              <a:cxnSpLocks/>
              <a:stCxn id="56" idx="0"/>
              <a:endCxn id="55" idx="4"/>
            </p:cNvCxnSpPr>
            <p:nvPr/>
          </p:nvCxnSpPr>
          <p:spPr>
            <a:xfrm flipV="1">
              <a:off x="5537947" y="3347155"/>
              <a:ext cx="383077" cy="4047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D43403D1-DE7E-4897-40B8-53B7A1F89D40}"/>
                </a:ext>
              </a:extLst>
            </p:cNvPr>
            <p:cNvCxnSpPr>
              <a:cxnSpLocks/>
              <a:stCxn id="57" idx="0"/>
              <a:endCxn id="55" idx="4"/>
            </p:cNvCxnSpPr>
            <p:nvPr/>
          </p:nvCxnSpPr>
          <p:spPr>
            <a:xfrm flipH="1" flipV="1">
              <a:off x="5921023" y="3347155"/>
              <a:ext cx="250908" cy="4047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96144B7-91C5-39FE-88DE-4145F8AB0F87}"/>
                  </a:ext>
                </a:extLst>
              </p:cNvPr>
              <p:cNvSpPr txBox="1"/>
              <p:nvPr/>
            </p:nvSpPr>
            <p:spPr>
              <a:xfrm>
                <a:off x="1351804" y="4648014"/>
                <a:ext cx="982282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Previous work:</a:t>
                </a:r>
              </a:p>
              <a:p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      Non-supercritical trade-offs: size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𝑂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(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𝑛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depth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GB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GB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poly</m:t>
                    </m:r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log</m:t>
                    </m:r>
                    <m:d>
                      <m:dPr>
                        <m:ctrlPr>
                          <a:rPr lang="en-GB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400" dirty="0"/>
              </a:p>
              <a:p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D96144B7-91C5-39FE-88DE-4145F8AB0F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804" y="4648014"/>
                <a:ext cx="9822825" cy="1200329"/>
              </a:xfrm>
              <a:prstGeom prst="rect">
                <a:avLst/>
              </a:prstGeom>
              <a:blipFill>
                <a:blip r:embed="rId12"/>
                <a:stretch>
                  <a:fillRect l="-993" t="-406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[KW ’90, RM ’97, GP '14, dRMNPRV ’20]">
            <a:extLst>
              <a:ext uri="{FF2B5EF4-FFF2-40B4-BE49-F238E27FC236}">
                <a16:creationId xmlns:a16="http://schemas.microsoft.com/office/drawing/2014/main" id="{4D808ADE-760B-0F8D-8C74-4CDF5163E682}"/>
              </a:ext>
            </a:extLst>
          </p:cNvPr>
          <p:cNvSpPr txBox="1"/>
          <p:nvPr/>
        </p:nvSpPr>
        <p:spPr>
          <a:xfrm>
            <a:off x="5365750" y="5437306"/>
            <a:ext cx="5988050" cy="4719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 lvl="1" indent="0" algn="l">
              <a:spcBef>
                <a:spcPts val="3900"/>
              </a:spcBef>
              <a:buClr>
                <a:srgbClr val="000000"/>
              </a:buClr>
              <a:defRPr sz="2800" b="0"/>
            </a:pPr>
            <a:r>
              <a:rPr lang="en-GB" sz="24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[KW ’90, RM ’97, GP '14, </a:t>
            </a:r>
            <a:r>
              <a:rPr lang="en-GB" sz="2400" dirty="0" err="1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dRMNPRV</a:t>
            </a:r>
            <a:r>
              <a:rPr lang="en-GB" sz="24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 ’20]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Flowchart: Connector 79">
                <a:extLst>
                  <a:ext uri="{FF2B5EF4-FFF2-40B4-BE49-F238E27FC236}">
                    <a16:creationId xmlns:a16="http://schemas.microsoft.com/office/drawing/2014/main" id="{5F78BEC6-8F52-49D1-10A1-D51420B5B263}"/>
                  </a:ext>
                </a:extLst>
              </p:cNvPr>
              <p:cNvSpPr/>
              <p:nvPr/>
            </p:nvSpPr>
            <p:spPr>
              <a:xfrm>
                <a:off x="9856351" y="2207611"/>
                <a:ext cx="328393" cy="349955"/>
              </a:xfrm>
              <a:prstGeom prst="flowChartConnector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</m:oMath>
                  </m:oMathPara>
                </a14:m>
                <a:endParaRPr lang="en-GB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0" name="Flowchart: Connector 79">
                <a:extLst>
                  <a:ext uri="{FF2B5EF4-FFF2-40B4-BE49-F238E27FC236}">
                    <a16:creationId xmlns:a16="http://schemas.microsoft.com/office/drawing/2014/main" id="{5F78BEC6-8F52-49D1-10A1-D51420B5B2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6351" y="2207611"/>
                <a:ext cx="328393" cy="349955"/>
              </a:xfrm>
              <a:prstGeom prst="flowChartConnector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02B4F88F-987D-D9DD-D6EB-29A1E1BE30F8}"/>
              </a:ext>
            </a:extLst>
          </p:cNvPr>
          <p:cNvCxnSpPr>
            <a:cxnSpLocks/>
            <a:stCxn id="49" idx="0"/>
            <a:endCxn id="80" idx="3"/>
          </p:cNvCxnSpPr>
          <p:nvPr/>
        </p:nvCxnSpPr>
        <p:spPr>
          <a:xfrm flipV="1">
            <a:off x="9692155" y="2506316"/>
            <a:ext cx="212288" cy="667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7FF089D9-F3F7-EC71-20FC-4F5C477F5D1A}"/>
              </a:ext>
            </a:extLst>
          </p:cNvPr>
          <p:cNvCxnSpPr>
            <a:cxnSpLocks/>
            <a:stCxn id="80" idx="1"/>
            <a:endCxn id="43" idx="4"/>
          </p:cNvCxnSpPr>
          <p:nvPr/>
        </p:nvCxnSpPr>
        <p:spPr>
          <a:xfrm flipH="1" flipV="1">
            <a:off x="9467546" y="1790057"/>
            <a:ext cx="436897" cy="468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3618D64-B94C-843C-4A3E-BBAF44F0039A}"/>
                  </a:ext>
                </a:extLst>
              </p:cNvPr>
              <p:cNvSpPr txBox="1"/>
              <p:nvPr/>
            </p:nvSpPr>
            <p:spPr>
              <a:xfrm>
                <a:off x="8537288" y="2912785"/>
                <a:ext cx="25833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3618D64-B94C-843C-4A3E-BBAF44F00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7288" y="2912785"/>
                <a:ext cx="258333" cy="369332"/>
              </a:xfrm>
              <a:prstGeom prst="rect">
                <a:avLst/>
              </a:prstGeom>
              <a:blipFill>
                <a:blip r:embed="rId14"/>
                <a:stretch>
                  <a:fillRect r="-139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65">
                <a:extLst>
                  <a:ext uri="{FF2B5EF4-FFF2-40B4-BE49-F238E27FC236}">
                    <a16:creationId xmlns:a16="http://schemas.microsoft.com/office/drawing/2014/main" id="{F320264E-E49E-41BB-06C7-71BAF81003CB}"/>
                  </a:ext>
                </a:extLst>
              </p:cNvPr>
              <p:cNvSpPr txBox="1"/>
              <p:nvPr/>
            </p:nvSpPr>
            <p:spPr>
              <a:xfrm>
                <a:off x="1341042" y="2955445"/>
                <a:ext cx="768688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size	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= #nodes</a:t>
                </a:r>
                <a:r>
                  <a:rPr lang="en-GB" sz="2400" dirty="0">
                    <a:solidFill>
                      <a:srgbClr val="00B05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		</a:t>
                </a:r>
                <a:r>
                  <a:rPr lang="en-GB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(</a:t>
                </a:r>
                <a:r>
                  <a:rPr lang="en-GB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worst</a:t>
                </a:r>
                <a:r>
                  <a:rPr lang="en-GB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dirty="0" err="1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case</a:t>
                </a:r>
                <a:r>
                  <a:rPr lang="en-GB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≤</m:t>
                    </m:r>
                    <m:sSup>
                      <m:sSup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2</m:t>
                        </m:r>
                      </m:e>
                      <m:sup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𝑂</m:t>
                        </m:r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(</m:t>
                        </m:r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𝑛</m:t>
                        </m:r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lang="en-GB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)</a:t>
                </a:r>
              </a:p>
              <a:p>
                <a:r>
                  <a:rPr lang="en-GB" sz="2400" dirty="0" err="1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depth</a:t>
                </a:r>
                <a:r>
                  <a:rPr lang="en-GB" sz="2400" dirty="0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	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=</a:t>
                </a:r>
                <a:r>
                  <a:rPr lang="en-GB" sz="2400" dirty="0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max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path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length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	</a:t>
                </a:r>
                <a:r>
                  <a:rPr lang="en-GB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(</a:t>
                </a:r>
                <a:r>
                  <a:rPr lang="en-GB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worst</a:t>
                </a:r>
                <a:r>
                  <a:rPr lang="en-GB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case</a:t>
                </a:r>
                <a:r>
                  <a:rPr lang="en-GB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≤</m:t>
                    </m:r>
                    <m:r>
                      <a:rPr lang="en-GB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𝑛</m:t>
                    </m:r>
                  </m:oMath>
                </a14:m>
                <a:r>
                  <a:rPr lang="en-GB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)</a:t>
                </a:r>
                <a:endParaRPr lang="en-GB" dirty="0">
                  <a:solidFill>
                    <a:srgbClr val="00B05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4" name="Textfeld 65">
                <a:extLst>
                  <a:ext uri="{FF2B5EF4-FFF2-40B4-BE49-F238E27FC236}">
                    <a16:creationId xmlns:a16="http://schemas.microsoft.com/office/drawing/2014/main" id="{F320264E-E49E-41BB-06C7-71BAF81003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1042" y="2955445"/>
                <a:ext cx="7686882" cy="1200329"/>
              </a:xfrm>
              <a:prstGeom prst="rect">
                <a:avLst/>
              </a:prstGeom>
              <a:blipFill>
                <a:blip r:embed="rId15"/>
                <a:stretch>
                  <a:fillRect l="-1269" t="-4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275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77" grpId="0" animBg="1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EDB0C-E691-1616-245A-F22294A72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7A1C25BF-9803-A295-5578-46122038C494}"/>
              </a:ext>
            </a:extLst>
          </p:cNvPr>
          <p:cNvSpPr txBox="1"/>
          <p:nvPr/>
        </p:nvSpPr>
        <p:spPr>
          <a:xfrm>
            <a:off x="916252" y="795875"/>
            <a:ext cx="881608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altLang="zh-CN" sz="28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Our Result: Monotone Circuits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B3FA9188-E707-A9E7-871F-F411EB209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14</a:t>
            </a:fld>
            <a:endParaRPr lang="en-GB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D536356-5A7B-0850-7A30-79CADC5C9DC5}"/>
              </a:ext>
            </a:extLst>
          </p:cNvPr>
          <p:cNvGrpSpPr/>
          <p:nvPr/>
        </p:nvGrpSpPr>
        <p:grpSpPr>
          <a:xfrm>
            <a:off x="988158" y="2343939"/>
            <a:ext cx="8672269" cy="1646605"/>
            <a:chOff x="1497423" y="1634566"/>
            <a:chExt cx="8234911" cy="16466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47A05D5-779F-2371-2FF9-43A7D1D0AA5C}"/>
                    </a:ext>
                  </a:extLst>
                </p:cNvPr>
                <p:cNvSpPr txBox="1"/>
                <p:nvPr/>
              </p:nvSpPr>
              <p:spPr>
                <a:xfrm>
                  <a:off x="1497423" y="1634566"/>
                  <a:ext cx="8126393" cy="1631216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1"/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GB" sz="1000" b="1" dirty="0">
                      <a:solidFill>
                        <a:srgbClr val="3C28FB"/>
                      </a:solidFill>
                      <a:latin typeface="Iskoola Pota" panose="020B0502040204020203" pitchFamily="34" charset="0"/>
                      <a:cs typeface="Iskoola Pota" panose="020B0502040204020203" pitchFamily="34" charset="0"/>
                    </a:rPr>
                    <a:t>  </a:t>
                  </a:r>
                </a:p>
                <a:p>
                  <a:r>
                    <a:rPr lang="en-GB" sz="2400" b="1" dirty="0">
                      <a:solidFill>
                        <a:srgbClr val="3C28FB"/>
                      </a:solidFill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 </a:t>
                  </a:r>
                  <a:r>
                    <a:rPr lang="en-GB" sz="2400" dirty="0">
                      <a:solidFill>
                        <a:srgbClr val="3C28FB"/>
                      </a:solidFill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Theorem (supercritical trade-off for monotone circuits)</a:t>
                  </a:r>
                  <a:endParaRPr lang="en-GB" sz="10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  <a:p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     </a:t>
                  </a:r>
                  <a14:m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  <a:cs typeface="Iskoola Pota" panose="020B0502040204020203" pitchFamily="34" charset="0"/>
                        </a:rPr>
                        <m:t>∃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monotone functions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𝑓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𝑛</m:t>
                          </m:r>
                        </m:sub>
                      </m:sSub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on </a:t>
                  </a:r>
                  <a14:m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  <a:cs typeface="Iskoola Pota" panose="020B0502040204020203" pitchFamily="34" charset="0"/>
                        </a:rPr>
                        <m:t>𝑛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variables s.t.</a:t>
                  </a:r>
                </a:p>
                <a:p>
                  <a:endParaRPr lang="en-GB" sz="2400" dirty="0">
                    <a:latin typeface="Iskoola Pota" panose="020B0502040204020203" pitchFamily="34" charset="0"/>
                    <a:cs typeface="Iskoola Pota" panose="020B0502040204020203" pitchFamily="34" charset="0"/>
                  </a:endParaRPr>
                </a:p>
                <a:p>
                  <a:r>
                    <a:rPr lang="en-GB" sz="2400" dirty="0">
                      <a:latin typeface="Iskoola Pota" panose="020B0502040204020203" pitchFamily="34" charset="0"/>
                      <a:cs typeface="Iskoola Pota" panose="020B0502040204020203" pitchFamily="34" charset="0"/>
                    </a:rPr>
                    <a:t>      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D47A05D5-779F-2371-2FF9-43A7D1D0AA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7423" y="1634566"/>
                  <a:ext cx="8126393" cy="1631216"/>
                </a:xfrm>
                <a:prstGeom prst="rect">
                  <a:avLst/>
                </a:prstGeom>
                <a:blipFill>
                  <a:blip r:embed="rId3"/>
                  <a:stretch>
                    <a:fillRect l="-356"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E708FC1-F506-3410-EA2F-A1217C4B5234}"/>
                    </a:ext>
                  </a:extLst>
                </p:cNvPr>
                <p:cNvSpPr txBox="1"/>
                <p:nvPr/>
              </p:nvSpPr>
              <p:spPr>
                <a:xfrm>
                  <a:off x="1878417" y="2450174"/>
                  <a:ext cx="785391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Computed by monotone circuit of size </a:t>
                  </a:r>
                  <a14:m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quasipoly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en-GB" sz="2400" b="0" dirty="0">
                    <a:latin typeface="Lato" panose="020F0502020204030203" pitchFamily="34" charset="0"/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But size </a:t>
                  </a:r>
                  <a14:m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𝑛𝑠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supercritical depth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400" b="0" i="0" smtClean="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superpoly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(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𝑛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)</m:t>
                      </m:r>
                    </m:oMath>
                  </a14:m>
                  <a:endPara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E708FC1-F506-3410-EA2F-A1217C4B52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8417" y="2450174"/>
                  <a:ext cx="7853917" cy="830997"/>
                </a:xfrm>
                <a:prstGeom prst="rect">
                  <a:avLst/>
                </a:prstGeom>
                <a:blipFill>
                  <a:blip r:embed="rId4"/>
                  <a:stretch>
                    <a:fillRect l="-1032" t="-5839" b="-1532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422900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2A64B-705F-A9E7-DFA9-DD4E29CB2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77E2AB7E-D019-2716-6F9B-F0BD53D6E851}"/>
              </a:ext>
            </a:extLst>
          </p:cNvPr>
          <p:cNvSpPr txBox="1"/>
          <p:nvPr/>
        </p:nvSpPr>
        <p:spPr>
          <a:xfrm>
            <a:off x="916252" y="795875"/>
            <a:ext cx="881608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altLang="zh-CN" sz="28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Proof Structure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3E2E635-0ED9-B163-96EC-B3ACA0CAB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15</a:t>
            </a:fld>
            <a:endParaRPr lang="en-GB" dirty="0"/>
          </a:p>
        </p:txBody>
      </p:sp>
      <p:sp>
        <p:nvSpPr>
          <p:cNvPr id="3" name="Textfeld 9">
            <a:extLst>
              <a:ext uri="{FF2B5EF4-FFF2-40B4-BE49-F238E27FC236}">
                <a16:creationId xmlns:a16="http://schemas.microsoft.com/office/drawing/2014/main" id="{50A50283-D572-C44B-AB4D-2FDBBB541FF1}"/>
              </a:ext>
            </a:extLst>
          </p:cNvPr>
          <p:cNvSpPr txBox="1"/>
          <p:nvPr/>
        </p:nvSpPr>
        <p:spPr>
          <a:xfrm>
            <a:off x="916252" y="2126416"/>
            <a:ext cx="1029443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Proof in two steps:</a:t>
            </a:r>
          </a:p>
          <a:p>
            <a:pPr marL="457200" indent="-457200">
              <a:buFont typeface="+mj-lt"/>
              <a:buAutoNum type="arabicPeriod"/>
            </a:pPr>
            <a:endParaRPr lang="en-GB"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Establish width vs depth trade-off result for resolution</a:t>
            </a:r>
          </a:p>
          <a:p>
            <a:pPr marL="457200" indent="-457200">
              <a:buFont typeface="+mj-lt"/>
              <a:buAutoNum type="arabicPeriod"/>
            </a:pPr>
            <a:endParaRPr lang="en-GB"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Derive other proof &amp; circuit complexity trade-off results with lifting</a:t>
            </a:r>
            <a:endParaRPr lang="en-GB"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37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C0C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2D108-14BC-DF4E-2E62-E4374371A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FAA5411-E80A-1193-E0D1-8F95E0CBFDA2}"/>
              </a:ext>
            </a:extLst>
          </p:cNvPr>
          <p:cNvCxnSpPr>
            <a:cxnSpLocks/>
          </p:cNvCxnSpPr>
          <p:nvPr/>
        </p:nvCxnSpPr>
        <p:spPr>
          <a:xfrm>
            <a:off x="2143125" y="5862199"/>
            <a:ext cx="144693" cy="0"/>
          </a:xfrm>
          <a:prstGeom prst="line">
            <a:avLst/>
          </a:prstGeom>
          <a:ln>
            <a:solidFill>
              <a:srgbClr val="FC560C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12A635E-5F2B-E7E4-E194-77B74ADC6AE0}"/>
              </a:ext>
            </a:extLst>
          </p:cNvPr>
          <p:cNvCxnSpPr>
            <a:cxnSpLocks/>
          </p:cNvCxnSpPr>
          <p:nvPr/>
        </p:nvCxnSpPr>
        <p:spPr>
          <a:xfrm>
            <a:off x="2143125" y="5471801"/>
            <a:ext cx="144693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EA9F25-8E57-D5F8-FF30-FCA296736C73}"/>
              </a:ext>
            </a:extLst>
          </p:cNvPr>
          <p:cNvCxnSpPr>
            <a:cxnSpLocks/>
          </p:cNvCxnSpPr>
          <p:nvPr/>
        </p:nvCxnSpPr>
        <p:spPr>
          <a:xfrm>
            <a:off x="2143125" y="5129107"/>
            <a:ext cx="144693" cy="0"/>
          </a:xfrm>
          <a:prstGeom prst="line">
            <a:avLst/>
          </a:prstGeom>
          <a:ln>
            <a:solidFill>
              <a:srgbClr val="3C28F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EF326E8-0EA0-6D5B-9A2F-D2A5BF248144}"/>
              </a:ext>
            </a:extLst>
          </p:cNvPr>
          <p:cNvSpPr txBox="1"/>
          <p:nvPr/>
        </p:nvSpPr>
        <p:spPr>
          <a:xfrm>
            <a:off x="914400" y="731520"/>
            <a:ext cx="881608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altLang="zh-CN" sz="28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Resolution Width-Depth Trade-off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12D0F825-43D7-E4F5-A382-DA632E301CDE}"/>
              </a:ext>
            </a:extLst>
          </p:cNvPr>
          <p:cNvSpPr txBox="1"/>
          <p:nvPr/>
        </p:nvSpPr>
        <p:spPr>
          <a:xfrm>
            <a:off x="4436828" y="15902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dirty="0"/>
          </a:p>
        </p:txBody>
      </p:sp>
      <p:sp>
        <p:nvSpPr>
          <p:cNvPr id="59" name="AutoShape 2" descr="{\displaystyle \bot }">
            <a:extLst>
              <a:ext uri="{FF2B5EF4-FFF2-40B4-BE49-F238E27FC236}">
                <a16:creationId xmlns:a16="http://schemas.microsoft.com/office/drawing/2014/main" id="{A942332B-EF12-405E-4BA1-572665F033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60" name="AutoShape 4" descr="{\displaystyle \bot }">
            <a:extLst>
              <a:ext uri="{FF2B5EF4-FFF2-40B4-BE49-F238E27FC236}">
                <a16:creationId xmlns:a16="http://schemas.microsoft.com/office/drawing/2014/main" id="{67BBF17A-8D1F-2D39-1D0B-5D27B4E7686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1" name="Foliennummernplatzhalter 70">
            <a:extLst>
              <a:ext uri="{FF2B5EF4-FFF2-40B4-BE49-F238E27FC236}">
                <a16:creationId xmlns:a16="http://schemas.microsoft.com/office/drawing/2014/main" id="{E634656C-8E80-CF70-F9A7-961F7D6D2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16</a:t>
            </a:fld>
            <a:endParaRPr lang="en-GB" dirty="0"/>
          </a:p>
        </p:txBody>
      </p:sp>
      <p:grpSp>
        <p:nvGrpSpPr>
          <p:cNvPr id="11" name="Gruppieren 25">
            <a:extLst>
              <a:ext uri="{FF2B5EF4-FFF2-40B4-BE49-F238E27FC236}">
                <a16:creationId xmlns:a16="http://schemas.microsoft.com/office/drawing/2014/main" id="{0A2BEE5E-6BE3-D6FA-F41C-CF325FF9B958}"/>
              </a:ext>
            </a:extLst>
          </p:cNvPr>
          <p:cNvGrpSpPr/>
          <p:nvPr/>
        </p:nvGrpSpPr>
        <p:grpSpPr>
          <a:xfrm>
            <a:off x="1449436" y="3982129"/>
            <a:ext cx="6210835" cy="2571635"/>
            <a:chOff x="450286" y="1498971"/>
            <a:chExt cx="11283202" cy="4217692"/>
          </a:xfrm>
        </p:grpSpPr>
        <p:sp>
          <p:nvSpPr>
            <p:cNvPr id="12" name="Rectangle 19">
              <a:extLst>
                <a:ext uri="{FF2B5EF4-FFF2-40B4-BE49-F238E27FC236}">
                  <a16:creationId xmlns:a16="http://schemas.microsoft.com/office/drawing/2014/main" id="{38AB60A6-E8EB-CFCA-9F1E-FA2B01E5D187}"/>
                </a:ext>
              </a:extLst>
            </p:cNvPr>
            <p:cNvSpPr/>
            <p:nvPr/>
          </p:nvSpPr>
          <p:spPr>
            <a:xfrm>
              <a:off x="2005088" y="3942155"/>
              <a:ext cx="6138675" cy="1089006"/>
            </a:xfrm>
            <a:prstGeom prst="rect">
              <a:avLst/>
            </a:prstGeom>
            <a:solidFill>
              <a:srgbClr val="FF0000">
                <a:alpha val="10000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015E542-A84A-D936-3CC3-23A100EC69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63557" y="5031162"/>
              <a:ext cx="7839437" cy="22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5" name="Straight Arrow Connector 13">
              <a:extLst>
                <a:ext uri="{FF2B5EF4-FFF2-40B4-BE49-F238E27FC236}">
                  <a16:creationId xmlns:a16="http://schemas.microsoft.com/office/drawing/2014/main" id="{04966C03-A2E9-113F-4CD0-DA8E227F26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05088" y="2178349"/>
              <a:ext cx="0" cy="2852813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" name="Straight Connector 21">
              <a:extLst>
                <a:ext uri="{FF2B5EF4-FFF2-40B4-BE49-F238E27FC236}">
                  <a16:creationId xmlns:a16="http://schemas.microsoft.com/office/drawing/2014/main" id="{319F074A-F3B5-626A-ACF4-46428DF079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53661" y="2261304"/>
              <a:ext cx="0" cy="2710871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3">
                  <a:extLst>
                    <a:ext uri="{FF2B5EF4-FFF2-40B4-BE49-F238E27FC236}">
                      <a16:creationId xmlns:a16="http://schemas.microsoft.com/office/drawing/2014/main" id="{16F9728F-F71F-75F7-E401-2A1DB37DB352}"/>
                    </a:ext>
                  </a:extLst>
                </p:cNvPr>
                <p:cNvSpPr txBox="1"/>
                <p:nvPr/>
              </p:nvSpPr>
              <p:spPr>
                <a:xfrm>
                  <a:off x="4538296" y="5014747"/>
                  <a:ext cx="1030728" cy="70191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m:rPr>
                            <m:nor/>
                          </m:rPr>
                          <a:rPr lang="en-GB" sz="2800" i="0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GB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800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GB" altLang="da-DK" sz="2800" i="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Lato" panose="020F0502020204030203" pitchFamily="34" charset="0"/>
                          </a:rPr>
                          <m:t>|</m:t>
                        </m:r>
                      </m:oMath>
                    </m:oMathPara>
                  </a14:m>
                  <a:endParaRPr lang="en-GB" sz="2800" dirty="0"/>
                </a:p>
              </p:txBody>
            </p:sp>
          </mc:Choice>
          <mc:Fallback xmlns="">
            <p:sp>
              <p:nvSpPr>
                <p:cNvPr id="23" name="TextBox 23">
                  <a:extLst>
                    <a:ext uri="{FF2B5EF4-FFF2-40B4-BE49-F238E27FC236}">
                      <a16:creationId xmlns:a16="http://schemas.microsoft.com/office/drawing/2014/main" id="{16F9728F-F71F-75F7-E401-2A1DB37DB3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38296" y="5014747"/>
                  <a:ext cx="1030728" cy="701916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42FE44DD-AA25-C94A-61C1-9A5682746430}"/>
                    </a:ext>
                  </a:extLst>
                </p:cNvPr>
                <p:cNvSpPr txBox="1"/>
                <p:nvPr/>
              </p:nvSpPr>
              <p:spPr>
                <a:xfrm>
                  <a:off x="9945415" y="4815719"/>
                  <a:ext cx="1788073" cy="70191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depth</m:t>
                        </m:r>
                      </m:oMath>
                    </m:oMathPara>
                  </a14:m>
                  <a:endParaRPr lang="en-GB" sz="28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42FE44DD-AA25-C94A-61C1-9A56827464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45415" y="4815719"/>
                  <a:ext cx="1788073" cy="701917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Connector 21">
              <a:extLst>
                <a:ext uri="{FF2B5EF4-FFF2-40B4-BE49-F238E27FC236}">
                  <a16:creationId xmlns:a16="http://schemas.microsoft.com/office/drawing/2014/main" id="{1AF0785B-A180-2C6C-E671-B9D120B53FBA}"/>
                </a:ext>
              </a:extLst>
            </p:cNvPr>
            <p:cNvCxnSpPr>
              <a:cxnSpLocks/>
            </p:cNvCxnSpPr>
            <p:nvPr/>
          </p:nvCxnSpPr>
          <p:spPr>
            <a:xfrm>
              <a:off x="1963556" y="2638729"/>
              <a:ext cx="7607240" cy="0"/>
            </a:xfrm>
            <a:prstGeom prst="line">
              <a:avLst/>
            </a:prstGeom>
            <a:ln w="19050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3">
                  <a:extLst>
                    <a:ext uri="{FF2B5EF4-FFF2-40B4-BE49-F238E27FC236}">
                      <a16:creationId xmlns:a16="http://schemas.microsoft.com/office/drawing/2014/main" id="{0F4D500B-8878-9B48-5C4A-5A6B10B5BAE5}"/>
                    </a:ext>
                  </a:extLst>
                </p:cNvPr>
                <p:cNvSpPr txBox="1"/>
                <p:nvPr/>
              </p:nvSpPr>
              <p:spPr>
                <a:xfrm>
                  <a:off x="450286" y="2338658"/>
                  <a:ext cx="1030728" cy="584041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oMath>
                    </m:oMathPara>
                  </a14:m>
                  <a:endParaRPr lang="en-GB" sz="2800" dirty="0"/>
                </a:p>
              </p:txBody>
            </p:sp>
          </mc:Choice>
          <mc:Fallback xmlns="">
            <p:sp>
              <p:nvSpPr>
                <p:cNvPr id="30" name="TextBox 23">
                  <a:extLst>
                    <a:ext uri="{FF2B5EF4-FFF2-40B4-BE49-F238E27FC236}">
                      <a16:creationId xmlns:a16="http://schemas.microsoft.com/office/drawing/2014/main" id="{0F4D500B-8878-9B48-5C4A-5A6B10B5BAE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286" y="2338658"/>
                  <a:ext cx="1030728" cy="584041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27">
                  <a:extLst>
                    <a:ext uri="{FF2B5EF4-FFF2-40B4-BE49-F238E27FC236}">
                      <a16:creationId xmlns:a16="http://schemas.microsoft.com/office/drawing/2014/main" id="{29438833-1E02-6AAC-F57D-EC736F561E49}"/>
                    </a:ext>
                  </a:extLst>
                </p:cNvPr>
                <p:cNvSpPr txBox="1"/>
                <p:nvPr/>
              </p:nvSpPr>
              <p:spPr>
                <a:xfrm>
                  <a:off x="1192986" y="1498971"/>
                  <a:ext cx="405022" cy="7019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m:rPr>
                            <m:sty m:val="p"/>
                          </m:rPr>
                          <a:rPr lang="en-US" sz="2800" b="0" i="0" smtClean="0">
                            <a:latin typeface="Cambria Math" panose="02040503050406030204" pitchFamily="18" charset="0"/>
                          </a:rPr>
                          <m:t>width</m:t>
                        </m:r>
                      </m:oMath>
                    </m:oMathPara>
                  </a14:m>
                  <a:endParaRPr lang="en-GB" sz="2800" dirty="0"/>
                </a:p>
              </p:txBody>
            </p:sp>
          </mc:Choice>
          <mc:Fallback xmlns="">
            <p:sp>
              <p:nvSpPr>
                <p:cNvPr id="31" name="TextBox 27">
                  <a:extLst>
                    <a:ext uri="{FF2B5EF4-FFF2-40B4-BE49-F238E27FC236}">
                      <a16:creationId xmlns:a16="http://schemas.microsoft.com/office/drawing/2014/main" id="{29438833-1E02-6AAC-F57D-EC736F561E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2986" y="1498971"/>
                  <a:ext cx="405022" cy="701917"/>
                </a:xfrm>
                <a:prstGeom prst="rect">
                  <a:avLst/>
                </a:prstGeom>
                <a:blipFill>
                  <a:blip r:embed="rId26"/>
                  <a:stretch>
                    <a:fillRect r="-29722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5" name="Verbindungsstelle 40">
            <a:extLst>
              <a:ext uri="{FF2B5EF4-FFF2-40B4-BE49-F238E27FC236}">
                <a16:creationId xmlns:a16="http://schemas.microsoft.com/office/drawing/2014/main" id="{12535E25-AC53-2F97-7DC3-D31007E3FA4D}"/>
              </a:ext>
            </a:extLst>
          </p:cNvPr>
          <p:cNvSpPr/>
          <p:nvPr/>
        </p:nvSpPr>
        <p:spPr>
          <a:xfrm flipH="1">
            <a:off x="2513392" y="5045775"/>
            <a:ext cx="160722" cy="166664"/>
          </a:xfrm>
          <a:prstGeom prst="flowChartConnector">
            <a:avLst/>
          </a:prstGeom>
          <a:solidFill>
            <a:srgbClr val="3C28FB"/>
          </a:solidFill>
          <a:ln>
            <a:solidFill>
              <a:srgbClr val="3C28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23">
                <a:extLst>
                  <a:ext uri="{FF2B5EF4-FFF2-40B4-BE49-F238E27FC236}">
                    <a16:creationId xmlns:a16="http://schemas.microsoft.com/office/drawing/2014/main" id="{151D1E60-52DD-754D-DBAF-2619DB5FC825}"/>
                  </a:ext>
                </a:extLst>
              </p:cNvPr>
              <p:cNvSpPr txBox="1"/>
              <p:nvPr/>
            </p:nvSpPr>
            <p:spPr>
              <a:xfrm>
                <a:off x="1296099" y="5256357"/>
                <a:ext cx="567364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1.9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6" name="TextBox 23">
                <a:extLst>
                  <a:ext uri="{FF2B5EF4-FFF2-40B4-BE49-F238E27FC236}">
                    <a16:creationId xmlns:a16="http://schemas.microsoft.com/office/drawing/2014/main" id="{151D1E60-52DD-754D-DBAF-2619DB5FC8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6099" y="5256357"/>
                <a:ext cx="567364" cy="430887"/>
              </a:xfrm>
              <a:prstGeom prst="rect">
                <a:avLst/>
              </a:prstGeom>
              <a:blipFill>
                <a:blip r:embed="rId27"/>
                <a:stretch>
                  <a:fillRect r="-268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23">
                <a:extLst>
                  <a:ext uri="{FF2B5EF4-FFF2-40B4-BE49-F238E27FC236}">
                    <a16:creationId xmlns:a16="http://schemas.microsoft.com/office/drawing/2014/main" id="{5D2F3B90-A80D-FA7C-B96D-CBB12DC7DFFA}"/>
                  </a:ext>
                </a:extLst>
              </p:cNvPr>
              <p:cNvSpPr txBox="1"/>
              <p:nvPr/>
            </p:nvSpPr>
            <p:spPr>
              <a:xfrm>
                <a:off x="1472296" y="5624455"/>
                <a:ext cx="567364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r>
                        <a:rPr lang="en-US" sz="2800" b="0" i="1" smtClean="0">
                          <a:solidFill>
                            <a:srgbClr val="FC560C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GB" sz="2800" dirty="0"/>
              </a:p>
            </p:txBody>
          </p:sp>
        </mc:Choice>
        <mc:Fallback xmlns="">
          <p:sp>
            <p:nvSpPr>
              <p:cNvPr id="37" name="TextBox 23">
                <a:extLst>
                  <a:ext uri="{FF2B5EF4-FFF2-40B4-BE49-F238E27FC236}">
                    <a16:creationId xmlns:a16="http://schemas.microsoft.com/office/drawing/2014/main" id="{5D2F3B90-A80D-FA7C-B96D-CBB12DC7DF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296" y="5624455"/>
                <a:ext cx="567364" cy="430887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23">
                <a:extLst>
                  <a:ext uri="{FF2B5EF4-FFF2-40B4-BE49-F238E27FC236}">
                    <a16:creationId xmlns:a16="http://schemas.microsoft.com/office/drawing/2014/main" id="{CE10FE3E-F682-5865-DAF2-5A62C267DB00}"/>
                  </a:ext>
                </a:extLst>
              </p:cNvPr>
              <p:cNvSpPr txBox="1"/>
              <p:nvPr/>
            </p:nvSpPr>
            <p:spPr>
              <a:xfrm>
                <a:off x="1472296" y="4887794"/>
                <a:ext cx="567364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r>
                        <a:rPr lang="en-US" sz="2800" i="1" smtClean="0">
                          <a:solidFill>
                            <a:srgbClr val="3C28FB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 b="0" i="1" smtClean="0">
                          <a:solidFill>
                            <a:srgbClr val="3C28FB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GB" sz="2800" dirty="0">
                  <a:solidFill>
                    <a:srgbClr val="3C28FB"/>
                  </a:solidFill>
                </a:endParaRPr>
              </a:p>
            </p:txBody>
          </p:sp>
        </mc:Choice>
        <mc:Fallback xmlns="">
          <p:sp>
            <p:nvSpPr>
              <p:cNvPr id="40" name="TextBox 23">
                <a:extLst>
                  <a:ext uri="{FF2B5EF4-FFF2-40B4-BE49-F238E27FC236}">
                    <a16:creationId xmlns:a16="http://schemas.microsoft.com/office/drawing/2014/main" id="{CE10FE3E-F682-5865-DAF2-5A62C267D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2296" y="4887794"/>
                <a:ext cx="567364" cy="430887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Verbindungsstelle 40">
            <a:extLst>
              <a:ext uri="{FF2B5EF4-FFF2-40B4-BE49-F238E27FC236}">
                <a16:creationId xmlns:a16="http://schemas.microsoft.com/office/drawing/2014/main" id="{C7DEB51A-51EA-B90E-97AB-796C87D0E535}"/>
              </a:ext>
            </a:extLst>
          </p:cNvPr>
          <p:cNvSpPr/>
          <p:nvPr/>
        </p:nvSpPr>
        <p:spPr>
          <a:xfrm flipH="1">
            <a:off x="5794605" y="5782556"/>
            <a:ext cx="160722" cy="151513"/>
          </a:xfrm>
          <a:prstGeom prst="flowChartConnector">
            <a:avLst/>
          </a:prstGeom>
          <a:solidFill>
            <a:srgbClr val="3C28FB"/>
          </a:solidFill>
          <a:ln>
            <a:solidFill>
              <a:srgbClr val="3C28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C560C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B6040E7-4C05-0909-3F63-1329DF0EE8D3}"/>
                  </a:ext>
                </a:extLst>
              </p:cNvPr>
              <p:cNvSpPr txBox="1"/>
              <p:nvPr/>
            </p:nvSpPr>
            <p:spPr>
              <a:xfrm>
                <a:off x="914400" y="1296596"/>
                <a:ext cx="8626257" cy="249478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GB" sz="1000" b="1" dirty="0">
                    <a:solidFill>
                      <a:srgbClr val="3C28FB"/>
                    </a:solidFill>
                    <a:latin typeface="Iskoola Pota" panose="020B0502040204020203" pitchFamily="34" charset="0"/>
                    <a:cs typeface="Iskoola Pota" panose="020B0502040204020203" pitchFamily="34" charset="0"/>
                  </a:rPr>
                  <a:t>  </a:t>
                </a:r>
              </a:p>
              <a:p>
                <a:r>
                  <a:rPr lang="en-GB" sz="2400" b="1" dirty="0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 </a:t>
                </a:r>
                <a:r>
                  <a:rPr lang="en-GB" sz="2400" dirty="0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Theorem </a:t>
                </a:r>
                <a:endParaRPr lang="en-GB" sz="2400" b="0" i="1" dirty="0">
                  <a:latin typeface="Cambria Math" panose="02040503050406030204" pitchFamily="18" charset="0"/>
                  <a:cs typeface="Iskoola Pota" panose="020B0502040204020203" pitchFamily="34" charset="0"/>
                </a:endParaRPr>
              </a:p>
              <a:p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    For any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𝑐</m:t>
                    </m:r>
                    <m:r>
                      <a:rPr lang="en-GB" sz="2400" i="1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&lt;</m:t>
                    </m:r>
                    <m:r>
                      <a:rPr lang="en-GB" sz="2400" i="1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𝑘</m:t>
                    </m:r>
                    <m:r>
                      <a:rPr lang="en-GB" sz="2400" i="1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&lt;</m:t>
                    </m:r>
                    <m:f>
                      <m:fPr>
                        <m:ctrlPr>
                          <a:rPr lang="en-GB" sz="2400" i="1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</m:ctrlPr>
                      </m:fPr>
                      <m:num>
                        <m:r>
                          <a:rPr lang="en-GB" sz="2400" i="1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𝑛</m:t>
                        </m:r>
                      </m:num>
                      <m:den>
                        <m:r>
                          <a:rPr lang="en-GB" sz="2400" i="1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2</m:t>
                        </m:r>
                        <m:func>
                          <m:funcPr>
                            <m:ctrlPr>
                              <a:rPr lang="en-GB" sz="2400" smtClean="0">
                                <a:latin typeface="Cambria Math" panose="02040503050406030204" pitchFamily="18" charset="0"/>
                                <a:cs typeface="Iskoola Pota" panose="020B0502040204020203" pitchFamily="34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sz="2400" smtClean="0">
                                <a:latin typeface="Cambria Math" panose="02040503050406030204" pitchFamily="18" charset="0"/>
                                <a:cs typeface="Iskoola Pota" panose="020B0502040204020203" pitchFamily="34" charset="0"/>
                              </a:rPr>
                              <m:t>ln</m:t>
                            </m:r>
                          </m:fName>
                          <m:e>
                            <m:r>
                              <a:rPr lang="en-GB" sz="2400" i="1" smtClean="0">
                                <a:latin typeface="Cambria Math" panose="02040503050406030204" pitchFamily="18" charset="0"/>
                                <a:cs typeface="Iskoola Pota" panose="020B0502040204020203" pitchFamily="34" charset="0"/>
                              </a:rPr>
                              <m:t>𝑛</m:t>
                            </m:r>
                          </m:e>
                        </m:func>
                      </m:den>
                    </m:f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there are 4-CNF formulas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s.t.</a:t>
                </a:r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r>
                  <a:rPr lang="en-GB" sz="2400" dirty="0">
                    <a:latin typeface="Iskoola Pota" panose="020B0502040204020203" pitchFamily="34" charset="0"/>
                    <a:cs typeface="Iskoola Pota" panose="020B0502040204020203" pitchFamily="34" charset="0"/>
                  </a:rPr>
                  <a:t>     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B6040E7-4C05-0909-3F63-1329DF0EE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296596"/>
                <a:ext cx="8626257" cy="2494786"/>
              </a:xfrm>
              <a:prstGeom prst="rect">
                <a:avLst/>
              </a:prstGeom>
              <a:blipFill>
                <a:blip r:embed="rId30"/>
                <a:stretch>
                  <a:fillRect l="-35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feld 6">
                <a:extLst>
                  <a:ext uri="{FF2B5EF4-FFF2-40B4-BE49-F238E27FC236}">
                    <a16:creationId xmlns:a16="http://schemas.microsoft.com/office/drawing/2014/main" id="{79F26F5F-DCE1-9C13-C0D4-02B3BA63AF7F}"/>
                  </a:ext>
                </a:extLst>
              </p:cNvPr>
              <p:cNvSpPr txBox="1"/>
              <p:nvPr/>
            </p:nvSpPr>
            <p:spPr>
              <a:xfrm>
                <a:off x="1313518" y="2298906"/>
                <a:ext cx="5966436" cy="12319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formula s</a:t>
                </a:r>
                <a:r>
                  <a:rPr lang="en-GB" sz="24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ize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𝑠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≈</m:t>
                    </m:r>
                    <m:sSup>
                      <m:sSupPr>
                        <m:ctrlP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𝑛</m:t>
                        </m:r>
                      </m:e>
                      <m:sup>
                        <m:r>
                          <a:rPr 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GB" sz="24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exists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proof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in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width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𝑘</m:t>
                    </m:r>
                    <m:r>
                      <a:rPr lang="en-GB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+3</m:t>
                    </m:r>
                  </m:oMath>
                </a14:m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but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width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&lt;</m:t>
                    </m:r>
                    <m:r>
                      <a:rPr lang="en-GB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𝑘</m:t>
                    </m:r>
                    <m:r>
                      <a:rPr lang="en-GB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+</m:t>
                    </m:r>
                    <m:r>
                      <a:rPr lang="en-GB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𝑐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⇒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depth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&gt;</m:t>
                    </m:r>
                    <m:sSup>
                      <m:sSupPr>
                        <m:ctrlPr>
                          <a:rPr lang="en-GB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</m:ctrlPr>
                      </m:sSupPr>
                      <m:e>
                        <m:r>
                          <a:rPr lang="en-GB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𝑠</m:t>
                        </m:r>
                      </m:e>
                      <m:sup>
                        <m:r>
                          <a:rPr lang="en-GB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𝑘</m:t>
                        </m:r>
                        <m:r>
                          <a:rPr lang="en-GB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/</m:t>
                        </m:r>
                        <m:r>
                          <a:rPr lang="en-GB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𝑐</m:t>
                        </m:r>
                      </m:sup>
                    </m:sSup>
                  </m:oMath>
                </a14:m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24" name="Textfeld 6">
                <a:extLst>
                  <a:ext uri="{FF2B5EF4-FFF2-40B4-BE49-F238E27FC236}">
                    <a16:creationId xmlns:a16="http://schemas.microsoft.com/office/drawing/2014/main" id="{79F26F5F-DCE1-9C13-C0D4-02B3BA63A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3518" y="2298906"/>
                <a:ext cx="5966436" cy="1231940"/>
              </a:xfrm>
              <a:prstGeom prst="rect">
                <a:avLst/>
              </a:prstGeom>
              <a:blipFill>
                <a:blip r:embed="rId31"/>
                <a:stretch>
                  <a:fillRect l="-1328" t="-3960" b="-891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4324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/>
      <p:bldP spid="37" grpId="0"/>
      <p:bldP spid="40" grpId="0"/>
      <p:bldP spid="4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B557D-FBAE-A3F3-F450-2DFF2A699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ED3B09-1498-87DC-8BD4-5B6E8413512E}"/>
              </a:ext>
            </a:extLst>
          </p:cNvPr>
          <p:cNvSpPr txBox="1"/>
          <p:nvPr/>
        </p:nvSpPr>
        <p:spPr>
          <a:xfrm>
            <a:off x="1369719" y="489319"/>
            <a:ext cx="922589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8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Starting Point: </a:t>
            </a:r>
            <a:r>
              <a:rPr lang="en-GB" sz="2800" dirty="0" err="1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Tseitin</a:t>
            </a:r>
            <a:r>
              <a:rPr lang="en-GB" sz="28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 Formula on Cylinder Graph </a:t>
            </a:r>
          </a:p>
        </p:txBody>
      </p:sp>
      <p:sp>
        <p:nvSpPr>
          <p:cNvPr id="41" name="Foliennummernplatzhalter 40">
            <a:extLst>
              <a:ext uri="{FF2B5EF4-FFF2-40B4-BE49-F238E27FC236}">
                <a16:creationId xmlns:a16="http://schemas.microsoft.com/office/drawing/2014/main" id="{9E327585-1B49-7C6D-4D3C-8797BC7D2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17</a:t>
            </a:fld>
            <a:endParaRPr lang="en-GB" dirty="0"/>
          </a:p>
        </p:txBody>
      </p:sp>
      <p:pic>
        <p:nvPicPr>
          <p:cNvPr id="6" name="cylindernarrow.pdf" descr="cylindernarrow.pdf">
            <a:extLst>
              <a:ext uri="{FF2B5EF4-FFF2-40B4-BE49-F238E27FC236}">
                <a16:creationId xmlns:a16="http://schemas.microsoft.com/office/drawing/2014/main" id="{B67F716D-16D9-54B7-4EFA-EA54077A2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40" y="1324260"/>
            <a:ext cx="11256593" cy="1656964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3CCEDF31-06BD-2320-78F9-63E736E98FF3}"/>
              </a:ext>
            </a:extLst>
          </p:cNvPr>
          <p:cNvSpPr/>
          <p:nvPr/>
        </p:nvSpPr>
        <p:spPr>
          <a:xfrm>
            <a:off x="646387" y="1434662"/>
            <a:ext cx="175076" cy="171698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D0B7244-7F6A-932E-683F-628EDBF58ABA}"/>
                  </a:ext>
                </a:extLst>
              </p:cNvPr>
              <p:cNvSpPr txBox="1"/>
              <p:nvPr/>
            </p:nvSpPr>
            <p:spPr>
              <a:xfrm>
                <a:off x="496644" y="1106058"/>
                <a:ext cx="2363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D0B7244-7F6A-932E-683F-628EDBF58A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644" y="1106058"/>
                <a:ext cx="236374" cy="369332"/>
              </a:xfrm>
              <a:prstGeom prst="rect">
                <a:avLst/>
              </a:prstGeom>
              <a:blipFill>
                <a:blip r:embed="rId4"/>
                <a:stretch>
                  <a:fillRect r="-282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41FFC45-C110-F4EC-E02D-6FEC2F5E1C8F}"/>
                  </a:ext>
                </a:extLst>
              </p:cNvPr>
              <p:cNvSpPr txBox="1"/>
              <p:nvPr/>
            </p:nvSpPr>
            <p:spPr>
              <a:xfrm>
                <a:off x="1369719" y="3385278"/>
                <a:ext cx="9648497" cy="23814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Long, skinny cylinder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𝐺</m:t>
                    </m:r>
                    <m:r>
                      <a:rPr lang="en-GB" sz="2400" i="1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=(</m:t>
                    </m:r>
                    <m:r>
                      <a:rPr lang="en-GB" sz="2400" i="1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𝑉</m:t>
                    </m:r>
                    <m:r>
                      <a:rPr lang="en-GB" sz="2400" i="1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,</m:t>
                    </m:r>
                    <m:r>
                      <a:rPr lang="en-GB" sz="2400" i="1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𝐸</m:t>
                    </m:r>
                    <m:r>
                      <a:rPr lang="en-GB" sz="2400" i="1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)</m:t>
                    </m:r>
                  </m:oMath>
                </a14:m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lvl="1"/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(wrap-around vertically, but not horizontally)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Vertex at top left labelled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, all other vertices labelled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0</m:t>
                    </m:r>
                  </m:oMath>
                </a14:m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Edges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𝑒</m:t>
                    </m:r>
                    <m:r>
                      <a:rPr lang="en-GB" sz="2400" i="1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∈</m:t>
                    </m:r>
                    <m:r>
                      <a:rPr lang="en-GB" sz="2400" i="1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𝐸</m:t>
                    </m:r>
                    <m:r>
                      <a:rPr lang="en-GB" sz="240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 </m:t>
                    </m:r>
                    <m:r>
                      <a:rPr lang="en-GB" sz="2400" i="1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⇔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𝑥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𝑒</m:t>
                        </m:r>
                      </m:sub>
                    </m:sSub>
                  </m:oMath>
                </a14:m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Constraints: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supHide m:val="on"/>
                        <m:ctrlPr>
                          <a:rPr lang="en-GB" sz="2400" i="1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sz="2400" i="1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GB" sz="2400" i="1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</a:rPr>
                          <m:t>∋</m:t>
                        </m:r>
                        <m:r>
                          <a:rPr lang="en-GB" sz="2400" i="1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sz="2400" i="1">
                                <a:solidFill>
                                  <a:srgbClr val="3C28F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solidFill>
                                  <a:srgbClr val="3C28FB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GB" sz="2400" i="1">
                                <a:solidFill>
                                  <a:srgbClr val="3C28FB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GB" sz="2400" i="1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≡</m:t>
                        </m:r>
                        <m:r>
                          <m:rPr>
                            <m:sty m:val="p"/>
                          </m:rPr>
                          <a:rPr lang="en-GB" sz="240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en-GB" sz="240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m:rPr>
                            <m:sty m:val="p"/>
                          </m:rPr>
                          <a:rPr lang="en-GB" sz="240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</a:rPr>
                          <m:t>l</m:t>
                        </m:r>
                        <m:r>
                          <a:rPr lang="en-GB" sz="2400" i="1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400" i="1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GB" sz="2400" i="1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</a:rPr>
                          <m:t>) (</m:t>
                        </m:r>
                        <m:r>
                          <m:rPr>
                            <m:sty m:val="p"/>
                          </m:rPr>
                          <a:rPr lang="en-GB" sz="2400" i="1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GB" sz="2400" i="1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</a:rPr>
                          <m:t> 2)</m:t>
                        </m:r>
                      </m:e>
                    </m:nary>
                  </m:oMath>
                </a14:m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	</a:t>
                </a:r>
                <a:r>
                  <a:rPr lang="en-GB" sz="24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contradictory due to Handshake Lemma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41FFC45-C110-F4EC-E02D-6FEC2F5E1C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9719" y="3385278"/>
                <a:ext cx="9648497" cy="2381421"/>
              </a:xfrm>
              <a:prstGeom prst="rect">
                <a:avLst/>
              </a:prstGeom>
              <a:blipFill>
                <a:blip r:embed="rId5"/>
                <a:stretch>
                  <a:fillRect l="-885" t="-2046" b="-2966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2D0CB4-6F9A-4E90-ABF1-4B1E0063BFD0}"/>
                  </a:ext>
                </a:extLst>
              </p:cNvPr>
              <p:cNvSpPr txBox="1"/>
              <p:nvPr/>
            </p:nvSpPr>
            <p:spPr>
              <a:xfrm>
                <a:off x="7036747" y="4575988"/>
                <a:ext cx="6094070" cy="14393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3C28F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3C28F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3C28F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up</m:t>
                          </m:r>
                          <m:r>
                            <a:rPr lang="en-US" sz="2000" b="0" i="1" smtClean="0">
                              <a:solidFill>
                                <a:srgbClr val="3C28F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GB" sz="2000" i="1">
                          <a:solidFill>
                            <a:srgbClr val="3C28F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3C28F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3C28F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3C28F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  <m:r>
                        <a:rPr lang="en-GB" sz="2000" i="1">
                          <a:solidFill>
                            <a:srgbClr val="3C28F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3C28F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3C28F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rgbClr val="3C28F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right</m:t>
                          </m:r>
                        </m:sub>
                      </m:sSub>
                    </m:oMath>
                  </m:oMathPara>
                </a14:m>
                <a:endParaRPr lang="en-GB" sz="2000" i="1" dirty="0">
                  <a:solidFill>
                    <a:srgbClr val="3C28FB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>
                              <a:solidFill>
                                <a:srgbClr val="3C28F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3C28F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rgbClr val="3C28F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up</m:t>
                          </m:r>
                          <m:r>
                            <a:rPr lang="en-US" sz="2000" i="1">
                              <a:solidFill>
                                <a:srgbClr val="3C28F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GB" sz="2000" i="1" smtClean="0">
                          <a:solidFill>
                            <a:srgbClr val="3C28F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US" sz="2000" i="1">
                              <a:solidFill>
                                <a:srgbClr val="3C28F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3C28F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3C28F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3C28F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down</m:t>
                              </m:r>
                            </m:sub>
                          </m:sSub>
                        </m:e>
                      </m:acc>
                      <m:r>
                        <a:rPr lang="en-GB" sz="2000" i="1">
                          <a:solidFill>
                            <a:srgbClr val="3C28F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US" sz="2000" i="1">
                              <a:solidFill>
                                <a:srgbClr val="3C28F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3C28F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3C28F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3C28F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right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2000" dirty="0">
                  <a:solidFill>
                    <a:srgbClr val="3C28FB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sz="2000" i="1">
                              <a:solidFill>
                                <a:srgbClr val="3C28F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3C28F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3C28F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rgbClr val="3C28F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up</m:t>
                              </m:r>
                            </m:sub>
                          </m:sSub>
                        </m:e>
                      </m:acc>
                      <m:r>
                        <a:rPr lang="en-GB" sz="2000" i="1">
                          <a:solidFill>
                            <a:srgbClr val="3C28F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3C28F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3C28F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rgbClr val="3C28F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down</m:t>
                          </m:r>
                        </m:sub>
                      </m:sSub>
                      <m:r>
                        <a:rPr lang="en-GB" sz="2000" i="1">
                          <a:solidFill>
                            <a:srgbClr val="3C28F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US" sz="2000" i="1">
                              <a:solidFill>
                                <a:srgbClr val="3C28F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3C28F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3C28F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3C28F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right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GB" sz="2000" dirty="0">
                  <a:solidFill>
                    <a:srgbClr val="3C28FB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̅"/>
                          <m:ctrlPr>
                            <a:rPr lang="en-US" sz="2000" i="1">
                              <a:solidFill>
                                <a:srgbClr val="3C28F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3C28F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3C28F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3C28F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up</m:t>
                              </m:r>
                            </m:sub>
                          </m:sSub>
                        </m:e>
                      </m:acc>
                      <m:r>
                        <a:rPr lang="en-GB" sz="2000" i="1">
                          <a:solidFill>
                            <a:srgbClr val="3C28F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acc>
                        <m:accPr>
                          <m:chr m:val="̅"/>
                          <m:ctrlPr>
                            <a:rPr lang="en-US" sz="2000" i="1">
                              <a:solidFill>
                                <a:srgbClr val="3C28F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sz="2000" i="1">
                                  <a:solidFill>
                                    <a:srgbClr val="3C28F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solidFill>
                                    <a:srgbClr val="3C28F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rgbClr val="3C28FB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down</m:t>
                              </m:r>
                            </m:sub>
                          </m:sSub>
                        </m:e>
                      </m:acc>
                      <m:r>
                        <a:rPr lang="en-GB" sz="2000" i="1">
                          <a:solidFill>
                            <a:srgbClr val="3C28FB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rgbClr val="3C28F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rgbClr val="3C28F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>
                              <a:solidFill>
                                <a:srgbClr val="3C28FB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right</m:t>
                          </m:r>
                        </m:sub>
                      </m:sSub>
                    </m:oMath>
                  </m:oMathPara>
                </a14:m>
                <a:endParaRPr lang="en-GB" sz="2000" dirty="0">
                  <a:solidFill>
                    <a:srgbClr val="3C28FB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2D0CB4-6F9A-4E90-ABF1-4B1E0063BF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6747" y="4575988"/>
                <a:ext cx="6094070" cy="1439368"/>
              </a:xfrm>
              <a:prstGeom prst="rect">
                <a:avLst/>
              </a:prstGeom>
              <a:blipFill>
                <a:blip r:embed="rId6"/>
                <a:stretch>
                  <a:fillRect b="-25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6D61C428-6040-801F-8909-B8EFAF0EF54F}"/>
              </a:ext>
            </a:extLst>
          </p:cNvPr>
          <p:cNvSpPr/>
          <p:nvPr/>
        </p:nvSpPr>
        <p:spPr>
          <a:xfrm>
            <a:off x="652826" y="1436589"/>
            <a:ext cx="175076" cy="171698"/>
          </a:xfrm>
          <a:prstGeom prst="flowChartConnector">
            <a:avLst/>
          </a:prstGeom>
          <a:solidFill>
            <a:srgbClr val="3C28FB"/>
          </a:solidFill>
          <a:ln>
            <a:solidFill>
              <a:srgbClr val="3C28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3C28F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7254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/>
      <p:bldP spid="4" grpId="0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cylindernarrow.pdf" descr="cylindernarrow.pdf">
            <a:extLst>
              <a:ext uri="{FF2B5EF4-FFF2-40B4-BE49-F238E27FC236}">
                <a16:creationId xmlns:a16="http://schemas.microsoft.com/office/drawing/2014/main" id="{45764982-216A-55CD-8A05-FEEA0A74A7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61" y="1176366"/>
            <a:ext cx="11105618" cy="1634739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Line Line" descr="Line Line">
            <a:extLst>
              <a:ext uri="{FF2B5EF4-FFF2-40B4-BE49-F238E27FC236}">
                <a16:creationId xmlns:a16="http://schemas.microsoft.com/office/drawing/2014/main" id="{B156B219-623E-102F-3125-F5F150FAAD3F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382931" y="1619513"/>
            <a:ext cx="782047" cy="114618"/>
          </a:xfrm>
          <a:prstGeom prst="rect">
            <a:avLst/>
          </a:prstGeom>
          <a:effectLst/>
        </p:spPr>
      </p:pic>
      <p:pic>
        <p:nvPicPr>
          <p:cNvPr id="30" name="pasted-movie.png" descr="pasted-movie.png">
            <a:extLst>
              <a:ext uri="{FF2B5EF4-FFF2-40B4-BE49-F238E27FC236}">
                <a16:creationId xmlns:a16="http://schemas.microsoft.com/office/drawing/2014/main" id="{FE64D639-9A41-CA57-57EC-D0D255BD09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408" y="1566432"/>
            <a:ext cx="250412" cy="248636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E9D074-13EA-A54D-4DB3-0A0FA3BF21DA}"/>
                  </a:ext>
                </a:extLst>
              </p:cNvPr>
              <p:cNvSpPr txBox="1"/>
              <p:nvPr/>
            </p:nvSpPr>
            <p:spPr>
              <a:xfrm>
                <a:off x="1466956" y="3678764"/>
                <a:ext cx="8079662" cy="24622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Start:</a:t>
                </a:r>
                <a14:m>
                  <m:oMath xmlns:m="http://schemas.openxmlformats.org/officeDocument/2006/math">
                    <m:r>
                      <a:rPr lang="en-GB" sz="2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b="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cops,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one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robber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GB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In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each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round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:</a:t>
                </a:r>
                <a:endParaRPr lang="en-GB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One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cop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enters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helicopter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and signal a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vertex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Robber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moves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Cop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lands at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GB" sz="2400" b="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342900" lvl="1" indent="-34290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Ends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when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robber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is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caught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(by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cop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at same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vertex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)</a:t>
                </a:r>
                <a:endParaRPr lang="en-GB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2E9D074-13EA-A54D-4DB3-0A0FA3BF2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6956" y="3678764"/>
                <a:ext cx="8079662" cy="2462213"/>
              </a:xfrm>
              <a:prstGeom prst="rect">
                <a:avLst/>
              </a:prstGeom>
              <a:blipFill>
                <a:blip r:embed="rId6"/>
                <a:stretch>
                  <a:fillRect l="-1057" t="-1980" b="-470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Foliennummernplatzhalter 21">
            <a:extLst>
              <a:ext uri="{FF2B5EF4-FFF2-40B4-BE49-F238E27FC236}">
                <a16:creationId xmlns:a16="http://schemas.microsoft.com/office/drawing/2014/main" id="{C9D2F20E-0DC4-10AD-51DC-E4A89FD21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18</a:t>
            </a:fld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6DE092-4429-8664-E6B9-8016B5CF648A}"/>
              </a:ext>
            </a:extLst>
          </p:cNvPr>
          <p:cNvSpPr txBox="1"/>
          <p:nvPr/>
        </p:nvSpPr>
        <p:spPr>
          <a:xfrm>
            <a:off x="932336" y="365200"/>
            <a:ext cx="105096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Trade-offs by </a:t>
            </a:r>
            <a:r>
              <a:rPr lang="en-GB" sz="2800" dirty="0" err="1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Analyzing</a:t>
            </a:r>
            <a:r>
              <a:rPr lang="en-GB" sz="28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 the Cop-Robber Game </a:t>
            </a:r>
            <a:r>
              <a:rPr lang="en-GB" sz="24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 </a:t>
            </a:r>
            <a:r>
              <a:rPr lang="en-GB" sz="22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[Seymour-Thomas </a:t>
            </a:r>
            <a:r>
              <a:rPr lang="en-GB" sz="20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’</a:t>
            </a:r>
            <a:r>
              <a:rPr lang="en-GB" sz="22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93]</a:t>
            </a:r>
          </a:p>
        </p:txBody>
      </p:sp>
      <p:pic>
        <p:nvPicPr>
          <p:cNvPr id="39" name="pasted-movie.png" descr="pasted-movie.png">
            <a:extLst>
              <a:ext uri="{FF2B5EF4-FFF2-40B4-BE49-F238E27FC236}">
                <a16:creationId xmlns:a16="http://schemas.microsoft.com/office/drawing/2014/main" id="{BC5F8822-C0CD-7206-99AF-75970FCB58E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2975"/>
          <a:stretch>
            <a:fillRect/>
          </a:stretch>
        </p:blipFill>
        <p:spPr>
          <a:xfrm>
            <a:off x="559560" y="1503828"/>
            <a:ext cx="310039" cy="311204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Line Line" descr="Line Line">
            <a:extLst>
              <a:ext uri="{FF2B5EF4-FFF2-40B4-BE49-F238E27FC236}">
                <a16:creationId xmlns:a16="http://schemas.microsoft.com/office/drawing/2014/main" id="{4D933B28-7B2C-6DE1-C9DB-48E159E629EB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680975" y="1293999"/>
            <a:ext cx="2916716" cy="114618"/>
          </a:xfrm>
          <a:prstGeom prst="rect">
            <a:avLst/>
          </a:prstGeom>
          <a:effectLst/>
        </p:spPr>
      </p:pic>
      <p:pic>
        <p:nvPicPr>
          <p:cNvPr id="43" name="Line Line" descr="Line Line">
            <a:extLst>
              <a:ext uri="{FF2B5EF4-FFF2-40B4-BE49-F238E27FC236}">
                <a16:creationId xmlns:a16="http://schemas.microsoft.com/office/drawing/2014/main" id="{6B33C6C4-A11C-3E23-A800-4C59EDB27043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2868597" y="1951913"/>
            <a:ext cx="1477621" cy="114618"/>
          </a:xfrm>
          <a:prstGeom prst="rect">
            <a:avLst/>
          </a:prstGeom>
          <a:effectLst/>
        </p:spPr>
      </p:pic>
      <p:pic>
        <p:nvPicPr>
          <p:cNvPr id="44" name="Line Line" descr="Line Line">
            <a:extLst>
              <a:ext uri="{FF2B5EF4-FFF2-40B4-BE49-F238E27FC236}">
                <a16:creationId xmlns:a16="http://schemas.microsoft.com/office/drawing/2014/main" id="{2D24346E-2981-E88D-8234-B308E3FEA86E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3470819" y="2598213"/>
            <a:ext cx="7934957" cy="114618"/>
          </a:xfrm>
          <a:prstGeom prst="rect">
            <a:avLst/>
          </a:prstGeom>
          <a:effectLst/>
        </p:spPr>
      </p:pic>
      <p:pic>
        <p:nvPicPr>
          <p:cNvPr id="45" name="Line Line" descr="Line Line">
            <a:extLst>
              <a:ext uri="{FF2B5EF4-FFF2-40B4-BE49-F238E27FC236}">
                <a16:creationId xmlns:a16="http://schemas.microsoft.com/office/drawing/2014/main" id="{0D7E188D-9149-8419-1995-B4DEC0F5CFDD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10731377" y="2037444"/>
            <a:ext cx="1306561" cy="114618"/>
          </a:xfrm>
          <a:prstGeom prst="rect">
            <a:avLst/>
          </a:prstGeom>
          <a:effectLst/>
        </p:spPr>
      </p:pic>
      <p:pic>
        <p:nvPicPr>
          <p:cNvPr id="28" name="pasted-movie.png" descr="pasted-movie.png">
            <a:extLst>
              <a:ext uri="{FF2B5EF4-FFF2-40B4-BE49-F238E27FC236}">
                <a16:creationId xmlns:a16="http://schemas.microsoft.com/office/drawing/2014/main" id="{801BA894-26C6-1AA0-51E8-D5676490045E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35948" b="50085"/>
          <a:stretch>
            <a:fillRect/>
          </a:stretch>
        </p:blipFill>
        <p:spPr>
          <a:xfrm>
            <a:off x="496973" y="1838615"/>
            <a:ext cx="435364" cy="34124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pasted-movie.png" descr="pasted-movie.png">
            <a:extLst>
              <a:ext uri="{FF2B5EF4-FFF2-40B4-BE49-F238E27FC236}">
                <a16:creationId xmlns:a16="http://schemas.microsoft.com/office/drawing/2014/main" id="{632CDD39-D4BB-2577-0AEC-B822E155CFD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950366" y="2954600"/>
            <a:ext cx="844551" cy="530647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pasted-movie.png" descr="pasted-movie.png">
            <a:extLst>
              <a:ext uri="{FF2B5EF4-FFF2-40B4-BE49-F238E27FC236}">
                <a16:creationId xmlns:a16="http://schemas.microsoft.com/office/drawing/2014/main" id="{5E903437-8F9A-EF95-E71C-2D28CFBF32B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r="35948" b="50085"/>
          <a:stretch>
            <a:fillRect/>
          </a:stretch>
        </p:blipFill>
        <p:spPr>
          <a:xfrm>
            <a:off x="11167015" y="1180701"/>
            <a:ext cx="435364" cy="341240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pasted-movie.png" descr="pasted-movie.png">
            <a:extLst>
              <a:ext uri="{FF2B5EF4-FFF2-40B4-BE49-F238E27FC236}">
                <a16:creationId xmlns:a16="http://schemas.microsoft.com/office/drawing/2014/main" id="{5A2A5FAE-EE83-F999-4C58-A4CB29183FB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2975"/>
          <a:stretch>
            <a:fillRect/>
          </a:stretch>
        </p:blipFill>
        <p:spPr>
          <a:xfrm>
            <a:off x="4961741" y="2499902"/>
            <a:ext cx="310039" cy="311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pasted-movie.png" descr="pasted-movie.png">
            <a:extLst>
              <a:ext uri="{FF2B5EF4-FFF2-40B4-BE49-F238E27FC236}">
                <a16:creationId xmlns:a16="http://schemas.microsoft.com/office/drawing/2014/main" id="{3C418B41-F99A-D226-0DB9-3D8C96A273F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2975"/>
          <a:stretch>
            <a:fillRect/>
          </a:stretch>
        </p:blipFill>
        <p:spPr>
          <a:xfrm>
            <a:off x="4663435" y="2170137"/>
            <a:ext cx="310039" cy="311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pasted-movie.png" descr="pasted-movie.png">
            <a:extLst>
              <a:ext uri="{FF2B5EF4-FFF2-40B4-BE49-F238E27FC236}">
                <a16:creationId xmlns:a16="http://schemas.microsoft.com/office/drawing/2014/main" id="{009A8FA3-5078-CC98-82A4-C9826A34B98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2975"/>
          <a:stretch>
            <a:fillRect/>
          </a:stretch>
        </p:blipFill>
        <p:spPr>
          <a:xfrm>
            <a:off x="4339962" y="1853602"/>
            <a:ext cx="310039" cy="311204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pasted-movie.png" descr="pasted-movie.png">
            <a:extLst>
              <a:ext uri="{FF2B5EF4-FFF2-40B4-BE49-F238E27FC236}">
                <a16:creationId xmlns:a16="http://schemas.microsoft.com/office/drawing/2014/main" id="{3FD00C74-A505-13BE-21CE-DC3EEB914DE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2975"/>
          <a:stretch>
            <a:fillRect/>
          </a:stretch>
        </p:blipFill>
        <p:spPr>
          <a:xfrm>
            <a:off x="4663435" y="1535130"/>
            <a:ext cx="310039" cy="311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pasted-movie.png" descr="pasted-movie.png">
            <a:extLst>
              <a:ext uri="{FF2B5EF4-FFF2-40B4-BE49-F238E27FC236}">
                <a16:creationId xmlns:a16="http://schemas.microsoft.com/office/drawing/2014/main" id="{97ED6535-A170-3823-11B2-70FE142D970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2975"/>
          <a:stretch>
            <a:fillRect/>
          </a:stretch>
        </p:blipFill>
        <p:spPr>
          <a:xfrm>
            <a:off x="4961741" y="1201721"/>
            <a:ext cx="310039" cy="311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pasted-movie.png" descr="pasted-movie.png">
            <a:extLst>
              <a:ext uri="{FF2B5EF4-FFF2-40B4-BE49-F238E27FC236}">
                <a16:creationId xmlns:a16="http://schemas.microsoft.com/office/drawing/2014/main" id="{179DBBEB-2787-E076-8B2A-39FA55FD1B0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2975"/>
          <a:stretch>
            <a:fillRect/>
          </a:stretch>
        </p:blipFill>
        <p:spPr>
          <a:xfrm>
            <a:off x="6284981" y="3064304"/>
            <a:ext cx="310039" cy="311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pasted-movie.png" descr="pasted-movie.png">
            <a:extLst>
              <a:ext uri="{FF2B5EF4-FFF2-40B4-BE49-F238E27FC236}">
                <a16:creationId xmlns:a16="http://schemas.microsoft.com/office/drawing/2014/main" id="{03E740DF-BC4B-449F-2739-D6ADF4E5C29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2975"/>
          <a:stretch>
            <a:fillRect/>
          </a:stretch>
        </p:blipFill>
        <p:spPr>
          <a:xfrm>
            <a:off x="937066" y="1853602"/>
            <a:ext cx="310040" cy="311204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pasted-movie.png" descr="pasted-movie.png">
            <a:extLst>
              <a:ext uri="{FF2B5EF4-FFF2-40B4-BE49-F238E27FC236}">
                <a16:creationId xmlns:a16="http://schemas.microsoft.com/office/drawing/2014/main" id="{35342D9C-9E8F-EA43-ECC7-4CA9F334D6F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2975"/>
          <a:stretch>
            <a:fillRect/>
          </a:stretch>
        </p:blipFill>
        <p:spPr>
          <a:xfrm>
            <a:off x="559560" y="2206332"/>
            <a:ext cx="310039" cy="311203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A4A6966-1AF5-4258-34EE-A418272FC10E}"/>
              </a:ext>
            </a:extLst>
          </p:cNvPr>
          <p:cNvSpPr txBox="1"/>
          <p:nvPr/>
        </p:nvSpPr>
        <p:spPr>
          <a:xfrm>
            <a:off x="9087779" y="4846302"/>
            <a:ext cx="2653948" cy="830997"/>
          </a:xfrm>
          <a:prstGeom prst="rect">
            <a:avLst/>
          </a:prstGeom>
          <a:noFill/>
          <a:ln w="12700">
            <a:solidFill>
              <a:srgbClr val="3C28FB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3C28F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width ≈ # cops</a:t>
            </a:r>
          </a:p>
          <a:p>
            <a:r>
              <a:rPr lang="en-GB" sz="2400" dirty="0">
                <a:solidFill>
                  <a:srgbClr val="3C28F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depth ≈ # rounds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D7196F-EA1B-5163-A5F4-CE43581B41CC}"/>
              </a:ext>
            </a:extLst>
          </p:cNvPr>
          <p:cNvSpPr txBox="1"/>
          <p:nvPr/>
        </p:nvSpPr>
        <p:spPr>
          <a:xfrm>
            <a:off x="5950366" y="56772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8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[GTT </a:t>
            </a:r>
            <a:r>
              <a:rPr lang="en-GB" sz="18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’</a:t>
            </a:r>
            <a:r>
              <a:rPr lang="en-GB" sz="18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18]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981023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6409F-9042-454B-A78A-48E8E93AC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DB01452-5C63-3032-DF5A-8D3C5FAA6CEB}"/>
                  </a:ext>
                </a:extLst>
              </p:cNvPr>
              <p:cNvSpPr txBox="1"/>
              <p:nvPr/>
            </p:nvSpPr>
            <p:spPr>
              <a:xfrm>
                <a:off x="-623691" y="3254252"/>
                <a:ext cx="10976840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0" lvl="3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+1 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cops:</a:t>
                </a:r>
                <a:endParaRPr lang="en-GB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lvl="4"/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Place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cops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on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middle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column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March towards robber in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𝑘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⋅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𝐿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 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rounds 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FC560C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sz="2400" dirty="0">
                    <a:solidFill>
                      <a:srgbClr val="FC560C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translates to resolution proof</a:t>
                </a:r>
              </a:p>
              <a:p>
                <a:pPr lvl="4"/>
                <a:r>
                  <a:rPr lang="en-GB" sz="2400" dirty="0">
                    <a:solidFill>
                      <a:srgbClr val="FC560C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	 of width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FC560C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2400" b="0" i="1" smtClean="0">
                        <a:solidFill>
                          <a:srgbClr val="FC560C"/>
                        </a:solidFill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GB" sz="2400" dirty="0">
                    <a:solidFill>
                      <a:srgbClr val="FC560C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, but depth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FC560C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𝑘</m:t>
                    </m:r>
                    <m:r>
                      <a:rPr lang="en-GB" sz="2400" b="0" i="1" smtClean="0">
                        <a:solidFill>
                          <a:srgbClr val="FC560C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⋅</m:t>
                    </m:r>
                    <m:r>
                      <a:rPr lang="en-GB" sz="2400" b="0" i="1" smtClean="0">
                        <a:solidFill>
                          <a:srgbClr val="FC560C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𝐿</m:t>
                    </m:r>
                  </m:oMath>
                </a14:m>
                <a:endParaRPr lang="en-GB" sz="1000" b="0" dirty="0">
                  <a:solidFill>
                    <a:srgbClr val="FC560C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1828800" lvl="3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GB" sz="2400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2400" i="1" dirty="0" err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cops:</a:t>
                </a:r>
                <a:endParaRPr lang="en-GB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lvl="4"/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Binary search</a:t>
                </a:r>
              </a:p>
              <a:p>
                <a:pPr lvl="4"/>
                <a14:m>
                  <m:oMath xmlns:m="http://schemas.openxmlformats.org/officeDocument/2006/math">
                    <m:r>
                      <a:rPr lang="en-GB" sz="2400" i="1">
                        <a:solidFill>
                          <a:srgbClr val="3C28FB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sz="2400" dirty="0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translates to resolution proof </a:t>
                </a:r>
              </a:p>
              <a:p>
                <a:pPr lvl="4"/>
                <a:r>
                  <a:rPr lang="en-GB" sz="2400" dirty="0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	of width </a:t>
                </a:r>
                <a14:m>
                  <m:oMath xmlns:m="http://schemas.openxmlformats.org/officeDocument/2006/math">
                    <m:r>
                      <a:rPr lang="en-GB" sz="2400" b="0" i="0" smtClean="0">
                        <a:solidFill>
                          <a:srgbClr val="3C28FB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GB" sz="2400" i="1">
                        <a:solidFill>
                          <a:srgbClr val="3C28FB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2400" b="0" i="0" smtClean="0">
                        <a:solidFill>
                          <a:srgbClr val="3C28FB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and depth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rgbClr val="3C28FB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𝑘</m:t>
                    </m:r>
                    <m:r>
                      <a:rPr lang="en-GB" sz="2400" i="1">
                        <a:solidFill>
                          <a:srgbClr val="3C28FB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⋅</m:t>
                    </m:r>
                    <m:func>
                      <m:funcPr>
                        <m:ctrlPr>
                          <a:rPr lang="en-GB" sz="2400" b="0" i="0" smtClean="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 b="0" i="0" smtClean="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log</m:t>
                        </m:r>
                      </m:fName>
                      <m:e>
                        <m:r>
                          <a:rPr lang="en-GB" sz="2400" b="0" i="1" smtClean="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𝐿</m:t>
                        </m:r>
                      </m:e>
                    </m:func>
                  </m:oMath>
                </a14:m>
                <a:endParaRPr lang="en-GB" sz="2400" dirty="0">
                  <a:solidFill>
                    <a:srgbClr val="3C28F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DB01452-5C63-3032-DF5A-8D3C5FAA6C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23691" y="3254252"/>
                <a:ext cx="10976840" cy="3416320"/>
              </a:xfrm>
              <a:prstGeom prst="rect">
                <a:avLst/>
              </a:prstGeom>
              <a:blipFill>
                <a:blip r:embed="rId3"/>
                <a:stretch>
                  <a:fillRect t="-1429" b="-32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23">
                <a:extLst>
                  <a:ext uri="{FF2B5EF4-FFF2-40B4-BE49-F238E27FC236}">
                    <a16:creationId xmlns:a16="http://schemas.microsoft.com/office/drawing/2014/main" id="{6F9FD792-4A2C-3DAB-77EE-6D841BD339D1}"/>
                  </a:ext>
                </a:extLst>
              </p:cNvPr>
              <p:cNvSpPr txBox="1"/>
              <p:nvPr/>
            </p:nvSpPr>
            <p:spPr>
              <a:xfrm>
                <a:off x="7522821" y="4577845"/>
                <a:ext cx="368932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r>
                        <a:rPr lang="en-US" sz="2800" i="1" smtClean="0">
                          <a:solidFill>
                            <a:srgbClr val="3C28FB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sz="2800" b="0" i="1" smtClean="0">
                          <a:solidFill>
                            <a:srgbClr val="3C28FB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GB" sz="2800" dirty="0">
                  <a:solidFill>
                    <a:srgbClr val="3C28FB"/>
                  </a:solidFill>
                </a:endParaRPr>
              </a:p>
            </p:txBody>
          </p:sp>
        </mc:Choice>
        <mc:Fallback xmlns="">
          <p:sp>
            <p:nvSpPr>
              <p:cNvPr id="72" name="TextBox 23">
                <a:extLst>
                  <a:ext uri="{FF2B5EF4-FFF2-40B4-BE49-F238E27FC236}">
                    <a16:creationId xmlns:a16="http://schemas.microsoft.com/office/drawing/2014/main" id="{6F9FD792-4A2C-3DAB-77EE-6D841BD33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2821" y="4577845"/>
                <a:ext cx="368932" cy="430887"/>
              </a:xfrm>
              <a:prstGeom prst="rect">
                <a:avLst/>
              </a:prstGeom>
              <a:blipFill>
                <a:blip r:embed="rId4"/>
                <a:stretch>
                  <a:fillRect r="-32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B06C3773-94B6-761C-1E79-842976EE5495}"/>
              </a:ext>
            </a:extLst>
          </p:cNvPr>
          <p:cNvCxnSpPr>
            <a:cxnSpLocks/>
          </p:cNvCxnSpPr>
          <p:nvPr/>
        </p:nvCxnSpPr>
        <p:spPr>
          <a:xfrm>
            <a:off x="7900754" y="4793289"/>
            <a:ext cx="110818" cy="0"/>
          </a:xfrm>
          <a:prstGeom prst="line">
            <a:avLst/>
          </a:prstGeom>
          <a:ln>
            <a:solidFill>
              <a:srgbClr val="3C28FB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2" name="Rectangle 19">
            <a:extLst>
              <a:ext uri="{FF2B5EF4-FFF2-40B4-BE49-F238E27FC236}">
                <a16:creationId xmlns:a16="http://schemas.microsoft.com/office/drawing/2014/main" id="{C3515ED2-2E80-E031-38EC-61E75DD08A01}"/>
              </a:ext>
            </a:extLst>
          </p:cNvPr>
          <p:cNvSpPr/>
          <p:nvPr/>
        </p:nvSpPr>
        <p:spPr>
          <a:xfrm>
            <a:off x="8019379" y="5223513"/>
            <a:ext cx="1795013" cy="639504"/>
          </a:xfrm>
          <a:prstGeom prst="rect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E8573CE5-0252-675C-5232-791F5AFA473C}"/>
              </a:ext>
            </a:extLst>
          </p:cNvPr>
          <p:cNvCxnSpPr>
            <a:cxnSpLocks/>
          </p:cNvCxnSpPr>
          <p:nvPr/>
        </p:nvCxnSpPr>
        <p:spPr>
          <a:xfrm>
            <a:off x="7921151" y="5635323"/>
            <a:ext cx="108424" cy="0"/>
          </a:xfrm>
          <a:prstGeom prst="line">
            <a:avLst/>
          </a:prstGeom>
          <a:ln>
            <a:solidFill>
              <a:srgbClr val="FC560C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1A05C84-0675-2033-3191-E405DA3AC4C6}"/>
              </a:ext>
            </a:extLst>
          </p:cNvPr>
          <p:cNvSpPr txBox="1"/>
          <p:nvPr/>
        </p:nvSpPr>
        <p:spPr>
          <a:xfrm>
            <a:off x="1256475" y="359452"/>
            <a:ext cx="807966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0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Upper Bounds: Simple Cop Strategies </a:t>
            </a:r>
          </a:p>
          <a:p>
            <a:endParaRPr lang="en-GB" sz="3000" dirty="0">
              <a:solidFill>
                <a:srgbClr val="3C28FB"/>
              </a:solidFill>
            </a:endParaRPr>
          </a:p>
          <a:p>
            <a:endParaRPr lang="en-GB" sz="3000" dirty="0">
              <a:solidFill>
                <a:srgbClr val="3C28FB"/>
              </a:solidFill>
            </a:endParaRPr>
          </a:p>
          <a:p>
            <a:endParaRPr lang="en-GB" sz="3000" dirty="0">
              <a:solidFill>
                <a:srgbClr val="3C28FB"/>
              </a:solidFill>
            </a:endParaRPr>
          </a:p>
          <a:p>
            <a:endParaRPr lang="en-GB" sz="3000" dirty="0">
              <a:solidFill>
                <a:srgbClr val="3C28FB"/>
              </a:solidFill>
            </a:endParaRPr>
          </a:p>
          <a:p>
            <a:endParaRPr lang="en-GB" sz="1000" dirty="0"/>
          </a:p>
          <a:p>
            <a:endParaRPr lang="en-GB" sz="800" dirty="0"/>
          </a:p>
          <a:p>
            <a:pPr lvl="3"/>
            <a:endParaRPr lang="en-GB" sz="2400" dirty="0"/>
          </a:p>
        </p:txBody>
      </p:sp>
      <p:sp>
        <p:nvSpPr>
          <p:cNvPr id="22" name="Foliennummernplatzhalter 21">
            <a:extLst>
              <a:ext uri="{FF2B5EF4-FFF2-40B4-BE49-F238E27FC236}">
                <a16:creationId xmlns:a16="http://schemas.microsoft.com/office/drawing/2014/main" id="{2F19118D-6DDC-C39F-2B8C-03D463871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19</a:t>
            </a:fld>
            <a:endParaRPr lang="en-GB" dirty="0"/>
          </a:p>
        </p:txBody>
      </p:sp>
      <p:pic>
        <p:nvPicPr>
          <p:cNvPr id="7" name="cylindernarrow.pdf" descr="cylindernarrow.pdf">
            <a:extLst>
              <a:ext uri="{FF2B5EF4-FFF2-40B4-BE49-F238E27FC236}">
                <a16:creationId xmlns:a16="http://schemas.microsoft.com/office/drawing/2014/main" id="{E6A1CCA6-47CF-8735-793E-78C06F515D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361" y="1176366"/>
            <a:ext cx="11105618" cy="1629786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pasted-movie.png" descr="pasted-movie.png">
            <a:extLst>
              <a:ext uri="{FF2B5EF4-FFF2-40B4-BE49-F238E27FC236}">
                <a16:creationId xmlns:a16="http://schemas.microsoft.com/office/drawing/2014/main" id="{450DC089-73FA-8892-9B08-99CF2DC76BC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35948" b="50085"/>
          <a:stretch>
            <a:fillRect/>
          </a:stretch>
        </p:blipFill>
        <p:spPr>
          <a:xfrm>
            <a:off x="3642526" y="1792665"/>
            <a:ext cx="435364" cy="34020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pasted-movie.png" descr="pasted-movie.png">
            <a:extLst>
              <a:ext uri="{FF2B5EF4-FFF2-40B4-BE49-F238E27FC236}">
                <a16:creationId xmlns:a16="http://schemas.microsoft.com/office/drawing/2014/main" id="{67293DDD-043D-46A4-AD07-238E5DE8A43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2975"/>
          <a:stretch>
            <a:fillRect/>
          </a:stretch>
        </p:blipFill>
        <p:spPr>
          <a:xfrm>
            <a:off x="5910045" y="1176366"/>
            <a:ext cx="310039" cy="310260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pasted-movie.png" descr="pasted-movie.png">
            <a:extLst>
              <a:ext uri="{FF2B5EF4-FFF2-40B4-BE49-F238E27FC236}">
                <a16:creationId xmlns:a16="http://schemas.microsoft.com/office/drawing/2014/main" id="{E9C6EDB8-C9DD-B190-B845-9E792E23DA7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2975"/>
          <a:stretch>
            <a:fillRect/>
          </a:stretch>
        </p:blipFill>
        <p:spPr>
          <a:xfrm>
            <a:off x="5917536" y="1480800"/>
            <a:ext cx="310039" cy="31026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pasted-movie.png" descr="pasted-movie.png">
            <a:extLst>
              <a:ext uri="{FF2B5EF4-FFF2-40B4-BE49-F238E27FC236}">
                <a16:creationId xmlns:a16="http://schemas.microsoft.com/office/drawing/2014/main" id="{25C4982D-C5D9-68FA-AD63-BA77D378DCC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2975"/>
          <a:stretch>
            <a:fillRect/>
          </a:stretch>
        </p:blipFill>
        <p:spPr>
          <a:xfrm>
            <a:off x="5917536" y="1785234"/>
            <a:ext cx="310039" cy="31026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pasted-movie.png" descr="pasted-movie.png">
            <a:extLst>
              <a:ext uri="{FF2B5EF4-FFF2-40B4-BE49-F238E27FC236}">
                <a16:creationId xmlns:a16="http://schemas.microsoft.com/office/drawing/2014/main" id="{395E215D-7E5E-F474-948C-DA52E58D962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2975"/>
          <a:stretch>
            <a:fillRect/>
          </a:stretch>
        </p:blipFill>
        <p:spPr>
          <a:xfrm>
            <a:off x="5920277" y="2132871"/>
            <a:ext cx="310039" cy="31026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pasted-movie.png" descr="pasted-movie.png">
            <a:extLst>
              <a:ext uri="{FF2B5EF4-FFF2-40B4-BE49-F238E27FC236}">
                <a16:creationId xmlns:a16="http://schemas.microsoft.com/office/drawing/2014/main" id="{27096A71-CF09-F6FB-F8A0-8EDBD2D5F3D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2975"/>
          <a:stretch>
            <a:fillRect/>
          </a:stretch>
        </p:blipFill>
        <p:spPr>
          <a:xfrm>
            <a:off x="5920277" y="2495892"/>
            <a:ext cx="310039" cy="310260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asted-movie.png" descr="pasted-movie.png">
            <a:extLst>
              <a:ext uri="{FF2B5EF4-FFF2-40B4-BE49-F238E27FC236}">
                <a16:creationId xmlns:a16="http://schemas.microsoft.com/office/drawing/2014/main" id="{51A03C65-7D21-DF1F-5533-0D9BF3386B9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2975"/>
          <a:stretch>
            <a:fillRect/>
          </a:stretch>
        </p:blipFill>
        <p:spPr>
          <a:xfrm>
            <a:off x="5583653" y="1176366"/>
            <a:ext cx="310039" cy="310260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pasted-movie.png" descr="pasted-movie.png">
            <a:extLst>
              <a:ext uri="{FF2B5EF4-FFF2-40B4-BE49-F238E27FC236}">
                <a16:creationId xmlns:a16="http://schemas.microsoft.com/office/drawing/2014/main" id="{9E23C554-E0AF-6A79-C421-91CF9271E0F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2975"/>
          <a:stretch>
            <a:fillRect/>
          </a:stretch>
        </p:blipFill>
        <p:spPr>
          <a:xfrm>
            <a:off x="5591144" y="1480800"/>
            <a:ext cx="310039" cy="310260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pasted-movie.png" descr="pasted-movie.png">
            <a:extLst>
              <a:ext uri="{FF2B5EF4-FFF2-40B4-BE49-F238E27FC236}">
                <a16:creationId xmlns:a16="http://schemas.microsoft.com/office/drawing/2014/main" id="{B4873320-32A4-3ACE-74C5-77583A8F70F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2975"/>
          <a:stretch>
            <a:fillRect/>
          </a:stretch>
        </p:blipFill>
        <p:spPr>
          <a:xfrm>
            <a:off x="5591144" y="1785234"/>
            <a:ext cx="310039" cy="31026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" name="pasted-movie.png" descr="pasted-movie.png">
            <a:extLst>
              <a:ext uri="{FF2B5EF4-FFF2-40B4-BE49-F238E27FC236}">
                <a16:creationId xmlns:a16="http://schemas.microsoft.com/office/drawing/2014/main" id="{9495F549-DDAE-C8A2-D3AF-8C3D29FF664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2975"/>
          <a:stretch>
            <a:fillRect/>
          </a:stretch>
        </p:blipFill>
        <p:spPr>
          <a:xfrm>
            <a:off x="5593885" y="2132871"/>
            <a:ext cx="310039" cy="31026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" name="pasted-movie.png" descr="pasted-movie.png">
            <a:extLst>
              <a:ext uri="{FF2B5EF4-FFF2-40B4-BE49-F238E27FC236}">
                <a16:creationId xmlns:a16="http://schemas.microsoft.com/office/drawing/2014/main" id="{4C846399-A289-6F0A-ACB5-656F4B3E5F2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2975"/>
          <a:stretch>
            <a:fillRect/>
          </a:stretch>
        </p:blipFill>
        <p:spPr>
          <a:xfrm>
            <a:off x="5593885" y="2495892"/>
            <a:ext cx="310039" cy="31026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pasted-movie.png" descr="pasted-movie.png">
            <a:extLst>
              <a:ext uri="{FF2B5EF4-FFF2-40B4-BE49-F238E27FC236}">
                <a16:creationId xmlns:a16="http://schemas.microsoft.com/office/drawing/2014/main" id="{8B0F1790-238E-1ECF-A62B-00108CD8D7F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2975"/>
          <a:stretch>
            <a:fillRect/>
          </a:stretch>
        </p:blipFill>
        <p:spPr>
          <a:xfrm>
            <a:off x="4344557" y="1181764"/>
            <a:ext cx="310039" cy="310260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pasted-movie.png" descr="pasted-movie.png">
            <a:extLst>
              <a:ext uri="{FF2B5EF4-FFF2-40B4-BE49-F238E27FC236}">
                <a16:creationId xmlns:a16="http://schemas.microsoft.com/office/drawing/2014/main" id="{763453D9-6671-E942-56C6-0113B250DC0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2975"/>
          <a:stretch>
            <a:fillRect/>
          </a:stretch>
        </p:blipFill>
        <p:spPr>
          <a:xfrm>
            <a:off x="4352048" y="1486198"/>
            <a:ext cx="310039" cy="31026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pasted-movie.png" descr="pasted-movie.png">
            <a:extLst>
              <a:ext uri="{FF2B5EF4-FFF2-40B4-BE49-F238E27FC236}">
                <a16:creationId xmlns:a16="http://schemas.microsoft.com/office/drawing/2014/main" id="{8F705677-CAC0-803A-B0A0-7D556C84EA6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2975"/>
          <a:stretch>
            <a:fillRect/>
          </a:stretch>
        </p:blipFill>
        <p:spPr>
          <a:xfrm>
            <a:off x="4352048" y="1790632"/>
            <a:ext cx="310039" cy="31026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pasted-movie.png" descr="pasted-movie.png">
            <a:extLst>
              <a:ext uri="{FF2B5EF4-FFF2-40B4-BE49-F238E27FC236}">
                <a16:creationId xmlns:a16="http://schemas.microsoft.com/office/drawing/2014/main" id="{940EA46D-5E43-9DFD-AA65-0AF70959E2E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2975"/>
          <a:stretch>
            <a:fillRect/>
          </a:stretch>
        </p:blipFill>
        <p:spPr>
          <a:xfrm>
            <a:off x="4354789" y="2138269"/>
            <a:ext cx="310039" cy="31026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" name="pasted-movie.png" descr="pasted-movie.png">
            <a:extLst>
              <a:ext uri="{FF2B5EF4-FFF2-40B4-BE49-F238E27FC236}">
                <a16:creationId xmlns:a16="http://schemas.microsoft.com/office/drawing/2014/main" id="{DD307FAB-1E65-6B67-A89B-3A54F0B6B15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2975"/>
          <a:stretch>
            <a:fillRect/>
          </a:stretch>
        </p:blipFill>
        <p:spPr>
          <a:xfrm>
            <a:off x="4354789" y="2501290"/>
            <a:ext cx="310039" cy="31026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" name="pasted-movie.png" descr="pasted-movie.png">
            <a:extLst>
              <a:ext uri="{FF2B5EF4-FFF2-40B4-BE49-F238E27FC236}">
                <a16:creationId xmlns:a16="http://schemas.microsoft.com/office/drawing/2014/main" id="{FF72B5EC-07D0-93A1-7102-5E0C45AC3DF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2975"/>
          <a:stretch>
            <a:fillRect/>
          </a:stretch>
        </p:blipFill>
        <p:spPr>
          <a:xfrm>
            <a:off x="3084360" y="1181764"/>
            <a:ext cx="310039" cy="31026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" name="pasted-movie.png" descr="pasted-movie.png">
            <a:extLst>
              <a:ext uri="{FF2B5EF4-FFF2-40B4-BE49-F238E27FC236}">
                <a16:creationId xmlns:a16="http://schemas.microsoft.com/office/drawing/2014/main" id="{E9A0DB37-2D59-95BE-02DF-6C9DDBAA629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2975"/>
          <a:stretch>
            <a:fillRect/>
          </a:stretch>
        </p:blipFill>
        <p:spPr>
          <a:xfrm>
            <a:off x="3091851" y="1486198"/>
            <a:ext cx="310039" cy="31026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" name="pasted-movie.png" descr="pasted-movie.png">
            <a:extLst>
              <a:ext uri="{FF2B5EF4-FFF2-40B4-BE49-F238E27FC236}">
                <a16:creationId xmlns:a16="http://schemas.microsoft.com/office/drawing/2014/main" id="{79A6C8AA-5FED-6868-DB42-BD2B511E23A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2975"/>
          <a:stretch>
            <a:fillRect/>
          </a:stretch>
        </p:blipFill>
        <p:spPr>
          <a:xfrm>
            <a:off x="3091851" y="1790632"/>
            <a:ext cx="310039" cy="31026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" name="pasted-movie.png" descr="pasted-movie.png">
            <a:extLst>
              <a:ext uri="{FF2B5EF4-FFF2-40B4-BE49-F238E27FC236}">
                <a16:creationId xmlns:a16="http://schemas.microsoft.com/office/drawing/2014/main" id="{88EB78CC-D036-8B55-0B47-B20B82F0452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2975"/>
          <a:stretch>
            <a:fillRect/>
          </a:stretch>
        </p:blipFill>
        <p:spPr>
          <a:xfrm>
            <a:off x="3094592" y="2138269"/>
            <a:ext cx="310039" cy="31026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" name="pasted-movie.png" descr="pasted-movie.png">
            <a:extLst>
              <a:ext uri="{FF2B5EF4-FFF2-40B4-BE49-F238E27FC236}">
                <a16:creationId xmlns:a16="http://schemas.microsoft.com/office/drawing/2014/main" id="{B713E5AF-04DA-1173-431A-3D306221E8C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b="22975"/>
          <a:stretch>
            <a:fillRect/>
          </a:stretch>
        </p:blipFill>
        <p:spPr>
          <a:xfrm>
            <a:off x="3094592" y="2501290"/>
            <a:ext cx="310039" cy="310260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Left Brace 1">
            <a:extLst>
              <a:ext uri="{FF2B5EF4-FFF2-40B4-BE49-F238E27FC236}">
                <a16:creationId xmlns:a16="http://schemas.microsoft.com/office/drawing/2014/main" id="{43EA7D0A-9099-866E-D914-59A09657AD17}"/>
              </a:ext>
            </a:extLst>
          </p:cNvPr>
          <p:cNvSpPr/>
          <p:nvPr/>
        </p:nvSpPr>
        <p:spPr>
          <a:xfrm rot="16200000">
            <a:off x="5995407" y="-2489133"/>
            <a:ext cx="203882" cy="10899974"/>
          </a:xfrm>
          <a:prstGeom prst="leftBrace">
            <a:avLst>
              <a:gd name="adj1" fmla="val 60802"/>
              <a:gd name="adj2" fmla="val 49926"/>
            </a:avLst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F4ABCCE1-DB2E-8E8D-7BC1-6CE0280A35E2}"/>
              </a:ext>
            </a:extLst>
          </p:cNvPr>
          <p:cNvSpPr/>
          <p:nvPr/>
        </p:nvSpPr>
        <p:spPr>
          <a:xfrm rot="10800000">
            <a:off x="11561337" y="1181763"/>
            <a:ext cx="203882" cy="1624388"/>
          </a:xfrm>
          <a:prstGeom prst="leftBrace">
            <a:avLst>
              <a:gd name="adj1" fmla="val 60802"/>
              <a:gd name="adj2" fmla="val 49926"/>
            </a:avLst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C594B07-E650-343F-DF24-2E424D75DDFC}"/>
                  </a:ext>
                </a:extLst>
              </p:cNvPr>
              <p:cNvSpPr txBox="1"/>
              <p:nvPr/>
            </p:nvSpPr>
            <p:spPr>
              <a:xfrm>
                <a:off x="3670683" y="3015801"/>
                <a:ext cx="485063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GB" sz="2000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9C594B07-E650-343F-DF24-2E424D75D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0683" y="3015801"/>
                <a:ext cx="4850633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D33A307-0810-DCDD-1A51-F21C4D9CCDB0}"/>
                  </a:ext>
                </a:extLst>
              </p:cNvPr>
              <p:cNvSpPr txBox="1"/>
              <p:nvPr/>
            </p:nvSpPr>
            <p:spPr>
              <a:xfrm>
                <a:off x="9490377" y="1792665"/>
                <a:ext cx="485063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000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D33A307-0810-DCDD-1A51-F21C4D9CC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0377" y="1792665"/>
                <a:ext cx="4850633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AutoShape 4" descr="{\displaystyle \bot }">
            <a:extLst>
              <a:ext uri="{FF2B5EF4-FFF2-40B4-BE49-F238E27FC236}">
                <a16:creationId xmlns:a16="http://schemas.microsoft.com/office/drawing/2014/main" id="{AE71FAB3-A2AE-59C8-E9EC-76A17F57EF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142170" y="3445493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29E1EE9-7BD8-FDD8-45BB-AA8905BE8C44}"/>
              </a:ext>
            </a:extLst>
          </p:cNvPr>
          <p:cNvCxnSpPr>
            <a:cxnSpLocks/>
          </p:cNvCxnSpPr>
          <p:nvPr/>
        </p:nvCxnSpPr>
        <p:spPr>
          <a:xfrm>
            <a:off x="7661480" y="4808968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973522A-805B-0DA5-D60F-6316114DBE64}"/>
              </a:ext>
            </a:extLst>
          </p:cNvPr>
          <p:cNvGrpSpPr/>
          <p:nvPr/>
        </p:nvGrpSpPr>
        <p:grpSpPr>
          <a:xfrm>
            <a:off x="7102987" y="3254252"/>
            <a:ext cx="4507992" cy="3054054"/>
            <a:chOff x="7102987" y="3254252"/>
            <a:chExt cx="4507992" cy="3054054"/>
          </a:xfrm>
        </p:grpSpPr>
        <p:grpSp>
          <p:nvGrpSpPr>
            <p:cNvPr id="32" name="Gruppieren 25">
              <a:extLst>
                <a:ext uri="{FF2B5EF4-FFF2-40B4-BE49-F238E27FC236}">
                  <a16:creationId xmlns:a16="http://schemas.microsoft.com/office/drawing/2014/main" id="{14605447-7A3E-2D66-D177-21C95FA40EEC}"/>
                </a:ext>
              </a:extLst>
            </p:cNvPr>
            <p:cNvGrpSpPr/>
            <p:nvPr/>
          </p:nvGrpSpPr>
          <p:grpSpPr>
            <a:xfrm>
              <a:off x="7192266" y="3254252"/>
              <a:ext cx="4418713" cy="3015115"/>
              <a:chOff x="-306733" y="1498971"/>
              <a:chExt cx="12111168" cy="4086807"/>
            </a:xfrm>
          </p:grpSpPr>
          <p:cxnSp>
            <p:nvCxnSpPr>
              <p:cNvPr id="35" name="Straight Arrow Connector 13">
                <a:extLst>
                  <a:ext uri="{FF2B5EF4-FFF2-40B4-BE49-F238E27FC236}">
                    <a16:creationId xmlns:a16="http://schemas.microsoft.com/office/drawing/2014/main" id="{2F3D2EED-AFAF-9CBC-9988-C873207B0CD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3558" y="2178372"/>
                <a:ext cx="0" cy="2852812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DB5D7CBA-55A7-9A75-ECB2-BADE229164D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3557" y="5031162"/>
                <a:ext cx="7839437" cy="22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21">
                <a:extLst>
                  <a:ext uri="{FF2B5EF4-FFF2-40B4-BE49-F238E27FC236}">
                    <a16:creationId xmlns:a16="http://schemas.microsoft.com/office/drawing/2014/main" id="{3B96C39D-2205-7E51-5CC1-10CDD67AF19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093573" y="2290865"/>
                <a:ext cx="0" cy="2710871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23">
                    <a:extLst>
                      <a:ext uri="{FF2B5EF4-FFF2-40B4-BE49-F238E27FC236}">
                        <a16:creationId xmlns:a16="http://schemas.microsoft.com/office/drawing/2014/main" id="{EC4577B5-96EA-C893-9559-2FB9762AD68C}"/>
                      </a:ext>
                    </a:extLst>
                  </p:cNvPr>
                  <p:cNvSpPr txBox="1"/>
                  <p:nvPr/>
                </p:nvSpPr>
                <p:spPr>
                  <a:xfrm>
                    <a:off x="6441067" y="5001737"/>
                    <a:ext cx="1030728" cy="58404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m:rPr>
                              <m:nor/>
                            </m:rPr>
                            <a:rPr lang="en-GB" sz="2800" i="0" smtClean="0">
                              <a:solidFill>
                                <a:srgbClr val="FC560C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GB" sz="2800" i="1">
                                  <a:solidFill>
                                    <a:srgbClr val="FC560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i="1">
                                  <a:solidFill>
                                    <a:srgbClr val="FC560C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800" b="0" i="1" smtClean="0">
                                  <a:solidFill>
                                    <a:srgbClr val="FC560C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GB" altLang="da-DK" sz="2800" i="0" dirty="0">
                              <a:solidFill>
                                <a:srgbClr val="FC560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ato" panose="020F0502020204030203" pitchFamily="34" charset="0"/>
                            </a:rPr>
                            <m:t>|</m:t>
                          </m:r>
                        </m:oMath>
                      </m:oMathPara>
                    </a14:m>
                    <a:endParaRPr lang="en-GB" sz="2800" dirty="0">
                      <a:solidFill>
                        <a:srgbClr val="FC560C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7" name="TextBox 23">
                    <a:extLst>
                      <a:ext uri="{FF2B5EF4-FFF2-40B4-BE49-F238E27FC236}">
                        <a16:creationId xmlns:a16="http://schemas.microsoft.com/office/drawing/2014/main" id="{EC4577B5-96EA-C893-9559-2FB9762AD6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41067" y="5001737"/>
                    <a:ext cx="1030728" cy="584041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40984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133B309A-8EC4-B90B-7031-55699AE13ABA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6361" y="4680203"/>
                    <a:ext cx="1788074" cy="70191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depth</m:t>
                          </m:r>
                        </m:oMath>
                      </m:oMathPara>
                    </a14:m>
                    <a:endParaRPr lang="en-GB" sz="2800" dirty="0"/>
                  </a:p>
                </p:txBody>
              </p:sp>
            </mc:Choice>
            <mc:Fallback xmlns="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133B309A-8EC4-B90B-7031-55699AE13AB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6361" y="4680203"/>
                    <a:ext cx="1788074" cy="70191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32710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9" name="Straight Connector 21">
                <a:extLst>
                  <a:ext uri="{FF2B5EF4-FFF2-40B4-BE49-F238E27FC236}">
                    <a16:creationId xmlns:a16="http://schemas.microsoft.com/office/drawing/2014/main" id="{2F1B73DE-DAA6-5490-425A-5476BDA1E5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63556" y="2638729"/>
                <a:ext cx="7607240" cy="0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Box 23">
                    <a:extLst>
                      <a:ext uri="{FF2B5EF4-FFF2-40B4-BE49-F238E27FC236}">
                        <a16:creationId xmlns:a16="http://schemas.microsoft.com/office/drawing/2014/main" id="{3C421441-597F-2D96-383D-FF5C6DDE2954}"/>
                      </a:ext>
                    </a:extLst>
                  </p:cNvPr>
                  <p:cNvSpPr txBox="1"/>
                  <p:nvPr/>
                </p:nvSpPr>
                <p:spPr>
                  <a:xfrm>
                    <a:off x="-306733" y="2356967"/>
                    <a:ext cx="2034480" cy="58404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right"/>
                        </m:oMathParaPr>
                        <m:oMath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oMath>
                      </m:oMathPara>
                    </a14:m>
                    <a:endParaRPr lang="en-GB" sz="2800" dirty="0"/>
                  </a:p>
                </p:txBody>
              </p:sp>
            </mc:Choice>
            <mc:Fallback xmlns="">
              <p:sp>
                <p:nvSpPr>
                  <p:cNvPr id="40" name="TextBox 23">
                    <a:extLst>
                      <a:ext uri="{FF2B5EF4-FFF2-40B4-BE49-F238E27FC236}">
                        <a16:creationId xmlns:a16="http://schemas.microsoft.com/office/drawing/2014/main" id="{3C421441-597F-2D96-383D-FF5C6DDE295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306733" y="2356967"/>
                    <a:ext cx="2034480" cy="584041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27">
                    <a:extLst>
                      <a:ext uri="{FF2B5EF4-FFF2-40B4-BE49-F238E27FC236}">
                        <a16:creationId xmlns:a16="http://schemas.microsoft.com/office/drawing/2014/main" id="{DFF9B303-51FF-B4C1-1F29-FA046A5305FB}"/>
                      </a:ext>
                    </a:extLst>
                  </p:cNvPr>
                  <p:cNvSpPr txBox="1"/>
                  <p:nvPr/>
                </p:nvSpPr>
                <p:spPr>
                  <a:xfrm>
                    <a:off x="1192986" y="1498971"/>
                    <a:ext cx="405022" cy="70191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width</m:t>
                          </m:r>
                        </m:oMath>
                      </m:oMathPara>
                    </a14:m>
                    <a:endParaRPr lang="en-GB" sz="2800" dirty="0"/>
                  </a:p>
                </p:txBody>
              </p:sp>
            </mc:Choice>
            <mc:Fallback xmlns="">
              <p:sp>
                <p:nvSpPr>
                  <p:cNvPr id="41" name="TextBox 27">
                    <a:extLst>
                      <a:ext uri="{FF2B5EF4-FFF2-40B4-BE49-F238E27FC236}">
                        <a16:creationId xmlns:a16="http://schemas.microsoft.com/office/drawing/2014/main" id="{DFF9B303-51FF-B4C1-1F29-FA046A5305F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92986" y="1498971"/>
                    <a:ext cx="405022" cy="70191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r="-495833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2" name="Verbindungsstelle 40">
              <a:extLst>
                <a:ext uri="{FF2B5EF4-FFF2-40B4-BE49-F238E27FC236}">
                  <a16:creationId xmlns:a16="http://schemas.microsoft.com/office/drawing/2014/main" id="{91CB08B8-D51E-8AFA-6C3F-5C1D7CC6788F}"/>
                </a:ext>
              </a:extLst>
            </p:cNvPr>
            <p:cNvSpPr/>
            <p:nvPr/>
          </p:nvSpPr>
          <p:spPr>
            <a:xfrm flipH="1">
              <a:off x="8379667" y="4760680"/>
              <a:ext cx="100070" cy="94336"/>
            </a:xfrm>
            <a:prstGeom prst="flowChartConnector">
              <a:avLst/>
            </a:prstGeom>
            <a:solidFill>
              <a:srgbClr val="3C28FB"/>
            </a:solidFill>
            <a:ln>
              <a:solidFill>
                <a:srgbClr val="3C28F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3" name="Verbindungsstelle 40">
              <a:extLst>
                <a:ext uri="{FF2B5EF4-FFF2-40B4-BE49-F238E27FC236}">
                  <a16:creationId xmlns:a16="http://schemas.microsoft.com/office/drawing/2014/main" id="{48EFE75E-8251-3E0E-14F8-5E03256E1844}"/>
                </a:ext>
              </a:extLst>
            </p:cNvPr>
            <p:cNvSpPr/>
            <p:nvPr/>
          </p:nvSpPr>
          <p:spPr>
            <a:xfrm flipH="1">
              <a:off x="9848554" y="5588971"/>
              <a:ext cx="100070" cy="94336"/>
            </a:xfrm>
            <a:prstGeom prst="flowChartConnector">
              <a:avLst/>
            </a:prstGeom>
            <a:solidFill>
              <a:srgbClr val="3C28FB"/>
            </a:solidFill>
            <a:ln>
              <a:solidFill>
                <a:srgbClr val="3C28F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23">
                  <a:extLst>
                    <a:ext uri="{FF2B5EF4-FFF2-40B4-BE49-F238E27FC236}">
                      <a16:creationId xmlns:a16="http://schemas.microsoft.com/office/drawing/2014/main" id="{A1B4E504-D883-9BC9-E6B0-F4B73AF6DC68}"/>
                    </a:ext>
                  </a:extLst>
                </p:cNvPr>
                <p:cNvSpPr txBox="1"/>
                <p:nvPr/>
              </p:nvSpPr>
              <p:spPr>
                <a:xfrm>
                  <a:off x="7102987" y="5429302"/>
                  <a:ext cx="831392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>
                        <m:r>
                          <a:rPr lang="en-US" sz="2800" b="0" i="1" smtClean="0">
                            <a:solidFill>
                              <a:srgbClr val="FC560C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800" b="0" i="1" smtClean="0">
                            <a:solidFill>
                              <a:srgbClr val="FC560C"/>
                            </a:solidFill>
                            <a:latin typeface="Cambria Math" panose="02040503050406030204" pitchFamily="18" charset="0"/>
                          </a:rPr>
                          <m:t>+3</m:t>
                        </m:r>
                      </m:oMath>
                    </m:oMathPara>
                  </a14:m>
                  <a:endParaRPr lang="en-GB" sz="2800" dirty="0">
                    <a:solidFill>
                      <a:srgbClr val="FC560C"/>
                    </a:solidFill>
                  </a:endParaRPr>
                </a:p>
              </p:txBody>
            </p:sp>
          </mc:Choice>
          <mc:Fallback xmlns="">
            <p:sp>
              <p:nvSpPr>
                <p:cNvPr id="45" name="TextBox 23">
                  <a:extLst>
                    <a:ext uri="{FF2B5EF4-FFF2-40B4-BE49-F238E27FC236}">
                      <a16:creationId xmlns:a16="http://schemas.microsoft.com/office/drawing/2014/main" id="{A1B4E504-D883-9BC9-E6B0-F4B73AF6DC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2987" y="5429302"/>
                  <a:ext cx="831392" cy="43088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23">
                  <a:extLst>
                    <a:ext uri="{FF2B5EF4-FFF2-40B4-BE49-F238E27FC236}">
                      <a16:creationId xmlns:a16="http://schemas.microsoft.com/office/drawing/2014/main" id="{E1840092-7301-C7CA-F4EC-D2375E031C7D}"/>
                    </a:ext>
                  </a:extLst>
                </p:cNvPr>
                <p:cNvSpPr txBox="1"/>
                <p:nvPr/>
              </p:nvSpPr>
              <p:spPr>
                <a:xfrm>
                  <a:off x="8053645" y="5877419"/>
                  <a:ext cx="376057" cy="43088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func>
                          <m:funcPr>
                            <m:ctrlPr>
                              <a:rPr lang="en-US" sz="2800" b="0" i="1" smtClean="0">
                                <a:solidFill>
                                  <a:srgbClr val="3C28FB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</m:ctrlPr>
                          </m:funcPr>
                          <m:fName>
                            <m:r>
                              <a:rPr lang="en-US" sz="2800" b="0" i="1" smtClean="0">
                                <a:solidFill>
                                  <a:srgbClr val="3C28FB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GB" sz="2800">
                                <a:solidFill>
                                  <a:srgbClr val="3C28FB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GB" sz="2800" i="1">
                                <a:solidFill>
                                  <a:srgbClr val="3C28FB"/>
                                </a:solidFill>
                                <a:latin typeface="Cambria Math" panose="02040503050406030204" pitchFamily="18" charset="0"/>
                                <a:ea typeface="Lato" panose="020F0502020204030203" pitchFamily="34" charset="0"/>
                                <a:cs typeface="Lato" panose="020F0502020204030203" pitchFamily="34" charset="0"/>
                              </a:rPr>
                              <m:t>𝐿</m:t>
                            </m:r>
                          </m:e>
                        </m:func>
                      </m:oMath>
                    </m:oMathPara>
                  </a14:m>
                  <a:endParaRPr lang="en-GB" sz="2800" dirty="0"/>
                </a:p>
              </p:txBody>
            </p:sp>
          </mc:Choice>
          <mc:Fallback xmlns="">
            <p:sp>
              <p:nvSpPr>
                <p:cNvPr id="47" name="TextBox 23">
                  <a:extLst>
                    <a:ext uri="{FF2B5EF4-FFF2-40B4-BE49-F238E27FC236}">
                      <a16:creationId xmlns:a16="http://schemas.microsoft.com/office/drawing/2014/main" id="{E1840092-7301-C7CA-F4EC-D2375E031C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3645" y="5877419"/>
                  <a:ext cx="376057" cy="430887"/>
                </a:xfrm>
                <a:prstGeom prst="rect">
                  <a:avLst/>
                </a:prstGeom>
                <a:blipFill>
                  <a:blip r:embed="rId15"/>
                  <a:stretch>
                    <a:fillRect r="-13709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C152EE1E-5D2B-6B5C-698E-281A9191EDB2}"/>
                  </a:ext>
                </a:extLst>
              </p:cNvPr>
              <p:cNvSpPr txBox="1"/>
              <p:nvPr/>
            </p:nvSpPr>
            <p:spPr>
              <a:xfrm>
                <a:off x="10139802" y="3556128"/>
                <a:ext cx="22899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Lato" panose="020F0502020204030203" pitchFamily="34" charset="0"/>
                      </a:rPr>
                      <m:t>⟹</m:t>
                    </m:r>
                  </m:oMath>
                </a14:m>
                <a:r>
                  <a:rPr lang="en-GB" sz="2400" b="1" dirty="0">
                    <a:solidFill>
                      <a:srgbClr val="FF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trade-off</a:t>
                </a: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C152EE1E-5D2B-6B5C-698E-281A9191ED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39802" y="3556128"/>
                <a:ext cx="2289982" cy="461665"/>
              </a:xfrm>
              <a:prstGeom prst="rect">
                <a:avLst/>
              </a:prstGeom>
              <a:blipFill>
                <a:blip r:embed="rId16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0413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62" grpId="0" animBg="1"/>
      <p:bldP spid="7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Foliennummernplatzhalter 103">
            <a:extLst>
              <a:ext uri="{FF2B5EF4-FFF2-40B4-BE49-F238E27FC236}">
                <a16:creationId xmlns:a16="http://schemas.microsoft.com/office/drawing/2014/main" id="{7204DD0A-547D-FFBB-C823-8E2F89E9B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20</a:t>
            </a:fld>
            <a:endParaRPr lang="en-GB" dirty="0"/>
          </a:p>
        </p:txBody>
      </p:sp>
      <p:sp>
        <p:nvSpPr>
          <p:cNvPr id="110" name="TextBox 1">
            <a:extLst>
              <a:ext uri="{FF2B5EF4-FFF2-40B4-BE49-F238E27FC236}">
                <a16:creationId xmlns:a16="http://schemas.microsoft.com/office/drawing/2014/main" id="{D7307E29-C2CF-442C-79D1-85980935AAC7}"/>
              </a:ext>
            </a:extLst>
          </p:cNvPr>
          <p:cNvSpPr txBox="1"/>
          <p:nvPr/>
        </p:nvSpPr>
        <p:spPr>
          <a:xfrm>
            <a:off x="898498" y="490791"/>
            <a:ext cx="1101156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altLang="zh-CN" sz="2800" b="1" dirty="0">
                <a:solidFill>
                  <a:srgbClr val="3C28F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Key Idea: Variable Compression</a:t>
            </a:r>
            <a:r>
              <a:rPr lang="en-GB" altLang="zh-CN" sz="2800" dirty="0">
                <a:solidFill>
                  <a:srgbClr val="3C28F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altLang="zh-CN" sz="24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[Grohe-Lichter-</a:t>
            </a:r>
            <a:r>
              <a:rPr lang="en-GB" altLang="zh-CN" sz="2400" dirty="0" err="1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Neuen</a:t>
            </a:r>
            <a:r>
              <a:rPr lang="en-GB" altLang="zh-CN" sz="24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-Schweitzer 2023]</a:t>
            </a:r>
          </a:p>
        </p:txBody>
      </p:sp>
      <p:pic>
        <p:nvPicPr>
          <p:cNvPr id="3" name="compression.pdf" descr="compression.pdf">
            <a:extLst>
              <a:ext uri="{FF2B5EF4-FFF2-40B4-BE49-F238E27FC236}">
                <a16:creationId xmlns:a16="http://schemas.microsoft.com/office/drawing/2014/main" id="{42257008-8726-27BD-75F8-6B45A0034D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644" t="22015" r="35644" b="53529"/>
          <a:stretch>
            <a:fillRect/>
          </a:stretch>
        </p:blipFill>
        <p:spPr>
          <a:xfrm>
            <a:off x="723697" y="1774127"/>
            <a:ext cx="5248046" cy="3454206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compression.pdf" descr="compression.pdf">
            <a:extLst>
              <a:ext uri="{FF2B5EF4-FFF2-40B4-BE49-F238E27FC236}">
                <a16:creationId xmlns:a16="http://schemas.microsoft.com/office/drawing/2014/main" id="{AD285445-30E5-B60D-4736-01B16FB71A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251" t="50852" r="35139" b="22459"/>
          <a:stretch>
            <a:fillRect/>
          </a:stretch>
        </p:blipFill>
        <p:spPr>
          <a:xfrm>
            <a:off x="5533697" y="1474076"/>
            <a:ext cx="5675586" cy="3754257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17DD5B3-0AC5-9BAF-5277-F688176D6B61}"/>
              </a:ext>
            </a:extLst>
          </p:cNvPr>
          <p:cNvSpPr txBox="1"/>
          <p:nvPr/>
        </p:nvSpPr>
        <p:spPr>
          <a:xfrm>
            <a:off x="6581086" y="5290744"/>
            <a:ext cx="4048442" cy="83099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 dirty="0">
                <a:solidFill>
                  <a:srgbClr val="3C28F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Variable substitution </a:t>
            </a:r>
          </a:p>
          <a:p>
            <a:pPr algn="ctr"/>
            <a:r>
              <a:rPr lang="en-GB" sz="2400" dirty="0">
                <a:solidFill>
                  <a:srgbClr val="3C28F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(with lots of collisions)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841AED-E6EB-FF56-7A66-7F810BD599ED}"/>
              </a:ext>
            </a:extLst>
          </p:cNvPr>
          <p:cNvSpPr txBox="1"/>
          <p:nvPr/>
        </p:nvSpPr>
        <p:spPr>
          <a:xfrm>
            <a:off x="1115146" y="5475411"/>
            <a:ext cx="4465147" cy="46166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24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Substitution with XOR gadgets</a:t>
            </a:r>
            <a:endParaRPr lang="en-GB"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3886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E2102-1006-1FF3-7CF1-BA4BDB4E6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ylindernarrow.pdf" descr="cylindernarrow.pdf">
            <a:extLst>
              <a:ext uri="{FF2B5EF4-FFF2-40B4-BE49-F238E27FC236}">
                <a16:creationId xmlns:a16="http://schemas.microsoft.com/office/drawing/2014/main" id="{E7ACB2B2-BA3A-1BF1-255E-74C71941A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40" y="1324260"/>
            <a:ext cx="11256593" cy="1656964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9E90082-4141-A3E6-2BC3-EB047C9B5BC9}"/>
              </a:ext>
            </a:extLst>
          </p:cNvPr>
          <p:cNvSpPr txBox="1"/>
          <p:nvPr/>
        </p:nvSpPr>
        <p:spPr>
          <a:xfrm>
            <a:off x="1369719" y="473242"/>
            <a:ext cx="7830428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8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Graph and </a:t>
            </a:r>
            <a:r>
              <a:rPr lang="en-GB" sz="2800" dirty="0" err="1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Tseitin</a:t>
            </a:r>
            <a:r>
              <a:rPr lang="en-GB" sz="28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 Formula after Compression</a:t>
            </a:r>
          </a:p>
        </p:txBody>
      </p:sp>
      <p:sp>
        <p:nvSpPr>
          <p:cNvPr id="41" name="Foliennummernplatzhalter 40">
            <a:extLst>
              <a:ext uri="{FF2B5EF4-FFF2-40B4-BE49-F238E27FC236}">
                <a16:creationId xmlns:a16="http://schemas.microsoft.com/office/drawing/2014/main" id="{924C1C74-4242-822E-D5B1-50E993C53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21</a:t>
            </a:fld>
            <a:endParaRPr lang="en-GB" dirty="0"/>
          </a:p>
        </p:txBody>
      </p:sp>
      <p:pic>
        <p:nvPicPr>
          <p:cNvPr id="4" name="Line Line" descr="Line Line">
            <a:extLst>
              <a:ext uri="{FF2B5EF4-FFF2-40B4-BE49-F238E27FC236}">
                <a16:creationId xmlns:a16="http://schemas.microsoft.com/office/drawing/2014/main" id="{F675CBDE-0B64-CB26-8D05-790BD9F599DB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624256" y="2204986"/>
            <a:ext cx="2402308" cy="45719"/>
          </a:xfrm>
          <a:prstGeom prst="rect">
            <a:avLst/>
          </a:prstGeom>
        </p:spPr>
      </p:pic>
      <p:pic>
        <p:nvPicPr>
          <p:cNvPr id="5" name="Line Line" descr="Line Line">
            <a:extLst>
              <a:ext uri="{FF2B5EF4-FFF2-40B4-BE49-F238E27FC236}">
                <a16:creationId xmlns:a16="http://schemas.microsoft.com/office/drawing/2014/main" id="{B8950307-4BF7-61E7-BB3B-BD1F269E8F2C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9203890" y="2144058"/>
            <a:ext cx="2402308" cy="45719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45BECADA-D639-7817-AA3E-70FFA5662D79}"/>
              </a:ext>
            </a:extLst>
          </p:cNvPr>
          <p:cNvGrpSpPr/>
          <p:nvPr/>
        </p:nvGrpSpPr>
        <p:grpSpPr>
          <a:xfrm>
            <a:off x="120316" y="3650200"/>
            <a:ext cx="11947793" cy="946147"/>
            <a:chOff x="1442966" y="3753896"/>
            <a:chExt cx="9999013" cy="946147"/>
          </a:xfrm>
        </p:grpSpPr>
        <p:sp>
          <p:nvSpPr>
            <p:cNvPr id="8" name="Left Brace 7">
              <a:extLst>
                <a:ext uri="{FF2B5EF4-FFF2-40B4-BE49-F238E27FC236}">
                  <a16:creationId xmlns:a16="http://schemas.microsoft.com/office/drawing/2014/main" id="{FF568A41-26A5-F269-D8BB-BCF985159F6C}"/>
                </a:ext>
              </a:extLst>
            </p:cNvPr>
            <p:cNvSpPr/>
            <p:nvPr/>
          </p:nvSpPr>
          <p:spPr>
            <a:xfrm rot="16200000">
              <a:off x="2105956" y="3461756"/>
              <a:ext cx="411478" cy="1018342"/>
            </a:xfrm>
            <a:prstGeom prst="leftBrace">
              <a:avLst/>
            </a:prstGeom>
            <a:ln w="19050">
              <a:prstDash val="sysDot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E0BF813-956D-B089-EB04-865B3DC3F1C5}"/>
                    </a:ext>
                  </a:extLst>
                </p:cNvPr>
                <p:cNvSpPr txBox="1"/>
                <p:nvPr/>
              </p:nvSpPr>
              <p:spPr>
                <a:xfrm>
                  <a:off x="1442966" y="4231838"/>
                  <a:ext cx="1789993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sz="2400" b="0" dirty="0"/>
                    <a:t>Left</a:t>
                  </a:r>
                  <a:r>
                    <a:rPr lang="en-GB" sz="2400" dirty="0"/>
                    <a:t> </a:t>
                  </a:r>
                  <a:r>
                    <a:rPr lang="en-GB" sz="2400" b="0" dirty="0"/>
                    <a:t>(</a:t>
                  </a:r>
                  <a14:m>
                    <m:oMath xmlns:m="http://schemas.openxmlformats.org/officeDocument/2006/math"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GB" sz="2400" b="0" i="1" dirty="0" smtClean="0">
                          <a:latin typeface="Cambria Math" panose="02040503050406030204" pitchFamily="18" charset="0"/>
                        </a:rPr>
                        <m:t>𝑘</m:t>
                      </m:r>
                    </m:oMath>
                  </a14:m>
                  <a:r>
                    <a:rPr lang="en-GB" sz="2400" dirty="0"/>
                    <a:t>)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BE0BF813-956D-B089-EB04-865B3DC3F1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2966" y="4231838"/>
                  <a:ext cx="1789993" cy="461665"/>
                </a:xfrm>
                <a:prstGeom prst="rect">
                  <a:avLst/>
                </a:prstGeom>
                <a:blipFill>
                  <a:blip r:embed="rId5"/>
                  <a:stretch>
                    <a:fillRect t="-10526" b="-2894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40AECDC-354F-8451-8A65-29BD3B393511}"/>
                </a:ext>
              </a:extLst>
            </p:cNvPr>
            <p:cNvGrpSpPr/>
            <p:nvPr/>
          </p:nvGrpSpPr>
          <p:grpSpPr>
            <a:xfrm>
              <a:off x="9804421" y="3753896"/>
              <a:ext cx="1637558" cy="911373"/>
              <a:chOff x="1999419" y="4234945"/>
              <a:chExt cx="1637558" cy="911373"/>
            </a:xfrm>
          </p:grpSpPr>
          <p:sp>
            <p:nvSpPr>
              <p:cNvPr id="14" name="Left Brace 13">
                <a:extLst>
                  <a:ext uri="{FF2B5EF4-FFF2-40B4-BE49-F238E27FC236}">
                    <a16:creationId xmlns:a16="http://schemas.microsoft.com/office/drawing/2014/main" id="{B53BDECC-590C-482A-62FA-078EC94B765C}"/>
                  </a:ext>
                </a:extLst>
              </p:cNvPr>
              <p:cNvSpPr/>
              <p:nvPr/>
            </p:nvSpPr>
            <p:spPr>
              <a:xfrm rot="16200000">
                <a:off x="2610251" y="3931513"/>
                <a:ext cx="411480" cy="1018344"/>
              </a:xfrm>
              <a:prstGeom prst="leftBrace">
                <a:avLst>
                  <a:gd name="adj1" fmla="val 7798"/>
                  <a:gd name="adj2" fmla="val 46984"/>
                </a:avLst>
              </a:prstGeom>
              <a:ln w="19050"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45E9F8FC-4B91-B875-2E04-7AEE5F3B2911}"/>
                      </a:ext>
                    </a:extLst>
                  </p:cNvPr>
                  <p:cNvSpPr txBox="1"/>
                  <p:nvPr/>
                </p:nvSpPr>
                <p:spPr>
                  <a:xfrm>
                    <a:off x="1999419" y="4684653"/>
                    <a:ext cx="1637558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GB" sz="2400" dirty="0"/>
                      <a:t>Right </a:t>
                    </a:r>
                    <a:r>
                      <a:rPr lang="en-GB" sz="2400" b="0" dirty="0"/>
                      <a:t>(</a:t>
                    </a:r>
                    <a14:m>
                      <m:oMath xmlns:m="http://schemas.openxmlformats.org/officeDocument/2006/math"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GB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a14:m>
                    <a:r>
                      <a:rPr lang="en-GB" sz="2400" dirty="0"/>
                      <a:t>)</a:t>
                    </a:r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45E9F8FC-4B91-B875-2E04-7AEE5F3B291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99419" y="4684653"/>
                    <a:ext cx="1637558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10667" b="-30667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3D8852E0-95EC-208D-C184-7AC897BB9481}"/>
                </a:ext>
              </a:extLst>
            </p:cNvPr>
            <p:cNvGrpSpPr/>
            <p:nvPr/>
          </p:nvGrpSpPr>
          <p:grpSpPr>
            <a:xfrm>
              <a:off x="2867818" y="3763605"/>
              <a:ext cx="7205738" cy="936438"/>
              <a:chOff x="1454482" y="4307202"/>
              <a:chExt cx="1794581" cy="936438"/>
            </a:xfrm>
          </p:grpSpPr>
          <p:sp>
            <p:nvSpPr>
              <p:cNvPr id="12" name="Left Brace 11">
                <a:extLst>
                  <a:ext uri="{FF2B5EF4-FFF2-40B4-BE49-F238E27FC236}">
                    <a16:creationId xmlns:a16="http://schemas.microsoft.com/office/drawing/2014/main" id="{B501385A-9C42-B9F4-25B8-94BA0F35C161}"/>
                  </a:ext>
                </a:extLst>
              </p:cNvPr>
              <p:cNvSpPr/>
              <p:nvPr/>
            </p:nvSpPr>
            <p:spPr>
              <a:xfrm rot="16200000">
                <a:off x="2146033" y="3615651"/>
                <a:ext cx="411480" cy="1794581"/>
              </a:xfrm>
              <a:prstGeom prst="leftBrace">
                <a:avLst>
                  <a:gd name="adj1" fmla="val 60802"/>
                  <a:gd name="adj2" fmla="val 50000"/>
                </a:avLst>
              </a:prstGeom>
              <a:ln w="19050">
                <a:prstDash val="sysDot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GB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E49211AE-188F-0209-45B7-1F48DC1157E7}"/>
                      </a:ext>
                    </a:extLst>
                  </p:cNvPr>
                  <p:cNvSpPr txBox="1"/>
                  <p:nvPr/>
                </p:nvSpPr>
                <p:spPr>
                  <a:xfrm>
                    <a:off x="1858226" y="4775435"/>
                    <a:ext cx="1011003" cy="46820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≈</m:t>
                          </m:r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oMath>
                      </m:oMathPara>
                    </a14:m>
                    <a:endParaRPr lang="en-GB" sz="2400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E49211AE-188F-0209-45B7-1F48DC1157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58226" y="4775435"/>
                    <a:ext cx="1011003" cy="468205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318993C-0B0F-F79E-2049-9401452BF9CC}"/>
                  </a:ext>
                </a:extLst>
              </p:cNvPr>
              <p:cNvSpPr txBox="1"/>
              <p:nvPr/>
            </p:nvSpPr>
            <p:spPr>
              <a:xfrm>
                <a:off x="1361035" y="4704111"/>
                <a:ext cx="9494001" cy="20241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altLang="zh-CN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Vertex </a:t>
                </a:r>
                <a:r>
                  <a:rPr lang="en-GB" altLang="zh-CN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equivalence</a:t>
                </a:r>
                <a:r>
                  <a:rPr lang="en-GB" altLang="zh-CN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altLang="zh-CN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classes</a:t>
                </a:r>
                <a:r>
                  <a:rPr lang="en-GB" altLang="zh-CN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zh-CN" altLang="en-GB" sz="2400" i="1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CN" altLang="en-GB" sz="2400" i="1">
                                <a:latin typeface="Cambria Math" panose="02040503050406030204" pitchFamily="18" charset="0"/>
                                <a:cs typeface="Iskoola Pota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zh-CN" altLang="en-GB" sz="2400" i="1">
                                <a:latin typeface="Cambria Math" panose="02040503050406030204" pitchFamily="18" charset="0"/>
                                <a:cs typeface="Iskoola Pota" panose="020B0502040204020203" pitchFamily="34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GB" altLang="zh-CN" sz="2400" i="1">
                                <a:latin typeface="Cambria Math" panose="02040503050406030204" pitchFamily="18" charset="0"/>
                                <a:cs typeface="Iskoola Pota" panose="020B0502040204020203" pitchFamily="34" charset="0"/>
                              </a:rPr>
                              <m:t>ℓ</m:t>
                            </m:r>
                          </m:sub>
                        </m:sSub>
                      </m:e>
                    </m:d>
                    <m:r>
                      <a:rPr lang="en-GB" altLang="zh-CN" sz="2400" i="1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={</m:t>
                    </m:r>
                    <m:sSub>
                      <m:sSubPr>
                        <m:ctrlPr>
                          <a:rPr lang="zh-CN" altLang="en-GB" sz="2400" i="1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</m:ctrlPr>
                      </m:sSubPr>
                      <m:e>
                        <m:r>
                          <a:rPr lang="zh-CN" altLang="en-GB" sz="2400" i="1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𝑣</m:t>
                        </m:r>
                      </m:e>
                      <m:sub>
                        <m:r>
                          <a:rPr lang="zh-CN" altLang="en-GB" sz="2400" i="1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𝑗</m:t>
                        </m:r>
                      </m:sub>
                    </m:sSub>
                    <m:r>
                      <a:rPr lang="en-GB" altLang="zh-CN" sz="2400" i="1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∣</m:t>
                    </m:r>
                    <m:r>
                      <a:rPr lang="zh-CN" altLang="en-GB" sz="2400" i="1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𝑗</m:t>
                    </m:r>
                    <m:r>
                      <a:rPr lang="en-GB" altLang="zh-CN" sz="2400" i="1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≡</m:t>
                    </m:r>
                    <m:r>
                      <m:rPr>
                        <m:sty m:val="p"/>
                      </m:rPr>
                      <a:rPr lang="en-GB" altLang="zh-CN" sz="2400" i="1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ℓ</m:t>
                    </m:r>
                    <m:r>
                      <a:rPr lang="en-GB" altLang="zh-CN" sz="2400" i="1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GB" altLang="zh-CN" sz="2400" i="0" dirty="0">
                        <a:latin typeface="Lato" panose="020F0502020204030203" pitchFamily="34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mod </m:t>
                    </m:r>
                    <m:sSub>
                      <m:sSubPr>
                        <m:ctrlPr>
                          <a:rPr lang="zh-CN" alt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</m:ctrlPr>
                      </m:sSubPr>
                      <m:e>
                        <m:r>
                          <a:rPr lang="zh-CN" alt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𝑚</m:t>
                        </m:r>
                      </m:e>
                      <m:sub>
                        <m:r>
                          <a:rPr lang="zh-CN" altLang="en-GB" sz="24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𝑖</m:t>
                        </m:r>
                      </m:sub>
                    </m:sSub>
                    <m:r>
                      <a:rPr lang="en-GB" altLang="zh-CN" sz="2400" i="1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}</m:t>
                    </m:r>
                  </m:oMath>
                </a14:m>
                <a:r>
                  <a:rPr lang="en-GB" altLang="zh-CN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for modulus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Lato" panose="020F0502020204030203" pitchFamily="34" charset="0"/>
                            <a:cs typeface="Lato" panose="020F0502020204030203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altLang="zh-CN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chosen for  row </a:t>
                </a:r>
                <a14:m>
                  <m:oMath xmlns:m="http://schemas.openxmlformats.org/officeDocument/2006/math">
                    <m:r>
                      <a:rPr lang="zh-CN" altLang="en-GB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𝑖</m:t>
                    </m:r>
                  </m:oMath>
                </a14:m>
                <a:r>
                  <a:rPr lang="en-GB" altLang="zh-CN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(</a:t>
                </a:r>
                <a:r>
                  <a:rPr lang="en-GB" altLang="zh-CN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except</a:t>
                </a:r>
                <a:r>
                  <a:rPr lang="en-GB" altLang="zh-CN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altLang="zh-CN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ends</a:t>
                </a:r>
                <a:r>
                  <a:rPr lang="en-GB" altLang="zh-CN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altLang="zh-CN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Induces</a:t>
                </a:r>
                <a:r>
                  <a:rPr lang="en-GB" altLang="zh-CN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altLang="zh-CN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edge</a:t>
                </a:r>
                <a:r>
                  <a:rPr lang="en-GB" altLang="zh-CN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altLang="zh-CN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equivalence</a:t>
                </a:r>
                <a:r>
                  <a:rPr lang="en-GB" altLang="zh-CN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altLang="zh-CN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classes</a:t>
                </a:r>
                <a:r>
                  <a:rPr lang="en-GB" altLang="zh-CN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altLang="zh-CN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[</m:t>
                    </m:r>
                    <m:r>
                      <a:rPr lang="zh-CN" altLang="en-GB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𝑒</m:t>
                    </m:r>
                    <m:r>
                      <a:rPr lang="en-GB" altLang="zh-CN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]</m:t>
                    </m:r>
                  </m:oMath>
                </a14:m>
                <a:endParaRPr lang="en-GB" altLang="zh-CN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Compressed formula: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d>
                          <m:dPr>
                            <m:begChr m:val="["/>
                            <m:endChr m:val="]"/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brk m:alnAt="7"/>
                              </m:rPr>
                              <a:rPr lang="en-GB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</m:d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∋[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]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]</m:t>
                            </m:r>
                          </m:sub>
                        </m:sSub>
                      </m:e>
                    </m:nary>
                    <m:r>
                      <a:rPr lang="en-GB" sz="2400" i="1">
                        <a:latin typeface="Cambria Math" panose="02040503050406030204" pitchFamily="18" charset="0"/>
                      </a:rPr>
                      <m:t>=1 </m:t>
                    </m:r>
                    <m:r>
                      <m:rPr>
                        <m:sty m:val="p"/>
                      </m:rPr>
                      <a:rPr lang="en-GB" sz="2400" i="1">
                        <a:latin typeface="Cambria Math" panose="02040503050406030204" pitchFamily="18" charset="0"/>
                      </a:rPr>
                      <m:t>mod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 2   </m:t>
                    </m:r>
                    <m:r>
                      <m:rPr>
                        <m:sty m:val="p"/>
                      </m:rPr>
                      <a:rPr lang="en-GB" sz="2400">
                        <a:latin typeface="Cambria Math" panose="02040503050406030204" pitchFamily="18" charset="0"/>
                      </a:rPr>
                      <m:t>iff</m:t>
                    </m:r>
                    <m:r>
                      <a:rPr lang="en-GB" sz="2400">
                        <a:latin typeface="Cambria Math" panose="02040503050406030204" pitchFamily="18" charset="0"/>
                      </a:rPr>
                      <m:t>   [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]=</m:t>
                    </m:r>
                    <m:sSub>
                      <m:sSub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GB" altLang="zh-CN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GB" altLang="zh-CN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318993C-0B0F-F79E-2049-9401452BF9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035" y="4704111"/>
                <a:ext cx="9494001" cy="2024144"/>
              </a:xfrm>
              <a:prstGeom prst="rect">
                <a:avLst/>
              </a:prstGeom>
              <a:blipFill>
                <a:blip r:embed="rId8"/>
                <a:stretch>
                  <a:fillRect l="-834" t="-2711" b="-2349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90F8ABB-90FF-31D4-BDC2-A72BCD731B94}"/>
                  </a:ext>
                </a:extLst>
              </p:cNvPr>
              <p:cNvSpPr txBox="1"/>
              <p:nvPr/>
            </p:nvSpPr>
            <p:spPr>
              <a:xfrm>
                <a:off x="280359" y="1173323"/>
                <a:ext cx="2648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90F8ABB-90FF-31D4-BDC2-A72BCD731B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359" y="1173323"/>
                <a:ext cx="264861" cy="369332"/>
              </a:xfrm>
              <a:prstGeom prst="rect">
                <a:avLst/>
              </a:prstGeom>
              <a:blipFill>
                <a:blip r:embed="rId9"/>
                <a:stretch>
                  <a:fillRect r="-418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BBF1309F-8517-2E5F-A010-96F38F2A40CA}"/>
              </a:ext>
            </a:extLst>
          </p:cNvPr>
          <p:cNvGrpSpPr/>
          <p:nvPr/>
        </p:nvGrpSpPr>
        <p:grpSpPr>
          <a:xfrm>
            <a:off x="1932291" y="1474075"/>
            <a:ext cx="7764239" cy="1404154"/>
            <a:chOff x="1932291" y="1474075"/>
            <a:chExt cx="7764239" cy="1404154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B32FA100-D0EF-132D-84E1-5E673686D9C4}"/>
                </a:ext>
              </a:extLst>
            </p:cNvPr>
            <p:cNvSpPr/>
            <p:nvPr/>
          </p:nvSpPr>
          <p:spPr>
            <a:xfrm>
              <a:off x="1932291" y="1474075"/>
              <a:ext cx="137160" cy="13716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1EFEF02-82F1-0F0D-0FB2-8D707A6EB8AB}"/>
                </a:ext>
              </a:extLst>
            </p:cNvPr>
            <p:cNvSpPr/>
            <p:nvPr/>
          </p:nvSpPr>
          <p:spPr>
            <a:xfrm>
              <a:off x="7648723" y="1474075"/>
              <a:ext cx="137160" cy="13716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441C229D-5CC6-8DA6-093B-AF4BB5292787}"/>
                </a:ext>
              </a:extLst>
            </p:cNvPr>
            <p:cNvSpPr/>
            <p:nvPr/>
          </p:nvSpPr>
          <p:spPr>
            <a:xfrm>
              <a:off x="4796857" y="1474075"/>
              <a:ext cx="137160" cy="137160"/>
            </a:xfrm>
            <a:prstGeom prst="ellipse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20D6B03A-4552-6A55-9E75-E5961F9632FD}"/>
                </a:ext>
              </a:extLst>
            </p:cNvPr>
            <p:cNvSpPr/>
            <p:nvPr/>
          </p:nvSpPr>
          <p:spPr>
            <a:xfrm>
              <a:off x="1932291" y="1790436"/>
              <a:ext cx="137160" cy="13716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20684C3-3B09-FB56-1BDF-FC8E455202C7}"/>
                </a:ext>
              </a:extLst>
            </p:cNvPr>
            <p:cNvSpPr/>
            <p:nvPr/>
          </p:nvSpPr>
          <p:spPr>
            <a:xfrm>
              <a:off x="3837291" y="1790436"/>
              <a:ext cx="137160" cy="13716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300C701-B310-013D-99F9-8C61365C83E7}"/>
                </a:ext>
              </a:extLst>
            </p:cNvPr>
            <p:cNvSpPr/>
            <p:nvPr/>
          </p:nvSpPr>
          <p:spPr>
            <a:xfrm>
              <a:off x="9559370" y="1784178"/>
              <a:ext cx="137160" cy="13716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DAD6ACD-8B65-4863-0D9F-D95E601A19F5}"/>
                </a:ext>
              </a:extLst>
            </p:cNvPr>
            <p:cNvSpPr/>
            <p:nvPr/>
          </p:nvSpPr>
          <p:spPr>
            <a:xfrm>
              <a:off x="7653695" y="1784878"/>
              <a:ext cx="137160" cy="13716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75CA9A2-D489-7E0F-9B20-3066B195B016}"/>
                </a:ext>
              </a:extLst>
            </p:cNvPr>
            <p:cNvSpPr/>
            <p:nvPr/>
          </p:nvSpPr>
          <p:spPr>
            <a:xfrm>
              <a:off x="5742291" y="1790436"/>
              <a:ext cx="137160" cy="137160"/>
            </a:xfrm>
            <a:prstGeom prst="ellipse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CD70DD5-1EA8-43D3-704B-F2BAF1FA3729}"/>
                </a:ext>
              </a:extLst>
            </p:cNvPr>
            <p:cNvSpPr/>
            <p:nvPr/>
          </p:nvSpPr>
          <p:spPr>
            <a:xfrm>
              <a:off x="1932291" y="2101997"/>
              <a:ext cx="137160" cy="13716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55CC2FB6-10D2-3758-4324-7D1534971D1E}"/>
                </a:ext>
              </a:extLst>
            </p:cNvPr>
            <p:cNvSpPr/>
            <p:nvPr/>
          </p:nvSpPr>
          <p:spPr>
            <a:xfrm>
              <a:off x="6701141" y="2101997"/>
              <a:ext cx="137160" cy="137160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94B235C7-78DE-7778-F39B-71807AFE38BE}"/>
                </a:ext>
              </a:extLst>
            </p:cNvPr>
            <p:cNvSpPr/>
            <p:nvPr/>
          </p:nvSpPr>
          <p:spPr>
            <a:xfrm>
              <a:off x="1932291" y="2418358"/>
              <a:ext cx="137160" cy="13716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BCFD0DD-D418-72F0-0164-F4E75FE3CFA8}"/>
                </a:ext>
              </a:extLst>
            </p:cNvPr>
            <p:cNvSpPr/>
            <p:nvPr/>
          </p:nvSpPr>
          <p:spPr>
            <a:xfrm>
              <a:off x="8604250" y="2424708"/>
              <a:ext cx="137160" cy="13716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62A5B79-CC23-685D-6300-A20D5A1EB244}"/>
                </a:ext>
              </a:extLst>
            </p:cNvPr>
            <p:cNvSpPr/>
            <p:nvPr/>
          </p:nvSpPr>
          <p:spPr>
            <a:xfrm>
              <a:off x="5113641" y="2424708"/>
              <a:ext cx="137160" cy="137160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CBF281D-B420-F604-2C98-0F994C2787BE}"/>
                </a:ext>
              </a:extLst>
            </p:cNvPr>
            <p:cNvSpPr/>
            <p:nvPr/>
          </p:nvSpPr>
          <p:spPr>
            <a:xfrm>
              <a:off x="1932291" y="2734719"/>
              <a:ext cx="137160" cy="13716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4CEB478-02F8-C92C-A416-AD48D6B50C16}"/>
                </a:ext>
              </a:extLst>
            </p:cNvPr>
            <p:cNvSpPr/>
            <p:nvPr/>
          </p:nvSpPr>
          <p:spPr>
            <a:xfrm>
              <a:off x="3198103" y="2741069"/>
              <a:ext cx="137160" cy="13716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DA8AFDD-EE2E-05D6-6C85-FC2E40AA7BC2}"/>
                </a:ext>
              </a:extLst>
            </p:cNvPr>
            <p:cNvSpPr/>
            <p:nvPr/>
          </p:nvSpPr>
          <p:spPr>
            <a:xfrm>
              <a:off x="4473441" y="2737607"/>
              <a:ext cx="137160" cy="13716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DDE979B8-6999-932F-CADF-384C72BAD76F}"/>
                </a:ext>
              </a:extLst>
            </p:cNvPr>
            <p:cNvSpPr/>
            <p:nvPr/>
          </p:nvSpPr>
          <p:spPr>
            <a:xfrm>
              <a:off x="5742912" y="2740416"/>
              <a:ext cx="137160" cy="13716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F57793F-0E57-CE32-446C-F58C024B9643}"/>
                </a:ext>
              </a:extLst>
            </p:cNvPr>
            <p:cNvSpPr/>
            <p:nvPr/>
          </p:nvSpPr>
          <p:spPr>
            <a:xfrm>
              <a:off x="7015861" y="2741069"/>
              <a:ext cx="137160" cy="13716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83117A2B-5651-A6F4-7FB4-2866F4A10503}"/>
                </a:ext>
              </a:extLst>
            </p:cNvPr>
            <p:cNvSpPr/>
            <p:nvPr/>
          </p:nvSpPr>
          <p:spPr>
            <a:xfrm>
              <a:off x="8285036" y="2741069"/>
              <a:ext cx="137160" cy="13716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69A5D74E-FC87-B98B-E86B-6199249D56FB}"/>
                </a:ext>
              </a:extLst>
            </p:cNvPr>
            <p:cNvSpPr/>
            <p:nvPr/>
          </p:nvSpPr>
          <p:spPr>
            <a:xfrm>
              <a:off x="9554491" y="2737668"/>
              <a:ext cx="137160" cy="137160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837459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19FA7-DCD1-FE5A-DE8B-D17913EDC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0C194E-FC98-DDAF-0238-BAB3829DC143}"/>
                  </a:ext>
                </a:extLst>
              </p:cNvPr>
              <p:cNvSpPr txBox="1"/>
              <p:nvPr/>
            </p:nvSpPr>
            <p:spPr>
              <a:xfrm>
                <a:off x="1272035" y="516412"/>
                <a:ext cx="10577065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GB" altLang="zh-CN" sz="2800" dirty="0">
                    <a:solidFill>
                      <a:srgbClr val="3C28FB"/>
                    </a:solidFill>
                    <a:latin typeface="Lato SemiBold" panose="020F0502020204030203" pitchFamily="34" charset="0"/>
                    <a:ea typeface="Lato SemiBold" panose="020F0502020204030203" pitchFamily="34" charset="0"/>
                    <a:cs typeface="Lato SemiBold" panose="020F0502020204030203" pitchFamily="34" charset="0"/>
                  </a:rPr>
                  <a:t>Edge Equivalence Between Two Rows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  <a:ea typeface="Lato SemiBold" panose="020F0502020204030203" pitchFamily="34" charset="0"/>
                            <a:cs typeface="Lato SemiBold" panose="020F0502020204030203" pitchFamily="34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  <a:ea typeface="Lato SemiBold" panose="020F0502020204030203" pitchFamily="34" charset="0"/>
                            <a:cs typeface="Lato SemiBold" panose="020F0502020204030203" pitchFamily="34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  <a:ea typeface="Lato SemiBold" panose="020F0502020204030203" pitchFamily="34" charset="0"/>
                            <a:cs typeface="Lato SemiBold" panose="020F0502020204030203" pitchFamily="34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rgbClr val="3C28FB"/>
                        </a:solidFill>
                        <a:latin typeface="Cambria Math" panose="02040503050406030204" pitchFamily="18" charset="0"/>
                        <a:ea typeface="Lato SemiBold" panose="020F0502020204030203" pitchFamily="34" charset="0"/>
                        <a:cs typeface="Lato SemiBold" panose="020F0502020204030203" pitchFamily="34" charset="0"/>
                      </a:rPr>
                      <m:t>=6, </m:t>
                    </m:r>
                    <m:sSub>
                      <m:sSubPr>
                        <m:ctrlPr>
                          <a:rPr lang="en-US" altLang="zh-CN" sz="2800" b="0" i="1" smtClean="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  <a:ea typeface="Lato SemiBold" panose="020F0502020204030203" pitchFamily="34" charset="0"/>
                            <a:cs typeface="Lato SemiBold" panose="020F0502020204030203" pitchFamily="34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  <a:ea typeface="Lato SemiBold" panose="020F0502020204030203" pitchFamily="34" charset="0"/>
                            <a:cs typeface="Lato SemiBold" panose="020F0502020204030203" pitchFamily="34" charset="0"/>
                          </a:rPr>
                          <m:t>𝑚</m:t>
                        </m:r>
                      </m:e>
                      <m:sub>
                        <m:r>
                          <a:rPr lang="en-US" altLang="zh-CN" sz="2800" b="0" i="1" smtClean="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  <a:ea typeface="Lato SemiBold" panose="020F0502020204030203" pitchFamily="34" charset="0"/>
                            <a:cs typeface="Lato SemiBold" panose="020F0502020204030203" pitchFamily="34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smtClean="0">
                        <a:solidFill>
                          <a:srgbClr val="3C28FB"/>
                        </a:solidFill>
                        <a:latin typeface="Cambria Math" panose="02040503050406030204" pitchFamily="18" charset="0"/>
                        <a:ea typeface="Lato SemiBold" panose="020F0502020204030203" pitchFamily="34" charset="0"/>
                        <a:cs typeface="Lato SemiBold" panose="020F0502020204030203" pitchFamily="34" charset="0"/>
                      </a:rPr>
                      <m:t>=15</m:t>
                    </m:r>
                  </m:oMath>
                </a14:m>
                <a:r>
                  <a:rPr lang="en-GB" altLang="zh-CN" sz="2800" dirty="0">
                    <a:solidFill>
                      <a:srgbClr val="3C28FB"/>
                    </a:solidFill>
                    <a:latin typeface="Lato SemiBold" panose="020F0502020204030203" pitchFamily="34" charset="0"/>
                    <a:ea typeface="Lato SemiBold" panose="020F0502020204030203" pitchFamily="34" charset="0"/>
                    <a:cs typeface="Lato SemiBold" panose="020F0502020204030203" pitchFamily="34" charset="0"/>
                  </a:rPr>
                  <a:t>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90C194E-FC98-DDAF-0238-BAB3829DC1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035" y="516412"/>
                <a:ext cx="10577065" cy="430887"/>
              </a:xfrm>
              <a:prstGeom prst="rect">
                <a:avLst/>
              </a:prstGeom>
              <a:blipFill>
                <a:blip r:embed="rId3"/>
                <a:stretch>
                  <a:fillRect l="-2075" t="-27143" b="-485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77BF76E-20D0-6CCD-6F72-538A52988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22</a:t>
            </a:fld>
            <a:endParaRPr lang="en-GB" dirty="0"/>
          </a:p>
        </p:txBody>
      </p:sp>
      <p:pic>
        <p:nvPicPr>
          <p:cNvPr id="3" name="compress.pdf" descr="compress.pdf">
            <a:extLst>
              <a:ext uri="{FF2B5EF4-FFF2-40B4-BE49-F238E27FC236}">
                <a16:creationId xmlns:a16="http://schemas.microsoft.com/office/drawing/2014/main" id="{1550A500-1A3D-8AC9-B8E7-0985635216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9486" y="1199197"/>
            <a:ext cx="9453028" cy="1977905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compressed.pdf" descr="compressed.pdf">
            <a:extLst>
              <a:ext uri="{FF2B5EF4-FFF2-40B4-BE49-F238E27FC236}">
                <a16:creationId xmlns:a16="http://schemas.microsoft.com/office/drawing/2014/main" id="{A53006D0-927B-F53E-777E-35775564B8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7682" y="3218879"/>
            <a:ext cx="6476635" cy="316884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30229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E9D074-13EA-A54D-4DB3-0A0FA3BF21DA}"/>
              </a:ext>
            </a:extLst>
          </p:cNvPr>
          <p:cNvSpPr txBox="1"/>
          <p:nvPr/>
        </p:nvSpPr>
        <p:spPr>
          <a:xfrm>
            <a:off x="1524062" y="413203"/>
            <a:ext cx="80796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00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Compressed Game </a:t>
            </a:r>
            <a:r>
              <a:rPr lang="en-GB" sz="240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[GLNS ‘23]</a:t>
            </a:r>
            <a:endParaRPr lang="en-GB" sz="2400" dirty="0"/>
          </a:p>
          <a:p>
            <a:r>
              <a:rPr lang="en-GB" sz="300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 </a:t>
            </a:r>
          </a:p>
          <a:p>
            <a:endParaRPr lang="en-GB" sz="3000" dirty="0">
              <a:solidFill>
                <a:srgbClr val="3C28FB"/>
              </a:solidFill>
            </a:endParaRP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D9FB87FD-3B71-9530-BDF1-D5D2718C1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23</a:t>
            </a:fld>
            <a:endParaRPr lang="en-GB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B241678-62A6-DFE7-90AE-66C7E07A1888}"/>
              </a:ext>
            </a:extLst>
          </p:cNvPr>
          <p:cNvGrpSpPr/>
          <p:nvPr/>
        </p:nvGrpSpPr>
        <p:grpSpPr>
          <a:xfrm>
            <a:off x="496973" y="1176366"/>
            <a:ext cx="11114006" cy="1660094"/>
            <a:chOff x="496973" y="1176366"/>
            <a:chExt cx="11114006" cy="1660094"/>
          </a:xfrm>
        </p:grpSpPr>
        <p:pic>
          <p:nvPicPr>
            <p:cNvPr id="6" name="cylindernarrow.pdf" descr="cylindernarrow.pdf">
              <a:extLst>
                <a:ext uri="{FF2B5EF4-FFF2-40B4-BE49-F238E27FC236}">
                  <a16:creationId xmlns:a16="http://schemas.microsoft.com/office/drawing/2014/main" id="{AA517DB6-258C-1BE4-2A58-B07DEC3ED1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5361" y="1176366"/>
              <a:ext cx="11105618" cy="1634739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47" name="pasted-movie.png" descr="pasted-movie.png">
              <a:extLst>
                <a:ext uri="{FF2B5EF4-FFF2-40B4-BE49-F238E27FC236}">
                  <a16:creationId xmlns:a16="http://schemas.microsoft.com/office/drawing/2014/main" id="{3F21592E-CC85-5395-0F3A-2CAAD52049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35948" b="50085"/>
            <a:stretch>
              <a:fillRect/>
            </a:stretch>
          </p:blipFill>
          <p:spPr>
            <a:xfrm>
              <a:off x="496973" y="1838615"/>
              <a:ext cx="435364" cy="341240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48" name="pasted-movie.png" descr="pasted-movie.png">
              <a:extLst>
                <a:ext uri="{FF2B5EF4-FFF2-40B4-BE49-F238E27FC236}">
                  <a16:creationId xmlns:a16="http://schemas.microsoft.com/office/drawing/2014/main" id="{700C60D4-E32B-8A0C-72AF-8F901E85D6F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22975"/>
            <a:stretch>
              <a:fillRect/>
            </a:stretch>
          </p:blipFill>
          <p:spPr>
            <a:xfrm>
              <a:off x="4961741" y="1201721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49" name="pasted-movie.png" descr="pasted-movie.png">
              <a:extLst>
                <a:ext uri="{FF2B5EF4-FFF2-40B4-BE49-F238E27FC236}">
                  <a16:creationId xmlns:a16="http://schemas.microsoft.com/office/drawing/2014/main" id="{BE207406-CFFF-FB29-7AD7-F9171A9FA28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22975"/>
            <a:stretch>
              <a:fillRect/>
            </a:stretch>
          </p:blipFill>
          <p:spPr>
            <a:xfrm>
              <a:off x="4969232" y="1507080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50" name="pasted-movie.png" descr="pasted-movie.png">
              <a:extLst>
                <a:ext uri="{FF2B5EF4-FFF2-40B4-BE49-F238E27FC236}">
                  <a16:creationId xmlns:a16="http://schemas.microsoft.com/office/drawing/2014/main" id="{CDF5E2AF-A4F6-BB64-AE2C-3FDF818031A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22975"/>
            <a:stretch>
              <a:fillRect/>
            </a:stretch>
          </p:blipFill>
          <p:spPr>
            <a:xfrm>
              <a:off x="4969232" y="1812439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51" name="pasted-movie.png" descr="pasted-movie.png">
              <a:extLst>
                <a:ext uri="{FF2B5EF4-FFF2-40B4-BE49-F238E27FC236}">
                  <a16:creationId xmlns:a16="http://schemas.microsoft.com/office/drawing/2014/main" id="{6F583356-B47E-16C1-FF4D-E408AC299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22975"/>
            <a:stretch>
              <a:fillRect/>
            </a:stretch>
          </p:blipFill>
          <p:spPr>
            <a:xfrm>
              <a:off x="4971973" y="2161133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52" name="pasted-movie.png" descr="pasted-movie.png">
              <a:extLst>
                <a:ext uri="{FF2B5EF4-FFF2-40B4-BE49-F238E27FC236}">
                  <a16:creationId xmlns:a16="http://schemas.microsoft.com/office/drawing/2014/main" id="{82D00B00-E1D9-3E04-43D0-43E8242D392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22975"/>
            <a:stretch>
              <a:fillRect/>
            </a:stretch>
          </p:blipFill>
          <p:spPr>
            <a:xfrm>
              <a:off x="4971973" y="2525257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551B2F77-BD33-6CFA-6830-C66DFB0FD1B0}"/>
              </a:ext>
            </a:extLst>
          </p:cNvPr>
          <p:cNvGrpSpPr/>
          <p:nvPr/>
        </p:nvGrpSpPr>
        <p:grpSpPr>
          <a:xfrm>
            <a:off x="1821403" y="1201720"/>
            <a:ext cx="8487401" cy="1596720"/>
            <a:chOff x="1821403" y="1201720"/>
            <a:chExt cx="8487401" cy="1596720"/>
          </a:xfrm>
        </p:grpSpPr>
        <p:pic>
          <p:nvPicPr>
            <p:cNvPr id="53" name="pasted-movie.png" descr="pasted-movie.png">
              <a:extLst>
                <a:ext uri="{FF2B5EF4-FFF2-40B4-BE49-F238E27FC236}">
                  <a16:creationId xmlns:a16="http://schemas.microsoft.com/office/drawing/2014/main" id="{F7278C02-C1D1-247C-00F4-48BA73C8C5A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5940980" y="1210247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54" name="pasted-movie.png" descr="pasted-movie.png">
              <a:extLst>
                <a:ext uri="{FF2B5EF4-FFF2-40B4-BE49-F238E27FC236}">
                  <a16:creationId xmlns:a16="http://schemas.microsoft.com/office/drawing/2014/main" id="{315DE15E-DD25-A780-7EE3-872D21F4F4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6842744" y="1210247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55" name="pasted-movie.png" descr="pasted-movie.png">
              <a:extLst>
                <a:ext uri="{FF2B5EF4-FFF2-40B4-BE49-F238E27FC236}">
                  <a16:creationId xmlns:a16="http://schemas.microsoft.com/office/drawing/2014/main" id="{233A1809-FE04-8483-40EB-59868FC5A6A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7846371" y="1210247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56" name="pasted-movie.png" descr="pasted-movie.png">
              <a:extLst>
                <a:ext uri="{FF2B5EF4-FFF2-40B4-BE49-F238E27FC236}">
                  <a16:creationId xmlns:a16="http://schemas.microsoft.com/office/drawing/2014/main" id="{95B55C77-DBE8-2027-3B3D-3DC5426BA72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8748135" y="1201720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57" name="pasted-movie.png" descr="pasted-movie.png">
              <a:extLst>
                <a:ext uri="{FF2B5EF4-FFF2-40B4-BE49-F238E27FC236}">
                  <a16:creationId xmlns:a16="http://schemas.microsoft.com/office/drawing/2014/main" id="{1AE86F94-30E9-7DAB-4761-F83EFA22FD3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9706481" y="1214914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58" name="pasted-movie.png" descr="pasted-movie.png">
              <a:extLst>
                <a:ext uri="{FF2B5EF4-FFF2-40B4-BE49-F238E27FC236}">
                  <a16:creationId xmlns:a16="http://schemas.microsoft.com/office/drawing/2014/main" id="{3D3AA476-45DC-6C4D-3ADC-C934C9618C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4025034" y="1210247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59" name="pasted-movie.png" descr="pasted-movie.png">
              <a:extLst>
                <a:ext uri="{FF2B5EF4-FFF2-40B4-BE49-F238E27FC236}">
                  <a16:creationId xmlns:a16="http://schemas.microsoft.com/office/drawing/2014/main" id="{6D513244-F3BB-7B55-A880-546CE76B553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3084137" y="1229143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0" name="pasted-movie.png" descr="pasted-movie.png">
              <a:extLst>
                <a:ext uri="{FF2B5EF4-FFF2-40B4-BE49-F238E27FC236}">
                  <a16:creationId xmlns:a16="http://schemas.microsoft.com/office/drawing/2014/main" id="{9A0958F1-7E26-95AA-ADB8-88FBA44D5F9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2131442" y="1229143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1" name="pasted-movie.png" descr="pasted-movie.png">
              <a:extLst>
                <a:ext uri="{FF2B5EF4-FFF2-40B4-BE49-F238E27FC236}">
                  <a16:creationId xmlns:a16="http://schemas.microsoft.com/office/drawing/2014/main" id="{D62E6FF0-6508-6C2D-BEDC-A32FFEFD34D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1821403" y="1574668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2" name="pasted-movie.png" descr="pasted-movie.png">
              <a:extLst>
                <a:ext uri="{FF2B5EF4-FFF2-40B4-BE49-F238E27FC236}">
                  <a16:creationId xmlns:a16="http://schemas.microsoft.com/office/drawing/2014/main" id="{97341BDA-271B-CAA1-52D1-23813DEC22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9998765" y="2136758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3" name="pasted-movie.png" descr="pasted-movie.png">
              <a:extLst>
                <a:ext uri="{FF2B5EF4-FFF2-40B4-BE49-F238E27FC236}">
                  <a16:creationId xmlns:a16="http://schemas.microsoft.com/office/drawing/2014/main" id="{9F62C4BA-1BF4-A0F8-87BC-D160159F7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3680853" y="2167189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4" name="pasted-movie.png" descr="pasted-movie.png">
              <a:extLst>
                <a:ext uri="{FF2B5EF4-FFF2-40B4-BE49-F238E27FC236}">
                  <a16:creationId xmlns:a16="http://schemas.microsoft.com/office/drawing/2014/main" id="{21EA7748-A6B5-E056-5157-EA8B73279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2447573" y="2167189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5" name="pasted-movie.png" descr="pasted-movie.png">
              <a:extLst>
                <a:ext uri="{FF2B5EF4-FFF2-40B4-BE49-F238E27FC236}">
                  <a16:creationId xmlns:a16="http://schemas.microsoft.com/office/drawing/2014/main" id="{9E16267D-E6A4-DF3F-51F4-278C1A9C4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7166928" y="1868652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6" name="pasted-movie.png" descr="pasted-movie.png">
              <a:extLst>
                <a:ext uri="{FF2B5EF4-FFF2-40B4-BE49-F238E27FC236}">
                  <a16:creationId xmlns:a16="http://schemas.microsoft.com/office/drawing/2014/main" id="{B39A0E27-336D-B3B5-8D64-F1539A0EEE4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9377344" y="1838615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7" name="pasted-movie.png" descr="pasted-movie.png">
              <a:extLst>
                <a:ext uri="{FF2B5EF4-FFF2-40B4-BE49-F238E27FC236}">
                  <a16:creationId xmlns:a16="http://schemas.microsoft.com/office/drawing/2014/main" id="{0F6BC40D-EA7C-1FE8-ECCA-C21052CDD9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6856889" y="2487237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8" name="pasted-movie.png" descr="pasted-movie.png">
              <a:extLst>
                <a:ext uri="{FF2B5EF4-FFF2-40B4-BE49-F238E27FC236}">
                  <a16:creationId xmlns:a16="http://schemas.microsoft.com/office/drawing/2014/main" id="{C94F7DE1-7E3A-55B8-8FB1-F4C3EFC537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2441880" y="1848194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9" name="pasted-movie.png" descr="pasted-movie.png">
              <a:extLst>
                <a:ext uri="{FF2B5EF4-FFF2-40B4-BE49-F238E27FC236}">
                  <a16:creationId xmlns:a16="http://schemas.microsoft.com/office/drawing/2014/main" id="{BC673E83-B174-BF32-842F-A40AE39B88A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8137396" y="1545774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70" name="pasted-movie.png" descr="pasted-movie.png">
              <a:extLst>
                <a:ext uri="{FF2B5EF4-FFF2-40B4-BE49-F238E27FC236}">
                  <a16:creationId xmlns:a16="http://schemas.microsoft.com/office/drawing/2014/main" id="{CACDFEA0-1B92-E0C3-6829-90699811AB6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9717248" y="1518017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71" name="pasted-movie.png" descr="pasted-movie.png">
              <a:extLst>
                <a:ext uri="{FF2B5EF4-FFF2-40B4-BE49-F238E27FC236}">
                  <a16:creationId xmlns:a16="http://schemas.microsoft.com/office/drawing/2014/main" id="{8453651A-09E3-650E-3A6A-E1B68405F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3405485" y="1540346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72" name="pasted-movie.png" descr="pasted-movie.png">
              <a:extLst>
                <a:ext uri="{FF2B5EF4-FFF2-40B4-BE49-F238E27FC236}">
                  <a16:creationId xmlns:a16="http://schemas.microsoft.com/office/drawing/2014/main" id="{662E7120-FE7E-155D-4C9F-3E38FC8FDD0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6222604" y="2171987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73" name="pasted-movie.png" descr="pasted-movie.png">
              <a:extLst>
                <a:ext uri="{FF2B5EF4-FFF2-40B4-BE49-F238E27FC236}">
                  <a16:creationId xmlns:a16="http://schemas.microsoft.com/office/drawing/2014/main" id="{70BF1AC1-429F-2371-D613-46900B1C8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7513724" y="2159397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74" name="pasted-movie.png" descr="pasted-movie.png">
              <a:extLst>
                <a:ext uri="{FF2B5EF4-FFF2-40B4-BE49-F238E27FC236}">
                  <a16:creationId xmlns:a16="http://schemas.microsoft.com/office/drawing/2014/main" id="{9A3BB45C-ACE5-D681-4CA3-20C5BC6E745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8748134" y="2141699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75" name="pasted-movie.png" descr="pasted-movie.png">
              <a:extLst>
                <a:ext uri="{FF2B5EF4-FFF2-40B4-BE49-F238E27FC236}">
                  <a16:creationId xmlns:a16="http://schemas.microsoft.com/office/drawing/2014/main" id="{646988A5-7A2B-9D3C-1375-F3B19422800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6532643" y="1565187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81" name="pasted-movie.png" descr="pasted-movie.png">
              <a:extLst>
                <a:ext uri="{FF2B5EF4-FFF2-40B4-BE49-F238E27FC236}">
                  <a16:creationId xmlns:a16="http://schemas.microsoft.com/office/drawing/2014/main" id="{C2041BE1-A312-BFAF-FE02-4DB04046E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3062549" y="2467327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82" name="pasted-movie.png" descr="pasted-movie.png">
              <a:extLst>
                <a:ext uri="{FF2B5EF4-FFF2-40B4-BE49-F238E27FC236}">
                  <a16:creationId xmlns:a16="http://schemas.microsoft.com/office/drawing/2014/main" id="{350B458A-C30A-4E93-FC6E-DA07CD5035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8750333" y="2470600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AB00D09-92BE-BBFA-AB64-031B625B824A}"/>
                  </a:ext>
                </a:extLst>
              </p:cNvPr>
              <p:cNvSpPr txBox="1"/>
              <p:nvPr/>
            </p:nvSpPr>
            <p:spPr>
              <a:xfrm>
                <a:off x="137783" y="3537603"/>
                <a:ext cx="7155481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0" lvl="3" indent="-34290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cop at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𝑣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cop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at all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vertices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𝑢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∈[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𝑣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]</m:t>
                    </m:r>
                  </m:oMath>
                </a14:m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1714500" lvl="3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2400" i="1" dirty="0" err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2400" i="1" dirty="0" err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i="1" dirty="0" err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GB" sz="2400" b="0" i="0" dirty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ops,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one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robber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lvl="1"/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Lift a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cop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and signal a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vertex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lvl="1"/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	      </a:t>
                </a:r>
                <a14:m>
                  <m:oMath xmlns:m="http://schemas.openxmlformats.org/officeDocument/2006/math">
                    <m:r>
                      <a:rPr lang="en-GB" sz="2400" b="0" i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Robber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does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a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rgbClr val="3C28FB"/>
                        </a:solidFill>
                        <a:latin typeface="Cambria Math" panose="02040503050406030204" pitchFamily="18" charset="0"/>
                      </a:rPr>
                      <m:t>≡</m:t>
                    </m:r>
                  </m:oMath>
                </a14:m>
                <a:r>
                  <a:rPr lang="en-GB" sz="2400" dirty="0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-</a:t>
                </a:r>
                <a:r>
                  <a:rPr lang="en-GB" sz="2400" dirty="0" err="1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compressible</a:t>
                </a:r>
                <a:r>
                  <a:rPr lang="en-GB" sz="2400" dirty="0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move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</a:p>
              <a:p>
                <a:pPr lvl="1"/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	          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Cop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lands at </a:t>
                </a:r>
                <a14:m>
                  <m:oMath xmlns:m="http://schemas.openxmlformats.org/officeDocument/2006/math">
                    <m:r>
                      <a:rPr lang="en-GB" sz="2400" dirty="0" smtClean="0">
                        <a:solidFill>
                          <a:srgbClr val="3C28FB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GB" sz="2400" i="1" smtClean="0">
                        <a:solidFill>
                          <a:srgbClr val="3C28FB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GB" sz="2400" b="0" i="1" smtClean="0">
                        <a:solidFill>
                          <a:srgbClr val="3C28FB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lvl="1"/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8AB00D09-92BE-BBFA-AB64-031B625B8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783" y="3537603"/>
                <a:ext cx="7155481" cy="2677656"/>
              </a:xfrm>
              <a:prstGeom prst="rect">
                <a:avLst/>
              </a:prstGeom>
              <a:blipFill>
                <a:blip r:embed="rId8"/>
                <a:stretch>
                  <a:fillRect t="-1818" r="-6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0F690BBD-E55C-AC49-226E-C848C74D6271}"/>
                  </a:ext>
                </a:extLst>
              </p:cNvPr>
              <p:cNvSpPr txBox="1"/>
              <p:nvPr/>
            </p:nvSpPr>
            <p:spPr>
              <a:xfrm>
                <a:off x="1524062" y="5431116"/>
                <a:ext cx="1020839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Cop strategies for uncompressed game still work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same upper bounds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But robber has to avoid cop clones </a:t>
                </a:r>
                <a14:m>
                  <m:oMath xmlns:m="http://schemas.openxmlformats.org/officeDocument/2006/math">
                    <m:r>
                      <a:rPr lang="en-GB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harder to get lower bounds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Consider only special type of robber moves</a:t>
                </a:r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0F690BBD-E55C-AC49-226E-C848C74D6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62" y="5431116"/>
                <a:ext cx="10208394" cy="1200329"/>
              </a:xfrm>
              <a:prstGeom prst="rect">
                <a:avLst/>
              </a:prstGeom>
              <a:blipFill>
                <a:blip r:embed="rId9"/>
                <a:stretch>
                  <a:fillRect l="-776" t="-4061" b="-10660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3997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27BB63B8-1B63-E389-2CB6-FB84BF12E773}"/>
              </a:ext>
            </a:extLst>
          </p:cNvPr>
          <p:cNvGrpSpPr/>
          <p:nvPr/>
        </p:nvGrpSpPr>
        <p:grpSpPr>
          <a:xfrm>
            <a:off x="8511542" y="1627509"/>
            <a:ext cx="1648037" cy="764285"/>
            <a:chOff x="682165" y="1626943"/>
            <a:chExt cx="1648037" cy="764285"/>
          </a:xfrm>
        </p:grpSpPr>
        <p:pic>
          <p:nvPicPr>
            <p:cNvPr id="61" name="Line Line" descr="Line Line">
              <a:extLst>
                <a:ext uri="{FF2B5EF4-FFF2-40B4-BE49-F238E27FC236}">
                  <a16:creationId xmlns:a16="http://schemas.microsoft.com/office/drawing/2014/main" id="{2AA74160-C53B-9BE8-0648-E23AD9C4515E}"/>
                </a:ext>
              </a:extLst>
            </p:cNvPr>
            <p:cNvPicPr>
              <a:picLocks/>
            </p:cNvPicPr>
            <p:nvPr/>
          </p:nvPicPr>
          <p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728499" y="1626943"/>
              <a:ext cx="1022565" cy="189605"/>
            </a:xfrm>
            <a:prstGeom prst="rect">
              <a:avLst/>
            </a:prstGeom>
            <a:effectLst/>
          </p:spPr>
        </p:pic>
        <p:pic>
          <p:nvPicPr>
            <p:cNvPr id="62" name="Line Line" descr="Line Line">
              <a:extLst>
                <a:ext uri="{FF2B5EF4-FFF2-40B4-BE49-F238E27FC236}">
                  <a16:creationId xmlns:a16="http://schemas.microsoft.com/office/drawing/2014/main" id="{C5FC754E-CDC4-6829-1985-12A111C8C8CA}"/>
                </a:ext>
              </a:extLst>
            </p:cNvPr>
            <p:cNvPicPr>
              <a:picLocks/>
            </p:cNvPicPr>
            <p:nvPr/>
          </p:nvPicPr>
          <p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1662603" y="2237992"/>
              <a:ext cx="667599" cy="153236"/>
            </a:xfrm>
            <a:prstGeom prst="rect">
              <a:avLst/>
            </a:prstGeom>
            <a:effectLst/>
          </p:spPr>
        </p:pic>
        <p:pic>
          <p:nvPicPr>
            <p:cNvPr id="63" name="Line Line" descr="Line Line">
              <a:extLst>
                <a:ext uri="{FF2B5EF4-FFF2-40B4-BE49-F238E27FC236}">
                  <a16:creationId xmlns:a16="http://schemas.microsoft.com/office/drawing/2014/main" id="{2713420A-FFC3-F482-E4B3-C2D3DB14DB68}"/>
                </a:ext>
              </a:extLst>
            </p:cNvPr>
            <p:cNvPicPr>
              <a:picLocks/>
            </p:cNvPicPr>
            <p:nvPr/>
          </p:nvPicPr>
          <p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16200000">
              <a:off x="434312" y="1920250"/>
              <a:ext cx="685312" cy="189605"/>
            </a:xfrm>
            <a:prstGeom prst="rect">
              <a:avLst/>
            </a:prstGeom>
            <a:effectLst/>
          </p:spPr>
        </p:pic>
        <p:pic>
          <p:nvPicPr>
            <p:cNvPr id="64" name="Line Line" descr="Line Line">
              <a:extLst>
                <a:ext uri="{FF2B5EF4-FFF2-40B4-BE49-F238E27FC236}">
                  <a16:creationId xmlns:a16="http://schemas.microsoft.com/office/drawing/2014/main" id="{1D4333CB-FA3B-90D8-096D-97C32BF85A59}"/>
                </a:ext>
              </a:extLst>
            </p:cNvPr>
            <p:cNvPicPr>
              <a:picLocks/>
            </p:cNvPicPr>
            <p:nvPr/>
          </p:nvPicPr>
          <p:blipFill>
            <a:blip r:embed="rId3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 rot="16200000">
              <a:off x="1327331" y="1903775"/>
              <a:ext cx="685312" cy="189605"/>
            </a:xfrm>
            <a:prstGeom prst="rect">
              <a:avLst/>
            </a:prstGeom>
            <a:effectLst/>
          </p:spPr>
        </p:pic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3DA4F6A-7E96-5E3A-5808-9E61E7CE2F5E}"/>
              </a:ext>
            </a:extLst>
          </p:cNvPr>
          <p:cNvGrpSpPr/>
          <p:nvPr/>
        </p:nvGrpSpPr>
        <p:grpSpPr>
          <a:xfrm>
            <a:off x="2239194" y="1609346"/>
            <a:ext cx="9167783" cy="776482"/>
            <a:chOff x="2239194" y="1609346"/>
            <a:chExt cx="9167783" cy="77648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C825BC2-B24C-4B4D-BE99-8E63CC841EB5}"/>
                </a:ext>
              </a:extLst>
            </p:cNvPr>
            <p:cNvGrpSpPr/>
            <p:nvPr/>
          </p:nvGrpSpPr>
          <p:grpSpPr>
            <a:xfrm>
              <a:off x="2239194" y="1614105"/>
              <a:ext cx="1648037" cy="764285"/>
              <a:chOff x="682165" y="1626943"/>
              <a:chExt cx="1648037" cy="764285"/>
            </a:xfrm>
          </p:grpSpPr>
          <p:pic>
            <p:nvPicPr>
              <p:cNvPr id="32" name="Line Line" descr="Line Line">
                <a:extLst>
                  <a:ext uri="{FF2B5EF4-FFF2-40B4-BE49-F238E27FC236}">
                    <a16:creationId xmlns:a16="http://schemas.microsoft.com/office/drawing/2014/main" id="{A95952DD-BBD5-71B0-1C67-5D389E9F2BF7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728499" y="1626943"/>
                <a:ext cx="1022565" cy="189605"/>
              </a:xfrm>
              <a:prstGeom prst="rect">
                <a:avLst/>
              </a:prstGeom>
              <a:effectLst/>
            </p:spPr>
          </p:pic>
          <p:pic>
            <p:nvPicPr>
              <p:cNvPr id="33" name="Line Line" descr="Line Line">
                <a:extLst>
                  <a:ext uri="{FF2B5EF4-FFF2-40B4-BE49-F238E27FC236}">
                    <a16:creationId xmlns:a16="http://schemas.microsoft.com/office/drawing/2014/main" id="{36D1744E-6E6E-E2C5-8D2F-57F3D5D670CC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1662603" y="2237992"/>
                <a:ext cx="667599" cy="153236"/>
              </a:xfrm>
              <a:prstGeom prst="rect">
                <a:avLst/>
              </a:prstGeom>
              <a:effectLst/>
            </p:spPr>
          </p:pic>
          <p:pic>
            <p:nvPicPr>
              <p:cNvPr id="34" name="Line Line" descr="Line Line">
                <a:extLst>
                  <a:ext uri="{FF2B5EF4-FFF2-40B4-BE49-F238E27FC236}">
                    <a16:creationId xmlns:a16="http://schemas.microsoft.com/office/drawing/2014/main" id="{5D8B5004-63EB-A33F-1F62-AEFD4558587A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16200000">
                <a:off x="434312" y="1920250"/>
                <a:ext cx="685312" cy="189605"/>
              </a:xfrm>
              <a:prstGeom prst="rect">
                <a:avLst/>
              </a:prstGeom>
              <a:effectLst/>
            </p:spPr>
          </p:pic>
          <p:pic>
            <p:nvPicPr>
              <p:cNvPr id="35" name="Line Line" descr="Line Line">
                <a:extLst>
                  <a:ext uri="{FF2B5EF4-FFF2-40B4-BE49-F238E27FC236}">
                    <a16:creationId xmlns:a16="http://schemas.microsoft.com/office/drawing/2014/main" id="{44ACC3C3-29B2-148A-313F-9A158F23C0E6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16200000">
                <a:off x="1327331" y="1903775"/>
                <a:ext cx="685312" cy="189605"/>
              </a:xfrm>
              <a:prstGeom prst="rect">
                <a:avLst/>
              </a:prstGeom>
              <a:effectLst/>
            </p:spPr>
          </p:pic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EBDA6742-31BF-6F72-E2F2-6812AC9419DF}"/>
                </a:ext>
              </a:extLst>
            </p:cNvPr>
            <p:cNvGrpSpPr/>
            <p:nvPr/>
          </p:nvGrpSpPr>
          <p:grpSpPr>
            <a:xfrm>
              <a:off x="3770132" y="1614105"/>
              <a:ext cx="1648037" cy="764285"/>
              <a:chOff x="682165" y="1626943"/>
              <a:chExt cx="1648037" cy="764285"/>
            </a:xfrm>
          </p:grpSpPr>
          <p:pic>
            <p:nvPicPr>
              <p:cNvPr id="37" name="Line Line" descr="Line Line">
                <a:extLst>
                  <a:ext uri="{FF2B5EF4-FFF2-40B4-BE49-F238E27FC236}">
                    <a16:creationId xmlns:a16="http://schemas.microsoft.com/office/drawing/2014/main" id="{83DB77B1-5C8C-9C25-111A-CA6D90C5A3B3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728499" y="1626943"/>
                <a:ext cx="1022565" cy="189605"/>
              </a:xfrm>
              <a:prstGeom prst="rect">
                <a:avLst/>
              </a:prstGeom>
              <a:effectLst/>
            </p:spPr>
          </p:pic>
          <p:pic>
            <p:nvPicPr>
              <p:cNvPr id="38" name="Line Line" descr="Line Line">
                <a:extLst>
                  <a:ext uri="{FF2B5EF4-FFF2-40B4-BE49-F238E27FC236}">
                    <a16:creationId xmlns:a16="http://schemas.microsoft.com/office/drawing/2014/main" id="{A5C74061-5618-E053-DC27-C02EE04C431C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1662603" y="2237992"/>
                <a:ext cx="667599" cy="153236"/>
              </a:xfrm>
              <a:prstGeom prst="rect">
                <a:avLst/>
              </a:prstGeom>
              <a:effectLst/>
            </p:spPr>
          </p:pic>
          <p:pic>
            <p:nvPicPr>
              <p:cNvPr id="47" name="Line Line" descr="Line Line">
                <a:extLst>
                  <a:ext uri="{FF2B5EF4-FFF2-40B4-BE49-F238E27FC236}">
                    <a16:creationId xmlns:a16="http://schemas.microsoft.com/office/drawing/2014/main" id="{A809356F-9F39-A11C-EAE3-2B07174A067A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16200000">
                <a:off x="434312" y="1920250"/>
                <a:ext cx="685312" cy="189605"/>
              </a:xfrm>
              <a:prstGeom prst="rect">
                <a:avLst/>
              </a:prstGeom>
              <a:effectLst/>
            </p:spPr>
          </p:pic>
          <p:pic>
            <p:nvPicPr>
              <p:cNvPr id="48" name="Line Line" descr="Line Line">
                <a:extLst>
                  <a:ext uri="{FF2B5EF4-FFF2-40B4-BE49-F238E27FC236}">
                    <a16:creationId xmlns:a16="http://schemas.microsoft.com/office/drawing/2014/main" id="{2126E40D-F769-8013-B882-6304A057ECBC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16200000">
                <a:off x="1327331" y="1903775"/>
                <a:ext cx="685312" cy="189605"/>
              </a:xfrm>
              <a:prstGeom prst="rect">
                <a:avLst/>
              </a:prstGeom>
              <a:effectLst/>
            </p:spPr>
          </p:pic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571ECFC5-E471-8184-3F72-84B5C43BD92F}"/>
                </a:ext>
              </a:extLst>
            </p:cNvPr>
            <p:cNvGrpSpPr/>
            <p:nvPr/>
          </p:nvGrpSpPr>
          <p:grpSpPr>
            <a:xfrm>
              <a:off x="5335598" y="1611592"/>
              <a:ext cx="1648037" cy="764285"/>
              <a:chOff x="682165" y="1626943"/>
              <a:chExt cx="1648037" cy="764285"/>
            </a:xfrm>
          </p:grpSpPr>
          <p:pic>
            <p:nvPicPr>
              <p:cNvPr id="51" name="Line Line" descr="Line Line">
                <a:extLst>
                  <a:ext uri="{FF2B5EF4-FFF2-40B4-BE49-F238E27FC236}">
                    <a16:creationId xmlns:a16="http://schemas.microsoft.com/office/drawing/2014/main" id="{6AEFA754-CE3E-2E37-F400-873155207D53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728499" y="1626943"/>
                <a:ext cx="1022565" cy="189605"/>
              </a:xfrm>
              <a:prstGeom prst="rect">
                <a:avLst/>
              </a:prstGeom>
              <a:effectLst/>
            </p:spPr>
          </p:pic>
          <p:pic>
            <p:nvPicPr>
              <p:cNvPr id="52" name="Line Line" descr="Line Line">
                <a:extLst>
                  <a:ext uri="{FF2B5EF4-FFF2-40B4-BE49-F238E27FC236}">
                    <a16:creationId xmlns:a16="http://schemas.microsoft.com/office/drawing/2014/main" id="{5B8718AD-CE1A-D169-BFED-AD8AF701C851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1662603" y="2237992"/>
                <a:ext cx="667599" cy="153236"/>
              </a:xfrm>
              <a:prstGeom prst="rect">
                <a:avLst/>
              </a:prstGeom>
              <a:effectLst/>
            </p:spPr>
          </p:pic>
          <p:pic>
            <p:nvPicPr>
              <p:cNvPr id="53" name="Line Line" descr="Line Line">
                <a:extLst>
                  <a:ext uri="{FF2B5EF4-FFF2-40B4-BE49-F238E27FC236}">
                    <a16:creationId xmlns:a16="http://schemas.microsoft.com/office/drawing/2014/main" id="{60D853B7-60DC-C8CA-BBEF-61976D150348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16200000">
                <a:off x="434312" y="1920250"/>
                <a:ext cx="685312" cy="189605"/>
              </a:xfrm>
              <a:prstGeom prst="rect">
                <a:avLst/>
              </a:prstGeom>
              <a:effectLst/>
            </p:spPr>
          </p:pic>
          <p:pic>
            <p:nvPicPr>
              <p:cNvPr id="54" name="Line Line" descr="Line Line">
                <a:extLst>
                  <a:ext uri="{FF2B5EF4-FFF2-40B4-BE49-F238E27FC236}">
                    <a16:creationId xmlns:a16="http://schemas.microsoft.com/office/drawing/2014/main" id="{99934B4B-2DFF-C72F-F63F-85B3C85B0B82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16200000">
                <a:off x="1327331" y="1903775"/>
                <a:ext cx="685312" cy="189605"/>
              </a:xfrm>
              <a:prstGeom prst="rect">
                <a:avLst/>
              </a:prstGeom>
              <a:effectLst/>
            </p:spPr>
          </p:pic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5893F20D-C7FA-D87A-EBF6-76360DD07C51}"/>
                </a:ext>
              </a:extLst>
            </p:cNvPr>
            <p:cNvGrpSpPr/>
            <p:nvPr/>
          </p:nvGrpSpPr>
          <p:grpSpPr>
            <a:xfrm>
              <a:off x="6907822" y="1621543"/>
              <a:ext cx="1648037" cy="764285"/>
              <a:chOff x="682165" y="1626943"/>
              <a:chExt cx="1648037" cy="764285"/>
            </a:xfrm>
          </p:grpSpPr>
          <p:pic>
            <p:nvPicPr>
              <p:cNvPr id="56" name="Line Line" descr="Line Line">
                <a:extLst>
                  <a:ext uri="{FF2B5EF4-FFF2-40B4-BE49-F238E27FC236}">
                    <a16:creationId xmlns:a16="http://schemas.microsoft.com/office/drawing/2014/main" id="{054FA237-952B-44F5-4963-63D7F5397255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728499" y="1626943"/>
                <a:ext cx="1022565" cy="189605"/>
              </a:xfrm>
              <a:prstGeom prst="rect">
                <a:avLst/>
              </a:prstGeom>
              <a:effectLst/>
            </p:spPr>
          </p:pic>
          <p:pic>
            <p:nvPicPr>
              <p:cNvPr id="57" name="Line Line" descr="Line Line">
                <a:extLst>
                  <a:ext uri="{FF2B5EF4-FFF2-40B4-BE49-F238E27FC236}">
                    <a16:creationId xmlns:a16="http://schemas.microsoft.com/office/drawing/2014/main" id="{C401F360-6F37-175D-79D1-36A62CEAEFCF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1662603" y="2237992"/>
                <a:ext cx="667599" cy="153236"/>
              </a:xfrm>
              <a:prstGeom prst="rect">
                <a:avLst/>
              </a:prstGeom>
              <a:effectLst/>
            </p:spPr>
          </p:pic>
          <p:pic>
            <p:nvPicPr>
              <p:cNvPr id="58" name="Line Line" descr="Line Line">
                <a:extLst>
                  <a:ext uri="{FF2B5EF4-FFF2-40B4-BE49-F238E27FC236}">
                    <a16:creationId xmlns:a16="http://schemas.microsoft.com/office/drawing/2014/main" id="{AE5713BA-6AB7-1EF4-AA7B-1C74F508A40F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16200000">
                <a:off x="434312" y="1920250"/>
                <a:ext cx="685312" cy="189605"/>
              </a:xfrm>
              <a:prstGeom prst="rect">
                <a:avLst/>
              </a:prstGeom>
              <a:effectLst/>
            </p:spPr>
          </p:pic>
          <p:pic>
            <p:nvPicPr>
              <p:cNvPr id="59" name="Line Line" descr="Line Line">
                <a:extLst>
                  <a:ext uri="{FF2B5EF4-FFF2-40B4-BE49-F238E27FC236}">
                    <a16:creationId xmlns:a16="http://schemas.microsoft.com/office/drawing/2014/main" id="{392A9666-AC18-B4A1-CEED-774FC0D2ED7C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16200000">
                <a:off x="1327331" y="1903775"/>
                <a:ext cx="685312" cy="189605"/>
              </a:xfrm>
              <a:prstGeom prst="rect">
                <a:avLst/>
              </a:prstGeom>
              <a:effectLst/>
            </p:spPr>
          </p:pic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4DDCB4A-4495-A935-F8FD-7879CB98267C}"/>
                </a:ext>
              </a:extLst>
            </p:cNvPr>
            <p:cNvGrpSpPr/>
            <p:nvPr/>
          </p:nvGrpSpPr>
          <p:grpSpPr>
            <a:xfrm>
              <a:off x="10071470" y="1609346"/>
              <a:ext cx="1335507" cy="764284"/>
              <a:chOff x="682165" y="1626943"/>
              <a:chExt cx="1335507" cy="764284"/>
            </a:xfrm>
          </p:grpSpPr>
          <p:pic>
            <p:nvPicPr>
              <p:cNvPr id="66" name="Line Line" descr="Line Line">
                <a:extLst>
                  <a:ext uri="{FF2B5EF4-FFF2-40B4-BE49-F238E27FC236}">
                    <a16:creationId xmlns:a16="http://schemas.microsoft.com/office/drawing/2014/main" id="{3BECCB8E-E884-C167-3220-439659542395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728499" y="1626943"/>
                <a:ext cx="1022565" cy="189605"/>
              </a:xfrm>
              <a:prstGeom prst="rect">
                <a:avLst/>
              </a:prstGeom>
              <a:effectLst/>
            </p:spPr>
          </p:pic>
          <p:pic>
            <p:nvPicPr>
              <p:cNvPr id="67" name="Line Line" descr="Line Line">
                <a:extLst>
                  <a:ext uri="{FF2B5EF4-FFF2-40B4-BE49-F238E27FC236}">
                    <a16:creationId xmlns:a16="http://schemas.microsoft.com/office/drawing/2014/main" id="{AA8AEB50-1237-626E-C1D8-B6738D499244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>
                <a:off x="1662604" y="2256154"/>
                <a:ext cx="355068" cy="135073"/>
              </a:xfrm>
              <a:prstGeom prst="rect">
                <a:avLst/>
              </a:prstGeom>
              <a:effectLst/>
            </p:spPr>
          </p:pic>
          <p:pic>
            <p:nvPicPr>
              <p:cNvPr id="68" name="Line Line" descr="Line Line">
                <a:extLst>
                  <a:ext uri="{FF2B5EF4-FFF2-40B4-BE49-F238E27FC236}">
                    <a16:creationId xmlns:a16="http://schemas.microsoft.com/office/drawing/2014/main" id="{A40D6238-9D60-2DC5-8D8E-5417EEC7733C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16200000">
                <a:off x="434312" y="1920250"/>
                <a:ext cx="685312" cy="189605"/>
              </a:xfrm>
              <a:prstGeom prst="rect">
                <a:avLst/>
              </a:prstGeom>
              <a:effectLst/>
            </p:spPr>
          </p:pic>
          <p:pic>
            <p:nvPicPr>
              <p:cNvPr id="69" name="Line Line" descr="Line Line">
                <a:extLst>
                  <a:ext uri="{FF2B5EF4-FFF2-40B4-BE49-F238E27FC236}">
                    <a16:creationId xmlns:a16="http://schemas.microsoft.com/office/drawing/2014/main" id="{F2102306-1BF9-BCA6-9766-320FC30FB78F}"/>
                  </a:ext>
                </a:extLst>
              </p:cNvPr>
              <p:cNvPicPr>
                <a:picLocks/>
              </p:cNvPicPr>
              <p:nvPr/>
            </p:nvPicPr>
            <p:blipFill>
              <a:blip r:embed="rId3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</a:blip>
              <a:stretch>
                <a:fillRect/>
              </a:stretch>
            </p:blipFill>
            <p:spPr>
              <a:xfrm rot="16200000">
                <a:off x="1327331" y="1903775"/>
                <a:ext cx="685312" cy="189605"/>
              </a:xfrm>
              <a:prstGeom prst="rect">
                <a:avLst/>
              </a:prstGeom>
              <a:effectLst/>
            </p:spPr>
          </p:pic>
        </p:grpSp>
      </p:grpSp>
      <p:pic>
        <p:nvPicPr>
          <p:cNvPr id="6" name="cylindernarrow.pdf" descr="cylindernarrow.pdf">
            <a:extLst>
              <a:ext uri="{FF2B5EF4-FFF2-40B4-BE49-F238E27FC236}">
                <a16:creationId xmlns:a16="http://schemas.microsoft.com/office/drawing/2014/main" id="{D700515B-D39A-7BF0-A408-F198F64F4B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361" y="1176366"/>
            <a:ext cx="11105618" cy="1634739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E9D074-13EA-A54D-4DB3-0A0FA3BF21DA}"/>
              </a:ext>
            </a:extLst>
          </p:cNvPr>
          <p:cNvSpPr txBox="1"/>
          <p:nvPr/>
        </p:nvSpPr>
        <p:spPr>
          <a:xfrm>
            <a:off x="1353993" y="413360"/>
            <a:ext cx="807966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00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Moves Translatable to Compressed Setting</a:t>
            </a:r>
            <a:endParaRPr lang="en-GB" sz="3000" dirty="0">
              <a:solidFill>
                <a:srgbClr val="3C28FB"/>
              </a:solidFill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BF14A38F-9EF4-C7E8-4C17-0B5C6476B05B}"/>
                  </a:ext>
                </a:extLst>
              </p:cNvPr>
              <p:cNvSpPr txBox="1"/>
              <p:nvPr/>
            </p:nvSpPr>
            <p:spPr>
              <a:xfrm>
                <a:off x="2354082" y="3675110"/>
                <a:ext cx="741404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Robber moves only on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</m:d>
                    <m:r>
                      <a:rPr lang="en-GB" sz="2400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contiguous rows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Horizontal moves periodic mod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2400" b="0" i="1" smtClean="0">
                        <a:latin typeface="Cambria Math" panose="02040503050406030204" pitchFamily="18" charset="0"/>
                      </a:rPr>
                      <m:t>gcd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BF14A38F-9EF4-C7E8-4C17-0B5C6476B0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4082" y="3675110"/>
                <a:ext cx="7414042" cy="830997"/>
              </a:xfrm>
              <a:prstGeom prst="rect">
                <a:avLst/>
              </a:prstGeom>
              <a:blipFill>
                <a:blip r:embed="rId5"/>
                <a:stretch>
                  <a:fillRect l="-1069" t="-5882" b="-161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B709C341-33DD-8784-222E-FFAE9A22B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24</a:t>
            </a:fld>
            <a:endParaRPr lang="en-GB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293A670-638E-59A8-2158-85CA512793A2}"/>
              </a:ext>
            </a:extLst>
          </p:cNvPr>
          <p:cNvGrpSpPr/>
          <p:nvPr/>
        </p:nvGrpSpPr>
        <p:grpSpPr>
          <a:xfrm>
            <a:off x="2402" y="1626943"/>
            <a:ext cx="578619" cy="826128"/>
            <a:chOff x="2088705" y="3239469"/>
            <a:chExt cx="578619" cy="826128"/>
          </a:xfrm>
        </p:grpSpPr>
        <p:sp>
          <p:nvSpPr>
            <p:cNvPr id="18" name="Left Brace 17">
              <a:extLst>
                <a:ext uri="{FF2B5EF4-FFF2-40B4-BE49-F238E27FC236}">
                  <a16:creationId xmlns:a16="http://schemas.microsoft.com/office/drawing/2014/main" id="{AE2BB8CD-D6FB-4F96-04CD-4FBC817DBE05}"/>
                </a:ext>
              </a:extLst>
            </p:cNvPr>
            <p:cNvSpPr/>
            <p:nvPr/>
          </p:nvSpPr>
          <p:spPr>
            <a:xfrm>
              <a:off x="2436802" y="3239469"/>
              <a:ext cx="223138" cy="826128"/>
            </a:xfrm>
            <a:prstGeom prst="leftBrace">
              <a:avLst>
                <a:gd name="adj1" fmla="val 27251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9E7D3990-74A2-EAD3-F995-34FB94973836}"/>
                    </a:ext>
                  </a:extLst>
                </p:cNvPr>
                <p:cNvSpPr txBox="1"/>
                <p:nvPr/>
              </p:nvSpPr>
              <p:spPr>
                <a:xfrm>
                  <a:off x="2088705" y="3437089"/>
                  <a:ext cx="578619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en-GB" sz="22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9E7D3990-74A2-EAD3-F995-34FB949738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88705" y="3437089"/>
                  <a:ext cx="578619" cy="43088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BF57A15-5F1A-9A29-5CBE-5111A63AAA1B}"/>
              </a:ext>
            </a:extLst>
          </p:cNvPr>
          <p:cNvGrpSpPr/>
          <p:nvPr/>
        </p:nvGrpSpPr>
        <p:grpSpPr>
          <a:xfrm>
            <a:off x="682165" y="1626943"/>
            <a:ext cx="1648037" cy="764285"/>
            <a:chOff x="682165" y="1626943"/>
            <a:chExt cx="1648037" cy="764285"/>
          </a:xfrm>
        </p:grpSpPr>
        <p:pic>
          <p:nvPicPr>
            <p:cNvPr id="4" name="Line Line" descr="Line Line">
              <a:extLst>
                <a:ext uri="{FF2B5EF4-FFF2-40B4-BE49-F238E27FC236}">
                  <a16:creationId xmlns:a16="http://schemas.microsoft.com/office/drawing/2014/main" id="{A9BB6340-F437-F047-D751-7B9CA7C48C22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8499" y="1626943"/>
              <a:ext cx="1022565" cy="189605"/>
            </a:xfrm>
            <a:prstGeom prst="rect">
              <a:avLst/>
            </a:prstGeom>
            <a:effectLst/>
          </p:spPr>
        </p:pic>
        <p:pic>
          <p:nvPicPr>
            <p:cNvPr id="9" name="Line Line" descr="Line Line">
              <a:extLst>
                <a:ext uri="{FF2B5EF4-FFF2-40B4-BE49-F238E27FC236}">
                  <a16:creationId xmlns:a16="http://schemas.microsoft.com/office/drawing/2014/main" id="{1F0EC791-D0F4-689B-2338-240F8D13E228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2603" y="2237992"/>
              <a:ext cx="667599" cy="153236"/>
            </a:xfrm>
            <a:prstGeom prst="rect">
              <a:avLst/>
            </a:prstGeom>
            <a:effectLst/>
          </p:spPr>
        </p:pic>
        <p:pic>
          <p:nvPicPr>
            <p:cNvPr id="10" name="Line Line" descr="Line Line">
              <a:extLst>
                <a:ext uri="{FF2B5EF4-FFF2-40B4-BE49-F238E27FC236}">
                  <a16:creationId xmlns:a16="http://schemas.microsoft.com/office/drawing/2014/main" id="{5338301D-B473-0A6E-544B-888DD2540A93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434312" y="1920250"/>
              <a:ext cx="685312" cy="189605"/>
            </a:xfrm>
            <a:prstGeom prst="rect">
              <a:avLst/>
            </a:prstGeom>
            <a:effectLst/>
          </p:spPr>
        </p:pic>
        <p:pic>
          <p:nvPicPr>
            <p:cNvPr id="25" name="Line Line" descr="Line Line">
              <a:extLst>
                <a:ext uri="{FF2B5EF4-FFF2-40B4-BE49-F238E27FC236}">
                  <a16:creationId xmlns:a16="http://schemas.microsoft.com/office/drawing/2014/main" id="{41D655EF-C6C1-C82F-CCAB-AB6534FA841A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6200000">
              <a:off x="1327331" y="1903775"/>
              <a:ext cx="685312" cy="189605"/>
            </a:xfrm>
            <a:prstGeom prst="rect">
              <a:avLst/>
            </a:prstGeom>
            <a:effectLst/>
          </p:spPr>
        </p:pic>
      </p:grpSp>
    </p:spTree>
    <p:extLst>
      <p:ext uri="{BB962C8B-B14F-4D97-AF65-F5344CB8AC3E}">
        <p14:creationId xmlns:p14="http://schemas.microsoft.com/office/powerpoint/2010/main" val="3377658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E9D074-13EA-A54D-4DB3-0A0FA3BF21DA}"/>
              </a:ext>
            </a:extLst>
          </p:cNvPr>
          <p:cNvSpPr txBox="1"/>
          <p:nvPr/>
        </p:nvSpPr>
        <p:spPr>
          <a:xfrm>
            <a:off x="1289958" y="334514"/>
            <a:ext cx="914736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0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Idea for Robber Strategy</a:t>
            </a:r>
          </a:p>
          <a:p>
            <a:endParaRPr lang="en-GB" sz="3000" dirty="0">
              <a:solidFill>
                <a:srgbClr val="3C28FB"/>
              </a:solidFill>
            </a:endParaRPr>
          </a:p>
          <a:p>
            <a:endParaRPr lang="en-GB" sz="3000" dirty="0">
              <a:solidFill>
                <a:srgbClr val="3C28FB"/>
              </a:solidFill>
            </a:endParaRPr>
          </a:p>
          <a:p>
            <a:endParaRPr lang="en-GB" sz="3000" dirty="0">
              <a:solidFill>
                <a:srgbClr val="3C28FB"/>
              </a:solidFill>
            </a:endParaRPr>
          </a:p>
          <a:p>
            <a:endParaRPr lang="en-GB" sz="3000" dirty="0">
              <a:solidFill>
                <a:srgbClr val="3C28FB"/>
              </a:solidFill>
            </a:endParaRPr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200" dirty="0"/>
          </a:p>
          <a:p>
            <a:endParaRPr lang="en-GB" sz="200" dirty="0"/>
          </a:p>
          <a:p>
            <a:endParaRPr lang="en-GB" sz="1000" dirty="0"/>
          </a:p>
          <a:p>
            <a:pPr lvl="1"/>
            <a:endParaRPr lang="en-GB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Robber stays on cop-free column in left or right end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Slides between left and right end using compressible moves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Problem</a:t>
            </a: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(virtual) cops can form a (virtual) </a:t>
            </a:r>
            <a:r>
              <a:rPr lang="en-GB" sz="2400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police cordon</a:t>
            </a:r>
          </a:p>
        </p:txBody>
      </p:sp>
      <p:sp>
        <p:nvSpPr>
          <p:cNvPr id="21" name="Foliennummernplatzhalter 20">
            <a:extLst>
              <a:ext uri="{FF2B5EF4-FFF2-40B4-BE49-F238E27FC236}">
                <a16:creationId xmlns:a16="http://schemas.microsoft.com/office/drawing/2014/main" id="{7E7E6296-5F7E-7CAC-FA02-6AF715691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25</a:t>
            </a:fld>
            <a:endParaRPr lang="en-GB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D030535-ECAE-797B-CA19-864E560DD9E4}"/>
              </a:ext>
            </a:extLst>
          </p:cNvPr>
          <p:cNvGrpSpPr/>
          <p:nvPr/>
        </p:nvGrpSpPr>
        <p:grpSpPr>
          <a:xfrm>
            <a:off x="496973" y="1176366"/>
            <a:ext cx="11114006" cy="1660094"/>
            <a:chOff x="496973" y="1176366"/>
            <a:chExt cx="11114006" cy="1660094"/>
          </a:xfrm>
        </p:grpSpPr>
        <p:pic>
          <p:nvPicPr>
            <p:cNvPr id="17" name="cylindernarrow.pdf" descr="cylindernarrow.pdf">
              <a:extLst>
                <a:ext uri="{FF2B5EF4-FFF2-40B4-BE49-F238E27FC236}">
                  <a16:creationId xmlns:a16="http://schemas.microsoft.com/office/drawing/2014/main" id="{2E0C0A5D-1503-A3B7-1EF5-4ED61451F0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5361" y="1176366"/>
              <a:ext cx="11105618" cy="1634739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2" name="pasted-movie.png" descr="pasted-movie.png">
              <a:extLst>
                <a:ext uri="{FF2B5EF4-FFF2-40B4-BE49-F238E27FC236}">
                  <a16:creationId xmlns:a16="http://schemas.microsoft.com/office/drawing/2014/main" id="{3D09B990-4A9E-7E1F-33A0-900A4C857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35948" b="50085"/>
            <a:stretch>
              <a:fillRect/>
            </a:stretch>
          </p:blipFill>
          <p:spPr>
            <a:xfrm>
              <a:off x="496973" y="1838615"/>
              <a:ext cx="435364" cy="341240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3" name="pasted-movie.png" descr="pasted-movie.png">
              <a:extLst>
                <a:ext uri="{FF2B5EF4-FFF2-40B4-BE49-F238E27FC236}">
                  <a16:creationId xmlns:a16="http://schemas.microsoft.com/office/drawing/2014/main" id="{F5607535-28D0-B289-438B-1654F5D5F9A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22975"/>
            <a:stretch>
              <a:fillRect/>
            </a:stretch>
          </p:blipFill>
          <p:spPr>
            <a:xfrm>
              <a:off x="4961741" y="1201721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4" name="pasted-movie.png" descr="pasted-movie.png">
              <a:extLst>
                <a:ext uri="{FF2B5EF4-FFF2-40B4-BE49-F238E27FC236}">
                  <a16:creationId xmlns:a16="http://schemas.microsoft.com/office/drawing/2014/main" id="{4E454AE9-BACA-CED7-CEAB-B17592EE8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22975"/>
            <a:stretch>
              <a:fillRect/>
            </a:stretch>
          </p:blipFill>
          <p:spPr>
            <a:xfrm>
              <a:off x="4969232" y="1507080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5" name="pasted-movie.png" descr="pasted-movie.png">
              <a:extLst>
                <a:ext uri="{FF2B5EF4-FFF2-40B4-BE49-F238E27FC236}">
                  <a16:creationId xmlns:a16="http://schemas.microsoft.com/office/drawing/2014/main" id="{B54B2383-D916-6AFA-0CBC-8E7335AF9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22975"/>
            <a:stretch>
              <a:fillRect/>
            </a:stretch>
          </p:blipFill>
          <p:spPr>
            <a:xfrm>
              <a:off x="4969232" y="1812439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6" name="pasted-movie.png" descr="pasted-movie.png">
              <a:extLst>
                <a:ext uri="{FF2B5EF4-FFF2-40B4-BE49-F238E27FC236}">
                  <a16:creationId xmlns:a16="http://schemas.microsoft.com/office/drawing/2014/main" id="{A88569DE-B25C-6053-0359-9E13EC1BFC0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22975"/>
            <a:stretch>
              <a:fillRect/>
            </a:stretch>
          </p:blipFill>
          <p:spPr>
            <a:xfrm>
              <a:off x="5276981" y="2176640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7" name="pasted-movie.png" descr="pasted-movie.png">
              <a:extLst>
                <a:ext uri="{FF2B5EF4-FFF2-40B4-BE49-F238E27FC236}">
                  <a16:creationId xmlns:a16="http://schemas.microsoft.com/office/drawing/2014/main" id="{5D12B8FD-7B6E-4C91-379B-896A88DECB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22975"/>
            <a:stretch>
              <a:fillRect/>
            </a:stretch>
          </p:blipFill>
          <p:spPr>
            <a:xfrm>
              <a:off x="4971973" y="2525257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94B5361-A9FC-3FB4-8DC0-193D13383F1F}"/>
              </a:ext>
            </a:extLst>
          </p:cNvPr>
          <p:cNvGrpSpPr/>
          <p:nvPr/>
        </p:nvGrpSpPr>
        <p:grpSpPr>
          <a:xfrm>
            <a:off x="1821403" y="1201720"/>
            <a:ext cx="8770935" cy="1596720"/>
            <a:chOff x="1821403" y="1201720"/>
            <a:chExt cx="8770935" cy="1596720"/>
          </a:xfrm>
        </p:grpSpPr>
        <p:pic>
          <p:nvPicPr>
            <p:cNvPr id="29" name="pasted-movie.png" descr="pasted-movie.png">
              <a:extLst>
                <a:ext uri="{FF2B5EF4-FFF2-40B4-BE49-F238E27FC236}">
                  <a16:creationId xmlns:a16="http://schemas.microsoft.com/office/drawing/2014/main" id="{D9618C5A-80C7-0171-B679-42CD5C34D48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5940980" y="1210247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30" name="pasted-movie.png" descr="pasted-movie.png">
              <a:extLst>
                <a:ext uri="{FF2B5EF4-FFF2-40B4-BE49-F238E27FC236}">
                  <a16:creationId xmlns:a16="http://schemas.microsoft.com/office/drawing/2014/main" id="{E7209EB3-37C8-DC06-DAFD-2B2A9F38809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6842744" y="1210247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31" name="pasted-movie.png" descr="pasted-movie.png">
              <a:extLst>
                <a:ext uri="{FF2B5EF4-FFF2-40B4-BE49-F238E27FC236}">
                  <a16:creationId xmlns:a16="http://schemas.microsoft.com/office/drawing/2014/main" id="{B9169D2D-81D6-EFF4-86E6-0B7A74D9E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7846371" y="1210247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32" name="pasted-movie.png" descr="pasted-movie.png">
              <a:extLst>
                <a:ext uri="{FF2B5EF4-FFF2-40B4-BE49-F238E27FC236}">
                  <a16:creationId xmlns:a16="http://schemas.microsoft.com/office/drawing/2014/main" id="{801CA014-43BF-0F42-DE34-85DD4368718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8748135" y="1201720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33" name="pasted-movie.png" descr="pasted-movie.png">
              <a:extLst>
                <a:ext uri="{FF2B5EF4-FFF2-40B4-BE49-F238E27FC236}">
                  <a16:creationId xmlns:a16="http://schemas.microsoft.com/office/drawing/2014/main" id="{C06D0A4E-0330-F461-7FD9-49F8D4FA7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9706481" y="1214914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34" name="pasted-movie.png" descr="pasted-movie.png">
              <a:extLst>
                <a:ext uri="{FF2B5EF4-FFF2-40B4-BE49-F238E27FC236}">
                  <a16:creationId xmlns:a16="http://schemas.microsoft.com/office/drawing/2014/main" id="{ADE42673-DC34-4853-2C3A-87FD3826B45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4025034" y="1210247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35" name="pasted-movie.png" descr="pasted-movie.png">
              <a:extLst>
                <a:ext uri="{FF2B5EF4-FFF2-40B4-BE49-F238E27FC236}">
                  <a16:creationId xmlns:a16="http://schemas.microsoft.com/office/drawing/2014/main" id="{FC1D3866-D5B6-5046-41B2-8D0AF674819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3084137" y="1229143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36" name="pasted-movie.png" descr="pasted-movie.png">
              <a:extLst>
                <a:ext uri="{FF2B5EF4-FFF2-40B4-BE49-F238E27FC236}">
                  <a16:creationId xmlns:a16="http://schemas.microsoft.com/office/drawing/2014/main" id="{887845BC-AE19-2058-870D-534E9A63F00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2131442" y="1229143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37" name="pasted-movie.png" descr="pasted-movie.png">
              <a:extLst>
                <a:ext uri="{FF2B5EF4-FFF2-40B4-BE49-F238E27FC236}">
                  <a16:creationId xmlns:a16="http://schemas.microsoft.com/office/drawing/2014/main" id="{0D4D3D51-6DB8-0C67-5ABC-69D66B54F95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1821403" y="1574668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38" name="pasted-movie.png" descr="pasted-movie.png">
              <a:extLst>
                <a:ext uri="{FF2B5EF4-FFF2-40B4-BE49-F238E27FC236}">
                  <a16:creationId xmlns:a16="http://schemas.microsoft.com/office/drawing/2014/main" id="{6FC47464-13F5-D6E3-7B7A-84A08BF721E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10282299" y="2123642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39" name="pasted-movie.png" descr="pasted-movie.png">
              <a:extLst>
                <a:ext uri="{FF2B5EF4-FFF2-40B4-BE49-F238E27FC236}">
                  <a16:creationId xmlns:a16="http://schemas.microsoft.com/office/drawing/2014/main" id="{00CAEC6D-D32C-DEE1-9A0D-46B07C5FD5A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4025777" y="2171986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40" name="pasted-movie.png" descr="pasted-movie.png">
              <a:extLst>
                <a:ext uri="{FF2B5EF4-FFF2-40B4-BE49-F238E27FC236}">
                  <a16:creationId xmlns:a16="http://schemas.microsoft.com/office/drawing/2014/main" id="{9FD9F8D5-A1E3-463D-47CE-439C7610A52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2759022" y="2159397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41" name="pasted-movie.png" descr="pasted-movie.png">
              <a:extLst>
                <a:ext uri="{FF2B5EF4-FFF2-40B4-BE49-F238E27FC236}">
                  <a16:creationId xmlns:a16="http://schemas.microsoft.com/office/drawing/2014/main" id="{B3053541-2C25-8A8A-9791-717436178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7166928" y="1868652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42" name="pasted-movie.png" descr="pasted-movie.png">
              <a:extLst>
                <a:ext uri="{FF2B5EF4-FFF2-40B4-BE49-F238E27FC236}">
                  <a16:creationId xmlns:a16="http://schemas.microsoft.com/office/drawing/2014/main" id="{8D601F8F-4443-57AE-E792-CB487AE3E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9377344" y="1838615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43" name="pasted-movie.png" descr="pasted-movie.png">
              <a:extLst>
                <a:ext uri="{FF2B5EF4-FFF2-40B4-BE49-F238E27FC236}">
                  <a16:creationId xmlns:a16="http://schemas.microsoft.com/office/drawing/2014/main" id="{B2712F4A-C1DD-B086-B833-7F37C328E72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6856889" y="2487237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44" name="pasted-movie.png" descr="pasted-movie.png">
              <a:extLst>
                <a:ext uri="{FF2B5EF4-FFF2-40B4-BE49-F238E27FC236}">
                  <a16:creationId xmlns:a16="http://schemas.microsoft.com/office/drawing/2014/main" id="{5FC35272-315B-C685-BA57-F5FF1625923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2441880" y="1848194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45" name="pasted-movie.png" descr="pasted-movie.png">
              <a:extLst>
                <a:ext uri="{FF2B5EF4-FFF2-40B4-BE49-F238E27FC236}">
                  <a16:creationId xmlns:a16="http://schemas.microsoft.com/office/drawing/2014/main" id="{5114467A-2CB2-26A4-59A2-034D9FAC5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8137396" y="1545774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46" name="pasted-movie.png" descr="pasted-movie.png">
              <a:extLst>
                <a:ext uri="{FF2B5EF4-FFF2-40B4-BE49-F238E27FC236}">
                  <a16:creationId xmlns:a16="http://schemas.microsoft.com/office/drawing/2014/main" id="{F9842E6B-2806-9259-F698-C08350EDB77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9717248" y="1518017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71" name="pasted-movie.png" descr="pasted-movie.png">
              <a:extLst>
                <a:ext uri="{FF2B5EF4-FFF2-40B4-BE49-F238E27FC236}">
                  <a16:creationId xmlns:a16="http://schemas.microsoft.com/office/drawing/2014/main" id="{71099024-063C-F196-66D6-6CDE74EFD6A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3405485" y="1540346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72" name="pasted-movie.png" descr="pasted-movie.png">
              <a:extLst>
                <a:ext uri="{FF2B5EF4-FFF2-40B4-BE49-F238E27FC236}">
                  <a16:creationId xmlns:a16="http://schemas.microsoft.com/office/drawing/2014/main" id="{A559EC25-073C-D984-B173-D8D96E42201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6546179" y="2179855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73" name="pasted-movie.png" descr="pasted-movie.png">
              <a:extLst>
                <a:ext uri="{FF2B5EF4-FFF2-40B4-BE49-F238E27FC236}">
                  <a16:creationId xmlns:a16="http://schemas.microsoft.com/office/drawing/2014/main" id="{03889ECD-5F81-17B9-62AE-06432E3C10D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7797481" y="2153111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74" name="pasted-movie.png" descr="pasted-movie.png">
              <a:extLst>
                <a:ext uri="{FF2B5EF4-FFF2-40B4-BE49-F238E27FC236}">
                  <a16:creationId xmlns:a16="http://schemas.microsoft.com/office/drawing/2014/main" id="{205D8DC1-2274-51B8-BBCC-B785C711DD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9117231" y="2136757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75" name="pasted-movie.png" descr="pasted-movie.png">
              <a:extLst>
                <a:ext uri="{FF2B5EF4-FFF2-40B4-BE49-F238E27FC236}">
                  <a16:creationId xmlns:a16="http://schemas.microsoft.com/office/drawing/2014/main" id="{3A01C535-9AEB-F67A-5288-E0A3B8C51E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6532643" y="1565187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76" name="pasted-movie.png" descr="pasted-movie.png">
              <a:extLst>
                <a:ext uri="{FF2B5EF4-FFF2-40B4-BE49-F238E27FC236}">
                  <a16:creationId xmlns:a16="http://schemas.microsoft.com/office/drawing/2014/main" id="{C6F39344-782D-212D-CB6E-9CC9E823F0E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3062549" y="2467327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77" name="pasted-movie.png" descr="pasted-movie.png">
              <a:extLst>
                <a:ext uri="{FF2B5EF4-FFF2-40B4-BE49-F238E27FC236}">
                  <a16:creationId xmlns:a16="http://schemas.microsoft.com/office/drawing/2014/main" id="{A47632FB-BD7D-D153-11C5-C155CD921B9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aturation sat="0"/>
                      </a14:imgEffect>
                    </a14:imgLayer>
                  </a14:imgProps>
                </a:ext>
              </a:extLst>
            </a:blip>
            <a:srcRect b="22975"/>
            <a:stretch>
              <a:fillRect/>
            </a:stretch>
          </p:blipFill>
          <p:spPr>
            <a:xfrm>
              <a:off x="8750333" y="2470600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2A4CD6A5-1288-A283-622B-6C0BBF613762}"/>
              </a:ext>
            </a:extLst>
          </p:cNvPr>
          <p:cNvSpPr/>
          <p:nvPr/>
        </p:nvSpPr>
        <p:spPr>
          <a:xfrm>
            <a:off x="8880764" y="1170709"/>
            <a:ext cx="949036" cy="1600200"/>
          </a:xfrm>
          <a:custGeom>
            <a:avLst/>
            <a:gdLst>
              <a:gd name="connsiteX0" fmla="*/ 949036 w 949036"/>
              <a:gd name="connsiteY0" fmla="*/ 0 h 1600200"/>
              <a:gd name="connsiteX1" fmla="*/ 907472 w 949036"/>
              <a:gd name="connsiteY1" fmla="*/ 408709 h 1600200"/>
              <a:gd name="connsiteX2" fmla="*/ 831272 w 949036"/>
              <a:gd name="connsiteY2" fmla="*/ 678873 h 1600200"/>
              <a:gd name="connsiteX3" fmla="*/ 623454 w 949036"/>
              <a:gd name="connsiteY3" fmla="*/ 1004455 h 1600200"/>
              <a:gd name="connsiteX4" fmla="*/ 200891 w 949036"/>
              <a:gd name="connsiteY4" fmla="*/ 1378527 h 1600200"/>
              <a:gd name="connsiteX5" fmla="*/ 34636 w 949036"/>
              <a:gd name="connsiteY5" fmla="*/ 1572491 h 1600200"/>
              <a:gd name="connsiteX6" fmla="*/ 0 w 949036"/>
              <a:gd name="connsiteY6" fmla="*/ 1600200 h 16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9036" h="1600200">
                <a:moveTo>
                  <a:pt x="949036" y="0"/>
                </a:moveTo>
                <a:cubicBezTo>
                  <a:pt x="934438" y="255454"/>
                  <a:pt x="946780" y="192514"/>
                  <a:pt x="907472" y="408709"/>
                </a:cubicBezTo>
                <a:cubicBezTo>
                  <a:pt x="887871" y="516513"/>
                  <a:pt x="878892" y="579098"/>
                  <a:pt x="831272" y="678873"/>
                </a:cubicBezTo>
                <a:cubicBezTo>
                  <a:pt x="794478" y="755965"/>
                  <a:pt x="686927" y="941806"/>
                  <a:pt x="623454" y="1004455"/>
                </a:cubicBezTo>
                <a:cubicBezTo>
                  <a:pt x="489569" y="1136601"/>
                  <a:pt x="323315" y="1235699"/>
                  <a:pt x="200891" y="1378527"/>
                </a:cubicBezTo>
                <a:cubicBezTo>
                  <a:pt x="145473" y="1443182"/>
                  <a:pt x="105489" y="1525255"/>
                  <a:pt x="34636" y="1572491"/>
                </a:cubicBezTo>
                <a:cubicBezTo>
                  <a:pt x="8420" y="1589969"/>
                  <a:pt x="19741" y="1580459"/>
                  <a:pt x="0" y="1600200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908CEE56-72B2-A567-D61C-B86738E4C592}"/>
              </a:ext>
            </a:extLst>
          </p:cNvPr>
          <p:cNvSpPr/>
          <p:nvPr/>
        </p:nvSpPr>
        <p:spPr>
          <a:xfrm>
            <a:off x="5070764" y="1233055"/>
            <a:ext cx="387927" cy="1454727"/>
          </a:xfrm>
          <a:custGeom>
            <a:avLst/>
            <a:gdLst>
              <a:gd name="connsiteX0" fmla="*/ 48491 w 387927"/>
              <a:gd name="connsiteY0" fmla="*/ 0 h 1454727"/>
              <a:gd name="connsiteX1" fmla="*/ 27709 w 387927"/>
              <a:gd name="connsiteY1" fmla="*/ 138545 h 1454727"/>
              <a:gd name="connsiteX2" fmla="*/ 20781 w 387927"/>
              <a:gd name="connsiteY2" fmla="*/ 200890 h 1454727"/>
              <a:gd name="connsiteX3" fmla="*/ 13854 w 387927"/>
              <a:gd name="connsiteY3" fmla="*/ 429490 h 1454727"/>
              <a:gd name="connsiteX4" fmla="*/ 0 w 387927"/>
              <a:gd name="connsiteY4" fmla="*/ 602672 h 1454727"/>
              <a:gd name="connsiteX5" fmla="*/ 13854 w 387927"/>
              <a:gd name="connsiteY5" fmla="*/ 734290 h 1454727"/>
              <a:gd name="connsiteX6" fmla="*/ 62345 w 387927"/>
              <a:gd name="connsiteY6" fmla="*/ 852054 h 1454727"/>
              <a:gd name="connsiteX7" fmla="*/ 96981 w 387927"/>
              <a:gd name="connsiteY7" fmla="*/ 872836 h 1454727"/>
              <a:gd name="connsiteX8" fmla="*/ 131618 w 387927"/>
              <a:gd name="connsiteY8" fmla="*/ 886690 h 1454727"/>
              <a:gd name="connsiteX9" fmla="*/ 159327 w 387927"/>
              <a:gd name="connsiteY9" fmla="*/ 900545 h 1454727"/>
              <a:gd name="connsiteX10" fmla="*/ 249381 w 387927"/>
              <a:gd name="connsiteY10" fmla="*/ 942109 h 1454727"/>
              <a:gd name="connsiteX11" fmla="*/ 325581 w 387927"/>
              <a:gd name="connsiteY11" fmla="*/ 990600 h 1454727"/>
              <a:gd name="connsiteX12" fmla="*/ 387927 w 387927"/>
              <a:gd name="connsiteY12" fmla="*/ 1059872 h 1454727"/>
              <a:gd name="connsiteX13" fmla="*/ 346363 w 387927"/>
              <a:gd name="connsiteY13" fmla="*/ 1143000 h 1454727"/>
              <a:gd name="connsiteX14" fmla="*/ 207818 w 387927"/>
              <a:gd name="connsiteY14" fmla="*/ 1212272 h 1454727"/>
              <a:gd name="connsiteX15" fmla="*/ 96981 w 387927"/>
              <a:gd name="connsiteY15" fmla="*/ 1288472 h 1454727"/>
              <a:gd name="connsiteX16" fmla="*/ 76200 w 387927"/>
              <a:gd name="connsiteY16" fmla="*/ 1343890 h 1454727"/>
              <a:gd name="connsiteX17" fmla="*/ 69272 w 387927"/>
              <a:gd name="connsiteY17" fmla="*/ 1454727 h 14547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87927" h="1454727">
                <a:moveTo>
                  <a:pt x="48491" y="0"/>
                </a:moveTo>
                <a:cubicBezTo>
                  <a:pt x="26864" y="172999"/>
                  <a:pt x="61546" y="-98308"/>
                  <a:pt x="27709" y="138545"/>
                </a:cubicBezTo>
                <a:cubicBezTo>
                  <a:pt x="24752" y="159244"/>
                  <a:pt x="23090" y="180108"/>
                  <a:pt x="20781" y="200890"/>
                </a:cubicBezTo>
                <a:cubicBezTo>
                  <a:pt x="18472" y="277090"/>
                  <a:pt x="17792" y="353357"/>
                  <a:pt x="13854" y="429490"/>
                </a:cubicBezTo>
                <a:cubicBezTo>
                  <a:pt x="10863" y="487324"/>
                  <a:pt x="0" y="544760"/>
                  <a:pt x="0" y="602672"/>
                </a:cubicBezTo>
                <a:cubicBezTo>
                  <a:pt x="0" y="646787"/>
                  <a:pt x="3155" y="691492"/>
                  <a:pt x="13854" y="734290"/>
                </a:cubicBezTo>
                <a:cubicBezTo>
                  <a:pt x="24150" y="775475"/>
                  <a:pt x="25943" y="830212"/>
                  <a:pt x="62345" y="852054"/>
                </a:cubicBezTo>
                <a:cubicBezTo>
                  <a:pt x="73890" y="858981"/>
                  <a:pt x="84938" y="866815"/>
                  <a:pt x="96981" y="872836"/>
                </a:cubicBezTo>
                <a:cubicBezTo>
                  <a:pt x="108103" y="878397"/>
                  <a:pt x="120255" y="881640"/>
                  <a:pt x="131618" y="886690"/>
                </a:cubicBezTo>
                <a:cubicBezTo>
                  <a:pt x="141055" y="890884"/>
                  <a:pt x="149926" y="896272"/>
                  <a:pt x="159327" y="900545"/>
                </a:cubicBezTo>
                <a:cubicBezTo>
                  <a:pt x="191318" y="915087"/>
                  <a:pt x="219163" y="924333"/>
                  <a:pt x="249381" y="942109"/>
                </a:cubicBezTo>
                <a:cubicBezTo>
                  <a:pt x="275331" y="957374"/>
                  <a:pt x="304292" y="969312"/>
                  <a:pt x="325581" y="990600"/>
                </a:cubicBezTo>
                <a:cubicBezTo>
                  <a:pt x="366043" y="1031061"/>
                  <a:pt x="344929" y="1008274"/>
                  <a:pt x="387927" y="1059872"/>
                </a:cubicBezTo>
                <a:cubicBezTo>
                  <a:pt x="374072" y="1087581"/>
                  <a:pt x="367635" y="1120477"/>
                  <a:pt x="346363" y="1143000"/>
                </a:cubicBezTo>
                <a:cubicBezTo>
                  <a:pt x="322061" y="1168731"/>
                  <a:pt x="240116" y="1193816"/>
                  <a:pt x="207818" y="1212272"/>
                </a:cubicBezTo>
                <a:cubicBezTo>
                  <a:pt x="164547" y="1236998"/>
                  <a:pt x="134184" y="1260570"/>
                  <a:pt x="96981" y="1288472"/>
                </a:cubicBezTo>
                <a:cubicBezTo>
                  <a:pt x="95211" y="1292898"/>
                  <a:pt x="78372" y="1333033"/>
                  <a:pt x="76200" y="1343890"/>
                </a:cubicBezTo>
                <a:cubicBezTo>
                  <a:pt x="66333" y="1393224"/>
                  <a:pt x="69272" y="1401165"/>
                  <a:pt x="69272" y="1454727"/>
                </a:cubicBezTo>
              </a:path>
            </a:pathLst>
          </a:cu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5074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 animBg="1"/>
      <p:bldP spid="7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15C4CDF5-0F69-BA81-9301-A2BD7B346C06}"/>
              </a:ext>
            </a:extLst>
          </p:cNvPr>
          <p:cNvSpPr txBox="1"/>
          <p:nvPr/>
        </p:nvSpPr>
        <p:spPr>
          <a:xfrm>
            <a:off x="1405460" y="349186"/>
            <a:ext cx="9162268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0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Idea for Robber Strategy (cont.)</a:t>
            </a:r>
          </a:p>
          <a:p>
            <a:endParaRPr lang="en-GB" sz="3000" dirty="0">
              <a:solidFill>
                <a:srgbClr val="3C28FB"/>
              </a:solidFill>
            </a:endParaRPr>
          </a:p>
          <a:p>
            <a:endParaRPr lang="en-GB" sz="3000" dirty="0">
              <a:solidFill>
                <a:srgbClr val="3C28FB"/>
              </a:solidFill>
            </a:endParaRPr>
          </a:p>
          <a:p>
            <a:endParaRPr lang="en-GB" sz="3000" dirty="0">
              <a:solidFill>
                <a:srgbClr val="3C28FB"/>
              </a:solidFill>
            </a:endParaRPr>
          </a:p>
          <a:p>
            <a:endParaRPr lang="en-GB" sz="3000" dirty="0">
              <a:solidFill>
                <a:srgbClr val="3C28FB"/>
              </a:solidFill>
            </a:endParaRPr>
          </a:p>
          <a:p>
            <a:endParaRPr lang="en-GB" sz="1000" dirty="0"/>
          </a:p>
          <a:p>
            <a:endParaRPr lang="en-GB" sz="1000" dirty="0"/>
          </a:p>
          <a:p>
            <a:endParaRPr lang="en-GB" sz="1000" dirty="0"/>
          </a:p>
          <a:p>
            <a:endParaRPr lang="en-GB" sz="200" dirty="0"/>
          </a:p>
          <a:p>
            <a:endParaRPr lang="en-GB" sz="200" dirty="0"/>
          </a:p>
          <a:p>
            <a:endParaRPr lang="en-GB" sz="1000" dirty="0"/>
          </a:p>
          <a:p>
            <a:pPr lvl="1"/>
            <a:endParaRPr lang="en-GB" sz="1000" dirty="0"/>
          </a:p>
          <a:p>
            <a:pPr lvl="1"/>
            <a:endParaRPr lang="en-GB" sz="1000" dirty="0"/>
          </a:p>
          <a:p>
            <a:pPr lvl="1"/>
            <a:endParaRPr lang="en-GB" sz="10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Plan: Keep away from (set of) </a:t>
            </a:r>
            <a:r>
              <a:rPr lang="en-GB" altLang="zh-CN" sz="2400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virtual</a:t>
            </a:r>
            <a:r>
              <a:rPr lang="en-GB" sz="2400" dirty="0">
                <a:solidFill>
                  <a:schemeClr val="accent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cordons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Allows robber to escape in time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Prove that cordons can only move slowly</a:t>
            </a:r>
            <a:endParaRPr lang="en-GB" sz="2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B7B7AAD-2559-6F73-CA02-BBEEE4B2FCF7}"/>
                  </a:ext>
                </a:extLst>
              </p:cNvPr>
              <p:cNvSpPr txBox="1"/>
              <p:nvPr/>
            </p:nvSpPr>
            <p:spPr>
              <a:xfrm>
                <a:off x="3161033" y="5158888"/>
                <a:ext cx="5449567" cy="468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Survives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GB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GB" sz="24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rounds against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sz="24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cops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B7B7AAD-2559-6F73-CA02-BBEEE4B2F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1033" y="5158888"/>
                <a:ext cx="5449567" cy="468205"/>
              </a:xfrm>
              <a:prstGeom prst="rect">
                <a:avLst/>
              </a:prstGeom>
              <a:blipFill>
                <a:blip r:embed="rId3"/>
                <a:stretch>
                  <a:fillRect l="-1790" t="-9091" b="-28571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oliennummernplatzhalter 15">
            <a:extLst>
              <a:ext uri="{FF2B5EF4-FFF2-40B4-BE49-F238E27FC236}">
                <a16:creationId xmlns:a16="http://schemas.microsoft.com/office/drawing/2014/main" id="{BF05B259-0F6A-D418-9D14-021A2A165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26</a:t>
            </a:fld>
            <a:endParaRPr lang="en-GB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7ABB2BC-8D93-6E18-E0FA-44E739E658E2}"/>
              </a:ext>
            </a:extLst>
          </p:cNvPr>
          <p:cNvGrpSpPr/>
          <p:nvPr/>
        </p:nvGrpSpPr>
        <p:grpSpPr>
          <a:xfrm>
            <a:off x="3820221" y="966503"/>
            <a:ext cx="2627347" cy="2115500"/>
            <a:chOff x="4740743" y="1396918"/>
            <a:chExt cx="2705895" cy="2096464"/>
          </a:xfrm>
          <a:solidFill>
            <a:srgbClr val="FFC000">
              <a:alpha val="20000"/>
            </a:srgbClr>
          </a:solidFill>
        </p:grpSpPr>
        <p:sp>
          <p:nvSpPr>
            <p:cNvPr id="2" name="Isosceles Triangle 1">
              <a:extLst>
                <a:ext uri="{FF2B5EF4-FFF2-40B4-BE49-F238E27FC236}">
                  <a16:creationId xmlns:a16="http://schemas.microsoft.com/office/drawing/2014/main" id="{3B058AD2-8FA7-A888-2780-A8DA4B6FAFA2}"/>
                </a:ext>
              </a:extLst>
            </p:cNvPr>
            <p:cNvSpPr/>
            <p:nvPr/>
          </p:nvSpPr>
          <p:spPr>
            <a:xfrm>
              <a:off x="4740743" y="2596218"/>
              <a:ext cx="2705895" cy="897164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5" name="Isosceles Triangle 4">
              <a:extLst>
                <a:ext uri="{FF2B5EF4-FFF2-40B4-BE49-F238E27FC236}">
                  <a16:creationId xmlns:a16="http://schemas.microsoft.com/office/drawing/2014/main" id="{DCFF7C85-7C31-88D5-B186-7024B008F8B7}"/>
                </a:ext>
              </a:extLst>
            </p:cNvPr>
            <p:cNvSpPr/>
            <p:nvPr/>
          </p:nvSpPr>
          <p:spPr>
            <a:xfrm rot="10800000">
              <a:off x="4849651" y="1396918"/>
              <a:ext cx="2488079" cy="1204369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0D419F3-F20F-6B54-4C29-E084559FF4BE}"/>
              </a:ext>
            </a:extLst>
          </p:cNvPr>
          <p:cNvGrpSpPr/>
          <p:nvPr/>
        </p:nvGrpSpPr>
        <p:grpSpPr>
          <a:xfrm>
            <a:off x="496973" y="1176366"/>
            <a:ext cx="11114006" cy="1660094"/>
            <a:chOff x="496973" y="1176366"/>
            <a:chExt cx="11114006" cy="1660094"/>
          </a:xfrm>
        </p:grpSpPr>
        <p:pic>
          <p:nvPicPr>
            <p:cNvPr id="4" name="cylindernarrow.pdf" descr="cylindernarrow.pdf">
              <a:extLst>
                <a:ext uri="{FF2B5EF4-FFF2-40B4-BE49-F238E27FC236}">
                  <a16:creationId xmlns:a16="http://schemas.microsoft.com/office/drawing/2014/main" id="{A6E84B99-2B6D-FE4F-8E0D-D630869FE9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5361" y="1176366"/>
              <a:ext cx="11105618" cy="1634739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" name="pasted-movie.png" descr="pasted-movie.png">
              <a:extLst>
                <a:ext uri="{FF2B5EF4-FFF2-40B4-BE49-F238E27FC236}">
                  <a16:creationId xmlns:a16="http://schemas.microsoft.com/office/drawing/2014/main" id="{A8BFD01B-ACBE-4626-0B71-B4AA0A21AE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35948" b="50085"/>
            <a:stretch>
              <a:fillRect/>
            </a:stretch>
          </p:blipFill>
          <p:spPr>
            <a:xfrm>
              <a:off x="496973" y="1838615"/>
              <a:ext cx="435364" cy="341240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8" name="pasted-movie.png" descr="pasted-movie.png">
              <a:extLst>
                <a:ext uri="{FF2B5EF4-FFF2-40B4-BE49-F238E27FC236}">
                  <a16:creationId xmlns:a16="http://schemas.microsoft.com/office/drawing/2014/main" id="{120270B9-2A2B-4446-25B6-56161CCD3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22975"/>
            <a:stretch>
              <a:fillRect/>
            </a:stretch>
          </p:blipFill>
          <p:spPr>
            <a:xfrm>
              <a:off x="4961741" y="1201721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9" name="pasted-movie.png" descr="pasted-movie.png">
              <a:extLst>
                <a:ext uri="{FF2B5EF4-FFF2-40B4-BE49-F238E27FC236}">
                  <a16:creationId xmlns:a16="http://schemas.microsoft.com/office/drawing/2014/main" id="{F262EF7B-4C0C-2730-EA1E-8904C5B6AEC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22975"/>
            <a:stretch>
              <a:fillRect/>
            </a:stretch>
          </p:blipFill>
          <p:spPr>
            <a:xfrm>
              <a:off x="4969232" y="1507080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11" name="pasted-movie.png" descr="pasted-movie.png">
              <a:extLst>
                <a:ext uri="{FF2B5EF4-FFF2-40B4-BE49-F238E27FC236}">
                  <a16:creationId xmlns:a16="http://schemas.microsoft.com/office/drawing/2014/main" id="{9AFA3CCF-C8BC-06A0-2B5C-F05CA1A81CE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22975"/>
            <a:stretch>
              <a:fillRect/>
            </a:stretch>
          </p:blipFill>
          <p:spPr>
            <a:xfrm>
              <a:off x="4969232" y="1812439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2" name="pasted-movie.png" descr="pasted-movie.png">
              <a:extLst>
                <a:ext uri="{FF2B5EF4-FFF2-40B4-BE49-F238E27FC236}">
                  <a16:creationId xmlns:a16="http://schemas.microsoft.com/office/drawing/2014/main" id="{D8937663-03A6-7C7B-3184-7D6106183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22975"/>
            <a:stretch>
              <a:fillRect/>
            </a:stretch>
          </p:blipFill>
          <p:spPr>
            <a:xfrm>
              <a:off x="5276981" y="2176640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3" name="pasted-movie.png" descr="pasted-movie.png">
              <a:extLst>
                <a:ext uri="{FF2B5EF4-FFF2-40B4-BE49-F238E27FC236}">
                  <a16:creationId xmlns:a16="http://schemas.microsoft.com/office/drawing/2014/main" id="{54353B0E-7788-1A83-899F-CD0A080664B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b="22975"/>
            <a:stretch>
              <a:fillRect/>
            </a:stretch>
          </p:blipFill>
          <p:spPr>
            <a:xfrm>
              <a:off x="4971973" y="2525257"/>
              <a:ext cx="310039" cy="311203"/>
            </a:xfrm>
            <a:prstGeom prst="rect">
              <a:avLst/>
            </a:prstGeom>
            <a:ln w="12700">
              <a:miter lim="400000"/>
            </a:ln>
          </p:spPr>
        </p:pic>
      </p:grpSp>
      <p:pic>
        <p:nvPicPr>
          <p:cNvPr id="80" name="pasted-movie.png" descr="pasted-movie.png">
            <a:extLst>
              <a:ext uri="{FF2B5EF4-FFF2-40B4-BE49-F238E27FC236}">
                <a16:creationId xmlns:a16="http://schemas.microsoft.com/office/drawing/2014/main" id="{CB132ED1-0561-D9FD-CF6E-7CEC63B1037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2975"/>
          <a:stretch>
            <a:fillRect/>
          </a:stretch>
        </p:blipFill>
        <p:spPr>
          <a:xfrm>
            <a:off x="4360750" y="2509784"/>
            <a:ext cx="310039" cy="311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pasted-movie.png" descr="pasted-movie.png">
            <a:extLst>
              <a:ext uri="{FF2B5EF4-FFF2-40B4-BE49-F238E27FC236}">
                <a16:creationId xmlns:a16="http://schemas.microsoft.com/office/drawing/2014/main" id="{5722B8F6-B076-6B9E-913E-E5F685BE386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2975"/>
          <a:stretch>
            <a:fillRect/>
          </a:stretch>
        </p:blipFill>
        <p:spPr>
          <a:xfrm>
            <a:off x="8786159" y="1527412"/>
            <a:ext cx="310039" cy="311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pasted-movie.png" descr="pasted-movie.png">
            <a:extLst>
              <a:ext uri="{FF2B5EF4-FFF2-40B4-BE49-F238E27FC236}">
                <a16:creationId xmlns:a16="http://schemas.microsoft.com/office/drawing/2014/main" id="{EC947AC0-A540-48C4-B161-E532CB79DA0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2975"/>
          <a:stretch>
            <a:fillRect/>
          </a:stretch>
        </p:blipFill>
        <p:spPr>
          <a:xfrm>
            <a:off x="8784972" y="2189661"/>
            <a:ext cx="310039" cy="311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pasted-movie.png" descr="pasted-movie.png">
            <a:extLst>
              <a:ext uri="{FF2B5EF4-FFF2-40B4-BE49-F238E27FC236}">
                <a16:creationId xmlns:a16="http://schemas.microsoft.com/office/drawing/2014/main" id="{9551E77D-F919-EE0F-0C5A-66AA6D330D3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2975"/>
          <a:stretch>
            <a:fillRect/>
          </a:stretch>
        </p:blipFill>
        <p:spPr>
          <a:xfrm>
            <a:off x="5295401" y="1195877"/>
            <a:ext cx="310039" cy="311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pasted-movie.png" descr="pasted-movie.png">
            <a:extLst>
              <a:ext uri="{FF2B5EF4-FFF2-40B4-BE49-F238E27FC236}">
                <a16:creationId xmlns:a16="http://schemas.microsoft.com/office/drawing/2014/main" id="{26C45184-3B27-D2A4-114C-B7AFF22B5F1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22975"/>
          <a:stretch>
            <a:fillRect/>
          </a:stretch>
        </p:blipFill>
        <p:spPr>
          <a:xfrm>
            <a:off x="4670789" y="1522041"/>
            <a:ext cx="310039" cy="311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pasted-movie.png" descr="pasted-movie.png">
            <a:extLst>
              <a:ext uri="{FF2B5EF4-FFF2-40B4-BE49-F238E27FC236}">
                <a16:creationId xmlns:a16="http://schemas.microsoft.com/office/drawing/2014/main" id="{6FC30183-F33C-30BC-530C-7E4464F5737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5948" b="50085"/>
          <a:stretch>
            <a:fillRect/>
          </a:stretch>
        </p:blipFill>
        <p:spPr>
          <a:xfrm>
            <a:off x="2250989" y="5090892"/>
            <a:ext cx="770854" cy="60419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85384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D6702D-067D-083A-E111-374DCCADA0B1}"/>
              </a:ext>
            </a:extLst>
          </p:cNvPr>
          <p:cNvSpPr txBox="1"/>
          <p:nvPr/>
        </p:nvSpPr>
        <p:spPr>
          <a:xfrm>
            <a:off x="1272035" y="516412"/>
            <a:ext cx="8178101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altLang="zh-CN" sz="28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Choice of  Row Moduli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ADD6E25-22CC-0D11-CDFB-05EF1DA9BB5C}"/>
                  </a:ext>
                </a:extLst>
              </p:cNvPr>
              <p:cNvSpPr txBox="1"/>
              <p:nvPr/>
            </p:nvSpPr>
            <p:spPr>
              <a:xfrm>
                <a:off x="1272035" y="3833490"/>
                <a:ext cx="7015438" cy="21609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GB" sz="1000" b="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sz="2400" b="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Fix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1≤</m:t>
                    </m:r>
                    <m:r>
                      <a:rPr lang="en-GB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GB" altLang="zh-CN" sz="20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  </a:t>
                </a:r>
                <a:endParaRPr lang="en-GB" sz="1000" b="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     Pick </a:t>
                </a:r>
                <a:r>
                  <a:rPr lang="en-GB" sz="2400" b="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coprime numbers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GB" sz="2400" b="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where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GB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400" b="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</a:p>
              <a:p>
                <a:r>
                  <a:rPr lang="en-GB" sz="2400" b="0" dirty="0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    </a:t>
                </a:r>
                <a:r>
                  <a:rPr lang="en-GB" sz="2400" dirty="0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—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3C28FB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GB" sz="2400" dirty="0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th modulus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GB" sz="2400" b="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r>
                  <a:rPr lang="en-GB" sz="2400" dirty="0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     —cylinder length  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≈4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⋯</m:t>
                    </m:r>
                    <m:sSub>
                      <m:sSub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en-GB" sz="2400" b="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endParaRPr lang="en-GB" altLang="zh-CN" sz="1000" dirty="0">
                  <a:solidFill>
                    <a:srgbClr val="3C28F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altLang="zh-CN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Compressed formula size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</m:ctrlPr>
                      </m:sSupPr>
                      <m:e>
                        <m:r>
                          <a:rPr lang="zh-CN" alt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𝑛</m:t>
                        </m:r>
                      </m:e>
                      <m:sup>
                        <m:r>
                          <a:rPr lang="zh-CN" alt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𝑘</m:t>
                        </m:r>
                      </m:sup>
                    </m:sSup>
                    <m:r>
                      <a:rPr lang="en-GB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→</m:t>
                    </m:r>
                    <m:sSup>
                      <m:sSupPr>
                        <m:ctrlPr>
                          <a:rPr lang="zh-CN" alt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</m:ctrlPr>
                      </m:sSupPr>
                      <m:e>
                        <m:r>
                          <a:rPr lang="zh-CN" altLang="en-GB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𝑛</m:t>
                        </m:r>
                      </m:e>
                      <m:sup>
                        <m:r>
                          <a:rPr lang="zh-CN" altLang="en-GB" sz="2400" b="1" i="1" smtClean="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𝒄</m:t>
                        </m:r>
                        <m:r>
                          <a:rPr lang="en-GB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+1</m:t>
                        </m:r>
                      </m:sup>
                    </m:sSup>
                  </m:oMath>
                </a14:m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ADD6E25-22CC-0D11-CDFB-05EF1DA9BB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035" y="3833490"/>
                <a:ext cx="7015438" cy="2160976"/>
              </a:xfrm>
              <a:prstGeom prst="rect">
                <a:avLst/>
              </a:prstGeom>
              <a:blipFill>
                <a:blip r:embed="rId3"/>
                <a:stretch>
                  <a:fillRect l="-2522" b="-76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4EB908-CD38-772C-1B6D-8D6AA1C24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27</a:t>
            </a:fld>
            <a:endParaRPr lang="en-GB" dirty="0"/>
          </a:p>
        </p:txBody>
      </p:sp>
      <p:pic>
        <p:nvPicPr>
          <p:cNvPr id="3" name="cylinder-m.pdf" descr="cylinder-m.pdf">
            <a:extLst>
              <a:ext uri="{FF2B5EF4-FFF2-40B4-BE49-F238E27FC236}">
                <a16:creationId xmlns:a16="http://schemas.microsoft.com/office/drawing/2014/main" id="{B82029DE-D561-4FD6-BE56-7EF82C44A3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8386" b="40116"/>
          <a:stretch>
            <a:fillRect/>
          </a:stretch>
        </p:blipFill>
        <p:spPr>
          <a:xfrm>
            <a:off x="152114" y="1307706"/>
            <a:ext cx="11887772" cy="1806590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Line Line" descr="Line Line">
            <a:extLst>
              <a:ext uri="{FF2B5EF4-FFF2-40B4-BE49-F238E27FC236}">
                <a16:creationId xmlns:a16="http://schemas.microsoft.com/office/drawing/2014/main" id="{568A3A2C-171F-B10C-0BC3-D3C0129799C0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570632" y="2249069"/>
            <a:ext cx="2402308" cy="45719"/>
          </a:xfrm>
          <a:prstGeom prst="rect">
            <a:avLst/>
          </a:prstGeom>
        </p:spPr>
      </p:pic>
      <p:pic>
        <p:nvPicPr>
          <p:cNvPr id="5" name="Line Line" descr="Line Line">
            <a:extLst>
              <a:ext uri="{FF2B5EF4-FFF2-40B4-BE49-F238E27FC236}">
                <a16:creationId xmlns:a16="http://schemas.microsoft.com/office/drawing/2014/main" id="{7B5DFD00-FF14-B365-C77F-EE92E71DCC93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 rot="16200000">
            <a:off x="9226466" y="2188141"/>
            <a:ext cx="2402308" cy="457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6115963-0403-CC55-9AFA-4911385FCAD6}"/>
                  </a:ext>
                </a:extLst>
              </p:cNvPr>
              <p:cNvSpPr txBox="1"/>
              <p:nvPr/>
            </p:nvSpPr>
            <p:spPr>
              <a:xfrm>
                <a:off x="252135" y="1217406"/>
                <a:ext cx="2648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GB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GB" sz="1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6115963-0403-CC55-9AFA-4911385FC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35" y="1217406"/>
                <a:ext cx="264861" cy="369332"/>
              </a:xfrm>
              <a:prstGeom prst="rect">
                <a:avLst/>
              </a:prstGeom>
              <a:blipFill>
                <a:blip r:embed="rId6"/>
                <a:stretch>
                  <a:fillRect r="-409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E8C7FBF2-2AD8-3F1F-1564-2FEA76F30241}"/>
              </a:ext>
            </a:extLst>
          </p:cNvPr>
          <p:cNvSpPr/>
          <p:nvPr/>
        </p:nvSpPr>
        <p:spPr>
          <a:xfrm>
            <a:off x="9025561" y="5540104"/>
            <a:ext cx="1502762" cy="365126"/>
          </a:xfrm>
          <a:prstGeom prst="rect">
            <a:avLst/>
          </a:prstGeom>
          <a:solidFill>
            <a:srgbClr val="FF0000">
              <a:alpha val="1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E79F57D-05EB-7564-483A-0ED8B1160EBC}"/>
              </a:ext>
            </a:extLst>
          </p:cNvPr>
          <p:cNvGrpSpPr/>
          <p:nvPr/>
        </p:nvGrpSpPr>
        <p:grpSpPr>
          <a:xfrm>
            <a:off x="8068354" y="4042181"/>
            <a:ext cx="3852367" cy="2168005"/>
            <a:chOff x="6738196" y="3338174"/>
            <a:chExt cx="5161038" cy="2939618"/>
          </a:xfrm>
        </p:grpSpPr>
        <p:grpSp>
          <p:nvGrpSpPr>
            <p:cNvPr id="10" name="Gruppieren 25">
              <a:extLst>
                <a:ext uri="{FF2B5EF4-FFF2-40B4-BE49-F238E27FC236}">
                  <a16:creationId xmlns:a16="http://schemas.microsoft.com/office/drawing/2014/main" id="{E2EBB15E-432F-80FB-90F8-5FC606CB2404}"/>
                </a:ext>
              </a:extLst>
            </p:cNvPr>
            <p:cNvGrpSpPr/>
            <p:nvPr/>
          </p:nvGrpSpPr>
          <p:grpSpPr>
            <a:xfrm>
              <a:off x="7652237" y="3338174"/>
              <a:ext cx="4246997" cy="2939618"/>
              <a:chOff x="953992" y="1612723"/>
              <a:chExt cx="11640517" cy="3984476"/>
            </a:xfrm>
          </p:grpSpPr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E2678F76-8368-D22C-E592-7737B9C58E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3557" y="5031162"/>
                <a:ext cx="7839437" cy="22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13">
                <a:extLst>
                  <a:ext uri="{FF2B5EF4-FFF2-40B4-BE49-F238E27FC236}">
                    <a16:creationId xmlns:a16="http://schemas.microsoft.com/office/drawing/2014/main" id="{6E1FDD6C-6DFB-2506-D3D4-2F1D0E33E83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63557" y="2178372"/>
                <a:ext cx="0" cy="2852812"/>
              </a:xfrm>
              <a:prstGeom prst="straightConnector1">
                <a:avLst/>
              </a:prstGeom>
              <a:ln w="1905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21">
                <a:extLst>
                  <a:ext uri="{FF2B5EF4-FFF2-40B4-BE49-F238E27FC236}">
                    <a16:creationId xmlns:a16="http://schemas.microsoft.com/office/drawing/2014/main" id="{5F4CDB92-ABA9-FA6A-6641-33975D47E9D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12227" y="2290865"/>
                <a:ext cx="0" cy="2710872"/>
              </a:xfrm>
              <a:prstGeom prst="line">
                <a:avLst/>
              </a:prstGeom>
              <a:ln w="19050" cap="flat" cmpd="sng" algn="ctr">
                <a:solidFill>
                  <a:srgbClr val="FC560C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TextBox 23">
                    <a:extLst>
                      <a:ext uri="{FF2B5EF4-FFF2-40B4-BE49-F238E27FC236}">
                        <a16:creationId xmlns:a16="http://schemas.microsoft.com/office/drawing/2014/main" id="{22E0C40C-5C08-315D-5DFD-00436D547206}"/>
                      </a:ext>
                    </a:extLst>
                  </p:cNvPr>
                  <p:cNvSpPr txBox="1"/>
                  <p:nvPr/>
                </p:nvSpPr>
                <p:spPr>
                  <a:xfrm>
                    <a:off x="4356055" y="5031550"/>
                    <a:ext cx="1030727" cy="56564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m:rPr>
                              <m:nor/>
                            </m:rPr>
                            <a:rPr lang="en-GB" sz="2000" i="0" smtClean="0">
                              <a:solidFill>
                                <a:srgbClr val="FC560C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GB" sz="2000" i="1">
                                  <a:solidFill>
                                    <a:srgbClr val="FC560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000" i="1">
                                  <a:solidFill>
                                    <a:srgbClr val="FC560C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FC560C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GB" altLang="da-DK" sz="2000" i="0" dirty="0">
                              <a:solidFill>
                                <a:srgbClr val="FC560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ato" panose="020F0502020204030203" pitchFamily="34" charset="0"/>
                            </a:rPr>
                            <m:t>|</m:t>
                          </m:r>
                        </m:oMath>
                      </m:oMathPara>
                    </a14:m>
                    <a:endParaRPr lang="en-GB" sz="2000" dirty="0">
                      <a:solidFill>
                        <a:srgbClr val="FC560C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0" name="TextBox 23">
                    <a:extLst>
                      <a:ext uri="{FF2B5EF4-FFF2-40B4-BE49-F238E27FC236}">
                        <a16:creationId xmlns:a16="http://schemas.microsoft.com/office/drawing/2014/main" id="{22E0C40C-5C08-315D-5DFD-00436D54720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356055" y="5031550"/>
                    <a:ext cx="1030727" cy="56564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41304" r="-86957" b="-33333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34C66823-0F2C-8CB7-7386-A1469488D5B8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6360" y="4680203"/>
                    <a:ext cx="2578149" cy="56564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depth</m:t>
                          </m:r>
                        </m:oMath>
                      </m:oMathPara>
                    </a14:m>
                    <a:endParaRPr lang="en-GB" sz="2000" dirty="0"/>
                  </a:p>
                </p:txBody>
              </p:sp>
            </mc:Choice>
            <mc:Fallback xmlns=""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34C66823-0F2C-8CB7-7386-A1469488D5B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6360" y="4680203"/>
                    <a:ext cx="2578149" cy="56564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1304" r="-12174" b="-36000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2" name="Straight Connector 21">
                <a:extLst>
                  <a:ext uri="{FF2B5EF4-FFF2-40B4-BE49-F238E27FC236}">
                    <a16:creationId xmlns:a16="http://schemas.microsoft.com/office/drawing/2014/main" id="{BBA53031-13BD-5643-4BF2-94E4884921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63554" y="2815626"/>
                <a:ext cx="7607242" cy="0"/>
              </a:xfrm>
              <a:prstGeom prst="line">
                <a:avLst/>
              </a:prstGeom>
              <a:ln w="19050" cap="flat" cmpd="sng" algn="ctr">
                <a:solidFill>
                  <a:schemeClr val="dk1"/>
                </a:solidFill>
                <a:prstDash val="dash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TextBox 27">
                    <a:extLst>
                      <a:ext uri="{FF2B5EF4-FFF2-40B4-BE49-F238E27FC236}">
                        <a16:creationId xmlns:a16="http://schemas.microsoft.com/office/drawing/2014/main" id="{FAB64F84-9E1A-5D80-5931-6D089531E14B}"/>
                      </a:ext>
                    </a:extLst>
                  </p:cNvPr>
                  <p:cNvSpPr txBox="1"/>
                  <p:nvPr/>
                </p:nvSpPr>
                <p:spPr>
                  <a:xfrm>
                    <a:off x="953992" y="1612723"/>
                    <a:ext cx="405022" cy="56564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width</m:t>
                          </m:r>
                        </m:oMath>
                      </m:oMathPara>
                    </a14:m>
                    <a:endParaRPr lang="en-GB" sz="2000" dirty="0"/>
                  </a:p>
                </p:txBody>
              </p:sp>
            </mc:Choice>
            <mc:Fallback xmlns="">
              <p:sp>
                <p:nvSpPr>
                  <p:cNvPr id="54" name="TextBox 27">
                    <a:extLst>
                      <a:ext uri="{FF2B5EF4-FFF2-40B4-BE49-F238E27FC236}">
                        <a16:creationId xmlns:a16="http://schemas.microsoft.com/office/drawing/2014/main" id="{FAB64F84-9E1A-5D80-5931-6D089531E14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3992" y="1612723"/>
                    <a:ext cx="405022" cy="56564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83333" r="-566667" b="-5882"/>
                    </a:stretch>
                  </a:blipFill>
                </p:spPr>
                <p:txBody>
                  <a:bodyPr/>
                  <a:lstStyle/>
                  <a:p>
                    <a:r>
                      <a:rPr lang="en-GB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1" name="Verbindungsstelle 40">
              <a:extLst>
                <a:ext uri="{FF2B5EF4-FFF2-40B4-BE49-F238E27FC236}">
                  <a16:creationId xmlns:a16="http://schemas.microsoft.com/office/drawing/2014/main" id="{C922C804-AD79-CDEE-E2D7-8A9FA8F6B5D9}"/>
                </a:ext>
              </a:extLst>
            </p:cNvPr>
            <p:cNvSpPr/>
            <p:nvPr/>
          </p:nvSpPr>
          <p:spPr>
            <a:xfrm flipH="1" flipV="1">
              <a:off x="8278524" y="4715684"/>
              <a:ext cx="178496" cy="168267"/>
            </a:xfrm>
            <a:prstGeom prst="flowChartConnector">
              <a:avLst/>
            </a:prstGeom>
            <a:solidFill>
              <a:srgbClr val="3C28FB"/>
            </a:solidFill>
            <a:ln>
              <a:solidFill>
                <a:srgbClr val="3C28F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2" name="Verbindungsstelle 40">
              <a:extLst>
                <a:ext uri="{FF2B5EF4-FFF2-40B4-BE49-F238E27FC236}">
                  <a16:creationId xmlns:a16="http://schemas.microsoft.com/office/drawing/2014/main" id="{803D59DC-ADEE-B9C7-8D0A-6B1E11558C68}"/>
                </a:ext>
              </a:extLst>
            </p:cNvPr>
            <p:cNvSpPr/>
            <p:nvPr/>
          </p:nvSpPr>
          <p:spPr>
            <a:xfrm flipH="1">
              <a:off x="10271912" y="5590793"/>
              <a:ext cx="100071" cy="94336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23">
                  <a:extLst>
                    <a:ext uri="{FF2B5EF4-FFF2-40B4-BE49-F238E27FC236}">
                      <a16:creationId xmlns:a16="http://schemas.microsoft.com/office/drawing/2014/main" id="{5433B251-D62E-0BE1-83BC-6830870B0645}"/>
                    </a:ext>
                  </a:extLst>
                </p:cNvPr>
                <p:cNvSpPr txBox="1"/>
                <p:nvPr/>
              </p:nvSpPr>
              <p:spPr>
                <a:xfrm>
                  <a:off x="6738196" y="5429303"/>
                  <a:ext cx="1204532" cy="41731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+3</m:t>
                        </m:r>
                      </m:oMath>
                    </m:oMathPara>
                  </a14:m>
                  <a:endParaRPr lang="en-GB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23">
                  <a:extLst>
                    <a:ext uri="{FF2B5EF4-FFF2-40B4-BE49-F238E27FC236}">
                      <a16:creationId xmlns:a16="http://schemas.microsoft.com/office/drawing/2014/main" id="{5433B251-D62E-0BE1-83BC-6830870B06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8196" y="5429303"/>
                  <a:ext cx="1204532" cy="417318"/>
                </a:xfrm>
                <a:prstGeom prst="rect">
                  <a:avLst/>
                </a:prstGeom>
                <a:blipFill>
                  <a:blip r:embed="rId13"/>
                  <a:stretch>
                    <a:fillRect r="-9459" b="-5882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23">
                  <a:extLst>
                    <a:ext uri="{FF2B5EF4-FFF2-40B4-BE49-F238E27FC236}">
                      <a16:creationId xmlns:a16="http://schemas.microsoft.com/office/drawing/2014/main" id="{A48C5B60-F130-5D21-E573-66EBAABD6B44}"/>
                    </a:ext>
                  </a:extLst>
                </p:cNvPr>
                <p:cNvSpPr txBox="1"/>
                <p:nvPr/>
              </p:nvSpPr>
              <p:spPr>
                <a:xfrm>
                  <a:off x="7525483" y="4592404"/>
                  <a:ext cx="376057" cy="43088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right"/>
                      </m:oMathParaPr>
                      <m:oMath>
                        <m:r>
                          <a:rPr 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oMath>
                    </m:oMathPara>
                  </a14:m>
                  <a:endParaRPr lang="en-GB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23">
                  <a:extLst>
                    <a:ext uri="{FF2B5EF4-FFF2-40B4-BE49-F238E27FC236}">
                      <a16:creationId xmlns:a16="http://schemas.microsoft.com/office/drawing/2014/main" id="{A48C5B60-F130-5D21-E573-66EBAABD6B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5483" y="4592404"/>
                  <a:ext cx="376057" cy="430886"/>
                </a:xfrm>
                <a:prstGeom prst="rect">
                  <a:avLst/>
                </a:prstGeom>
                <a:blipFill>
                  <a:blip r:embed="rId14"/>
                  <a:stretch>
                    <a:fillRect l="-32609" r="-32609" b="-384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23">
                <a:extLst>
                  <a:ext uri="{FF2B5EF4-FFF2-40B4-BE49-F238E27FC236}">
                    <a16:creationId xmlns:a16="http://schemas.microsoft.com/office/drawing/2014/main" id="{F8E30C18-4692-AE86-F232-4A102317E334}"/>
                  </a:ext>
                </a:extLst>
              </p:cNvPr>
              <p:cNvSpPr txBox="1"/>
              <p:nvPr/>
            </p:nvSpPr>
            <p:spPr>
              <a:xfrm>
                <a:off x="10603032" y="5932919"/>
                <a:ext cx="28070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0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m:oMathPara>
                </a14:m>
                <a:endParaRPr lang="en-GB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TextBox 23">
                <a:extLst>
                  <a:ext uri="{FF2B5EF4-FFF2-40B4-BE49-F238E27FC236}">
                    <a16:creationId xmlns:a16="http://schemas.microsoft.com/office/drawing/2014/main" id="{F8E30C18-4692-AE86-F232-4A102317E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3032" y="5932919"/>
                <a:ext cx="280701" cy="307777"/>
              </a:xfrm>
              <a:prstGeom prst="rect">
                <a:avLst/>
              </a:prstGeom>
              <a:blipFill>
                <a:blip r:embed="rId15"/>
                <a:stretch>
                  <a:fillRect l="-32609" r="-30435" b="-5882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Verbindungsstelle 40">
            <a:extLst>
              <a:ext uri="{FF2B5EF4-FFF2-40B4-BE49-F238E27FC236}">
                <a16:creationId xmlns:a16="http://schemas.microsoft.com/office/drawing/2014/main" id="{269E73A9-D9FE-62DD-60B1-A8F7C80ABC4B}"/>
              </a:ext>
            </a:extLst>
          </p:cNvPr>
          <p:cNvSpPr/>
          <p:nvPr/>
        </p:nvSpPr>
        <p:spPr>
          <a:xfrm flipH="1" flipV="1">
            <a:off x="10673612" y="5667727"/>
            <a:ext cx="133235" cy="124099"/>
          </a:xfrm>
          <a:prstGeom prst="flowChartConnector">
            <a:avLst/>
          </a:prstGeom>
          <a:solidFill>
            <a:srgbClr val="3C28FB"/>
          </a:solidFill>
          <a:ln>
            <a:solidFill>
              <a:srgbClr val="3C28F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15596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55" grpId="0"/>
      <p:bldP spid="5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D6702D-067D-083A-E111-374DCCADA0B1}"/>
              </a:ext>
            </a:extLst>
          </p:cNvPr>
          <p:cNvSpPr txBox="1"/>
          <p:nvPr/>
        </p:nvSpPr>
        <p:spPr>
          <a:xfrm>
            <a:off x="920844" y="762669"/>
            <a:ext cx="10712356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80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Motivation for Grohe et al: Weisfeiler-Leman (WL) algorithm</a:t>
            </a:r>
            <a:endParaRPr lang="en-GB" altLang="zh-CN" sz="2800" dirty="0">
              <a:solidFill>
                <a:srgbClr val="3C28FB"/>
              </a:solidFill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E71E5D-CC64-20B2-FE1D-222555C09977}"/>
                  </a:ext>
                </a:extLst>
              </p:cNvPr>
              <p:cNvSpPr txBox="1"/>
              <p:nvPr/>
            </p:nvSpPr>
            <p:spPr>
              <a:xfrm>
                <a:off x="1820806" y="3779312"/>
                <a:ext cx="9151994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Dimension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Width 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Iterations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Depth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Graph pair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Tseitin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formula  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solidFill>
                      <a:srgbClr val="3C28FB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[GLNS ‘23] 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not </a:t>
                </a:r>
                <a:r>
                  <a:rPr lang="en-GB" sz="2400" dirty="0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robust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enough to yield proof complexity results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E71E5D-CC64-20B2-FE1D-222555C099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806" y="3779312"/>
                <a:ext cx="9151994" cy="1938992"/>
              </a:xfrm>
              <a:prstGeom prst="rect">
                <a:avLst/>
              </a:prstGeom>
              <a:blipFill>
                <a:blip r:embed="rId3"/>
                <a:stretch>
                  <a:fillRect l="-933" t="-2516" r="-666" b="-6289"/>
                </a:stretch>
              </a:blipFill>
            </p:spPr>
            <p:txBody>
              <a:bodyPr/>
              <a:lstStyle/>
              <a:p>
                <a:r>
                  <a:rPr lang="en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D059CCF-7156-B95E-B681-24A3EFBE5EBE}"/>
                  </a:ext>
                </a:extLst>
              </p:cNvPr>
              <p:cNvSpPr txBox="1"/>
              <p:nvPr/>
            </p:nvSpPr>
            <p:spPr>
              <a:xfrm>
                <a:off x="1820806" y="1716736"/>
                <a:ext cx="9279316" cy="141660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GB" sz="2800" b="1">
                    <a:latin typeface="Iskoola Pota" panose="020B0502040204020203" pitchFamily="34" charset="0"/>
                    <a:cs typeface="Iskoola Pota" panose="020B0502040204020203" pitchFamily="34" charset="0"/>
                  </a:rPr>
                  <a:t> </a:t>
                </a:r>
                <a:r>
                  <a:rPr lang="en-GB" sz="2400" b="1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Theorem</a:t>
                </a:r>
                <a:r>
                  <a:rPr lang="en-GB" sz="240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200">
                    <a:solidFill>
                      <a:srgbClr val="3C28FB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[Grohe-Lichter-Neuen-Schweitzer ‘23]</a:t>
                </a:r>
              </a:p>
              <a:p>
                <a:r>
                  <a:rPr lang="en-GB" sz="100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 </a:t>
                </a:r>
              </a:p>
              <a:p>
                <a:r>
                  <a:rPr lang="en-GB" sz="280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∃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graph pairs</a:t>
                </a:r>
                <a:r>
                  <a:rPr lang="en-GB" sz="24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3C28FB"/>
                        </a:solidFill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𝑘</m:t>
                    </m:r>
                  </m:oMath>
                </a14:m>
                <a:r>
                  <a:rPr lang="en-GB" sz="2400" dirty="0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-dimensional </a:t>
                </a:r>
                <a:r>
                  <a:rPr lang="en-GB" sz="2400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WL </a:t>
                </a:r>
                <a:r>
                  <a:rPr lang="en-GB" sz="240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can distinguish, but</a:t>
                </a:r>
              </a:p>
              <a:p>
                <a:r>
                  <a:rPr lang="en-GB" sz="240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 only after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0" i="1" smtClean="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𝑛</m:t>
                        </m:r>
                      </m:e>
                      <m:sup>
                        <m:r>
                          <a:rPr lang="en-GB" sz="2400" b="0" i="1" smtClean="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𝑘</m:t>
                        </m:r>
                        <m:r>
                          <a:rPr lang="en-GB" sz="2400" b="0" i="1" smtClean="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/2</m:t>
                        </m:r>
                      </m:sup>
                    </m:sSup>
                  </m:oMath>
                </a14:m>
                <a:r>
                  <a:rPr lang="en-GB" sz="2400" dirty="0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iterations</a:t>
                </a:r>
                <a:r>
                  <a:rPr lang="en-GB" sz="2400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. </a:t>
                </a:r>
                <a:endParaRPr lang="en-GB" sz="2400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D059CCF-7156-B95E-B681-24A3EFBE5E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806" y="1716736"/>
                <a:ext cx="9279316" cy="1416606"/>
              </a:xfrm>
              <a:prstGeom prst="rect">
                <a:avLst/>
              </a:prstGeom>
              <a:blipFill>
                <a:blip r:embed="rId4"/>
                <a:stretch>
                  <a:fillRect l="-1051" t="-4310" b="-1077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94317A9A-88D8-F5F3-17F4-3CA9A1D62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6562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0082F78-DF34-B318-9FD1-561F0287A0BB}"/>
                  </a:ext>
                </a:extLst>
              </p:cNvPr>
              <p:cNvSpPr txBox="1"/>
              <p:nvPr/>
            </p:nvSpPr>
            <p:spPr>
              <a:xfrm>
                <a:off x="2080292" y="1818000"/>
                <a:ext cx="8626290" cy="180716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GB" sz="2400" b="1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1000" b="1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b="1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Theorem </a:t>
                </a:r>
                <a:endParaRPr lang="en-GB" sz="240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r>
                  <a:rPr lang="en-GB" sz="2400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 </a:t>
                </a:r>
                <a:r>
                  <a:rPr lang="en-GB" sz="240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For any </a:t>
                </a:r>
                <a14:m>
                  <m:oMath xmlns:m="http://schemas.openxmlformats.org/officeDocument/2006/math">
                    <m:r>
                      <a:rPr lang="en-GB" sz="2400" b="0" i="0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1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≤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𝑐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≤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𝑘</m:t>
                    </m:r>
                    <m:r>
                      <a:rPr lang="en-GB" sz="2400" b="0" i="1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−1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∃</m:t>
                    </m:r>
                  </m:oMath>
                </a14:m>
                <a:r>
                  <a:rPr lang="en-GB" sz="24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graph pairs of size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𝑛</m:t>
                    </m:r>
                  </m:oMath>
                </a14:m>
                <a:endParaRPr lang="en-GB" sz="1600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endParaRPr lang="en-GB" sz="100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1371600" lvl="2" indent="-457200">
                  <a:buFont typeface="Arial" panose="020B0604020202020204" pitchFamily="34" charset="0"/>
                  <a:buChar char="•"/>
                </a:pPr>
                <a:r>
                  <a:rPr lang="en-GB" sz="240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dimension-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solidFill>
                          <a:srgbClr val="3C28FB"/>
                        </a:solidFill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𝑘</m:t>
                    </m:r>
                  </m:oMath>
                </a14:m>
                <a:r>
                  <a:rPr lang="en-GB" sz="2400" dirty="0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WL can distinguish</a:t>
                </a:r>
              </a:p>
              <a:p>
                <a:pPr marL="1371600" lvl="2" indent="-457200">
                  <a:buFont typeface="Arial" panose="020B0604020202020204" pitchFamily="34" charset="0"/>
                  <a:buChar char="•"/>
                </a:pPr>
                <a:r>
                  <a:rPr lang="en-GB" sz="240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</a:t>
                </a:r>
                <a:r>
                  <a:rPr lang="en-GB" sz="240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imension-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sz="2400" b="0" i="1" smtClean="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</m:ctrlPr>
                      </m:dPr>
                      <m:e>
                        <m:r>
                          <a:rPr lang="en-GB" sz="2400" b="0" i="1" smtClean="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𝑘</m:t>
                        </m:r>
                        <m:r>
                          <a:rPr lang="en-GB" sz="2400" b="0" i="1" smtClean="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+</m:t>
                        </m:r>
                        <m:r>
                          <a:rPr lang="en-GB" sz="2400" b="0" i="1" smtClean="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𝑐</m:t>
                        </m:r>
                        <m:r>
                          <a:rPr lang="en-GB" sz="2400" b="0" i="1" smtClean="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GB" sz="24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WL requires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400" b="0" i="1" smtClean="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solidFill>
                              <a:srgbClr val="3C28FB"/>
                            </a:solidFill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𝑛</m:t>
                        </m:r>
                      </m:e>
                      <m:sup>
                        <m:f>
                          <m:fPr>
                            <m:ctrlPr>
                              <a:rPr lang="en-GB" sz="2400" b="0" i="1" smtClean="0">
                                <a:solidFill>
                                  <a:srgbClr val="3C28FB"/>
                                </a:solidFill>
                                <a:latin typeface="Cambria Math" panose="02040503050406030204" pitchFamily="18" charset="0"/>
                                <a:cs typeface="Iskoola Pota" panose="020B0502040204020203" pitchFamily="34" charset="0"/>
                              </a:rPr>
                            </m:ctrlPr>
                          </m:fPr>
                          <m:num>
                            <m:r>
                              <a:rPr lang="en-GB" sz="2400" b="0" i="1" smtClean="0">
                                <a:solidFill>
                                  <a:srgbClr val="3C28FB"/>
                                </a:solidFill>
                                <a:latin typeface="Cambria Math" panose="02040503050406030204" pitchFamily="18" charset="0"/>
                                <a:cs typeface="Iskoola Pota" panose="020B0502040204020203" pitchFamily="34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GB" sz="2400" b="0" i="1" smtClean="0">
                                <a:solidFill>
                                  <a:srgbClr val="3C28FB"/>
                                </a:solidFill>
                                <a:latin typeface="Cambria Math" panose="02040503050406030204" pitchFamily="18" charset="0"/>
                                <a:cs typeface="Iskoola Pota" panose="020B0502040204020203" pitchFamily="34" charset="0"/>
                              </a:rPr>
                              <m:t>𝑐</m:t>
                            </m:r>
                            <m:r>
                              <a:rPr lang="en-GB" sz="2400" b="0" i="1" smtClean="0">
                                <a:solidFill>
                                  <a:srgbClr val="3C28FB"/>
                                </a:solidFill>
                                <a:latin typeface="Cambria Math" panose="02040503050406030204" pitchFamily="18" charset="0"/>
                                <a:cs typeface="Iskoola Pota" panose="020B0502040204020203" pitchFamily="34" charset="0"/>
                              </a:rPr>
                              <m:t>+1</m:t>
                            </m:r>
                          </m:den>
                        </m:f>
                      </m:sup>
                    </m:sSup>
                  </m:oMath>
                </a14:m>
                <a:r>
                  <a:rPr lang="en-GB" sz="2400" dirty="0">
                    <a:solidFill>
                      <a:schemeClr val="tx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iterations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0082F78-DF34-B318-9FD1-561F0287A0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0292" y="1818000"/>
                <a:ext cx="8626290" cy="1807161"/>
              </a:xfrm>
              <a:prstGeom prst="rect">
                <a:avLst/>
              </a:prstGeom>
              <a:blipFill>
                <a:blip r:embed="rId3"/>
                <a:stretch>
                  <a:fillRect l="-919" t="-5051" b="-841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D48A20E-B0B4-ADA0-5595-ADFA6BE19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29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63594E-5ECC-575E-ED90-A476BF43FBFF}"/>
              </a:ext>
            </a:extLst>
          </p:cNvPr>
          <p:cNvSpPr txBox="1"/>
          <p:nvPr/>
        </p:nvSpPr>
        <p:spPr>
          <a:xfrm>
            <a:off x="920844" y="762669"/>
            <a:ext cx="10712356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280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Our Result for Weisfeiler-Leman (WL)</a:t>
            </a:r>
            <a:endParaRPr lang="en-GB" altLang="zh-CN" sz="2800" dirty="0">
              <a:solidFill>
                <a:srgbClr val="3C28FB"/>
              </a:solidFill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01969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2A64B-705F-A9E7-DFA9-DD4E29CB2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77E2AB7E-D019-2716-6F9B-F0BD53D6E851}"/>
              </a:ext>
            </a:extLst>
          </p:cNvPr>
          <p:cNvSpPr txBox="1"/>
          <p:nvPr/>
        </p:nvSpPr>
        <p:spPr>
          <a:xfrm>
            <a:off x="916252" y="795875"/>
            <a:ext cx="881608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altLang="zh-CN" sz="28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Proof Structure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A3E2E635-0ED9-B163-96EC-B3ACA0CAB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30</a:t>
            </a:fld>
            <a:endParaRPr lang="en-GB" dirty="0"/>
          </a:p>
        </p:txBody>
      </p:sp>
      <p:sp>
        <p:nvSpPr>
          <p:cNvPr id="3" name="Textfeld 9">
            <a:extLst>
              <a:ext uri="{FF2B5EF4-FFF2-40B4-BE49-F238E27FC236}">
                <a16:creationId xmlns:a16="http://schemas.microsoft.com/office/drawing/2014/main" id="{50A50283-D572-C44B-AB4D-2FDBBB541FF1}"/>
              </a:ext>
            </a:extLst>
          </p:cNvPr>
          <p:cNvSpPr txBox="1"/>
          <p:nvPr/>
        </p:nvSpPr>
        <p:spPr>
          <a:xfrm>
            <a:off x="916252" y="2126416"/>
            <a:ext cx="1029443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Proof in two steps:</a:t>
            </a:r>
          </a:p>
          <a:p>
            <a:pPr marL="457200" indent="-457200">
              <a:buFont typeface="+mj-lt"/>
              <a:buAutoNum type="arabicPeriod"/>
            </a:pPr>
            <a:endParaRPr lang="en-GB"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Establish width vs depth trade-off results for resolution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Derive proof &amp; circuit complexity trade-off results with lifting</a:t>
            </a:r>
            <a:endParaRPr lang="en-GB"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GB"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5550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0C0C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5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D5E1F-2E05-CC17-E365-FAF9F5872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4A96C-BDB1-E436-7013-2D50B8314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31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C56327A-0C94-9F66-DE69-060166221D16}"/>
                  </a:ext>
                </a:extLst>
              </p:cNvPr>
              <p:cNvSpPr txBox="1"/>
              <p:nvPr/>
            </p:nvSpPr>
            <p:spPr>
              <a:xfrm>
                <a:off x="1088020" y="3255066"/>
                <a:ext cx="10845479" cy="1107996"/>
              </a:xfrm>
              <a:prstGeom prst="rect">
                <a:avLst/>
              </a:prstGeom>
              <a:noFill/>
            </p:spPr>
            <p:txBody>
              <a:bodyPr wrap="square" lIns="91440" tIns="0" rIns="0" bIns="0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Example</a:t>
                </a:r>
              </a:p>
              <a:p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𝐹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requires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large resolution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width</a:t>
                </a:r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     	</a:t>
                </a:r>
                <a14:m>
                  <m:oMath xmlns:m="http://schemas.openxmlformats.org/officeDocument/2006/math">
                    <m:r>
                      <a:rPr lang="en-GB" sz="2400" b="0" i="0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⇒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GB" sz="2400" b="0" i="1" dirty="0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𝐹</m:t>
                    </m:r>
                    <m:r>
                      <a:rPr lang="en-GB" sz="2400" b="0" i="1" dirty="0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∘</m:t>
                    </m:r>
                    <m:r>
                      <a:rPr lang="en-GB" sz="2400" b="0" i="1" dirty="0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𝑔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requires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large resolution/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cutting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planes/monotone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circuit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size</a:t>
                </a:r>
                <a:endParaRPr lang="en-GB" sz="2400" i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C56327A-0C94-9F66-DE69-060166221D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020" y="3255066"/>
                <a:ext cx="10845479" cy="1107996"/>
              </a:xfrm>
              <a:prstGeom prst="rect">
                <a:avLst/>
              </a:prstGeom>
              <a:blipFill>
                <a:blip r:embed="rId3"/>
                <a:stretch>
                  <a:fillRect l="-730" t="-8791" b="-153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oliennummernplatzhalter 4">
            <a:extLst>
              <a:ext uri="{FF2B5EF4-FFF2-40B4-BE49-F238E27FC236}">
                <a16:creationId xmlns:a16="http://schemas.microsoft.com/office/drawing/2014/main" id="{114E193A-1C6F-701F-045B-D5FCA512874D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530D112-B9FF-4E08-90B6-37EA964743A0}" type="slidenum">
              <a:rPr lang="en-GB" smtClean="0"/>
              <a:pPr/>
              <a:t>31</a:t>
            </a:fld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063F58-31DA-C6D6-64CD-E2AD5BC1AB90}"/>
              </a:ext>
            </a:extLst>
          </p:cNvPr>
          <p:cNvSpPr txBox="1"/>
          <p:nvPr/>
        </p:nvSpPr>
        <p:spPr>
          <a:xfrm>
            <a:off x="909089" y="574132"/>
            <a:ext cx="881608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altLang="zh-CN" sz="280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What is a Lifting Theorem?</a:t>
            </a:r>
            <a:endParaRPr lang="en-GB" altLang="zh-CN" sz="2400" dirty="0">
              <a:solidFill>
                <a:srgbClr val="3C28FB"/>
              </a:solidFill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77C72B-088F-5E0A-4678-0C325C3F24E7}"/>
                  </a:ext>
                </a:extLst>
              </p:cNvPr>
              <p:cNvSpPr txBox="1"/>
              <p:nvPr/>
            </p:nvSpPr>
            <p:spPr>
              <a:xfrm>
                <a:off x="1088020" y="1701478"/>
                <a:ext cx="10354680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Use composition to relate (different) models of computation:</a:t>
                </a:r>
              </a:p>
              <a:p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		Complexity of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𝑓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in (weak) model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𝐴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corresponds to </a:t>
                </a:r>
              </a:p>
              <a:p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	</a:t>
                </a:r>
                <a:r>
                  <a:rPr lang="en-GB" sz="2400" dirty="0">
                    <a:cs typeface="Iskoola Pota" panose="020B0502040204020203" pitchFamily="34" charset="0"/>
                  </a:rPr>
                  <a:t>      </a:t>
                </a:r>
                <a14:m>
                  <m:oMath xmlns:m="http://schemas.openxmlformats.org/officeDocument/2006/math">
                    <m:r>
                      <a:rPr lang="en-GB" sz="2400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⇒</m:t>
                    </m:r>
                    <m:r>
                      <a:rPr lang="en-GB" sz="2400" i="1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 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	Complexity of composed problem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𝑓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∘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𝑔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in (strong) model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𝐵</m:t>
                    </m:r>
                  </m:oMath>
                </a14:m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177C72B-088F-5E0A-4678-0C325C3F24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020" y="1701478"/>
                <a:ext cx="10354680" cy="1569660"/>
              </a:xfrm>
              <a:prstGeom prst="rect">
                <a:avLst/>
              </a:prstGeom>
              <a:blipFill>
                <a:blip r:embed="rId4"/>
                <a:stretch>
                  <a:fillRect l="-765" t="-31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9237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DF003-635C-DD7E-DF7E-E15180B97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" name="Table 115">
            <a:extLst>
              <a:ext uri="{FF2B5EF4-FFF2-40B4-BE49-F238E27FC236}">
                <a16:creationId xmlns:a16="http://schemas.microsoft.com/office/drawing/2014/main" id="{E814CA03-2BF2-F708-A94C-81DBCD1C622D}"/>
              </a:ext>
            </a:extLst>
          </p:cNvPr>
          <p:cNvGraphicFramePr>
            <a:graphicFrameLocks noGrp="1"/>
          </p:cNvGraphicFramePr>
          <p:nvPr/>
        </p:nvGraphicFramePr>
        <p:xfrm>
          <a:off x="7256419" y="4339935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115" name="Table 114">
            <a:extLst>
              <a:ext uri="{FF2B5EF4-FFF2-40B4-BE49-F238E27FC236}">
                <a16:creationId xmlns:a16="http://schemas.microsoft.com/office/drawing/2014/main" id="{6B1A2917-99E6-291D-4996-42E0A9A54EF0}"/>
              </a:ext>
            </a:extLst>
          </p:cNvPr>
          <p:cNvGraphicFramePr>
            <a:graphicFrameLocks noGrp="1"/>
          </p:cNvGraphicFramePr>
          <p:nvPr/>
        </p:nvGraphicFramePr>
        <p:xfrm>
          <a:off x="7801578" y="3804903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114" name="Table 113">
            <a:extLst>
              <a:ext uri="{FF2B5EF4-FFF2-40B4-BE49-F238E27FC236}">
                <a16:creationId xmlns:a16="http://schemas.microsoft.com/office/drawing/2014/main" id="{57B9A548-6B8E-238A-D0CB-1D25966B98C1}"/>
              </a:ext>
            </a:extLst>
          </p:cNvPr>
          <p:cNvGraphicFramePr>
            <a:graphicFrameLocks noGrp="1"/>
          </p:cNvGraphicFramePr>
          <p:nvPr/>
        </p:nvGraphicFramePr>
        <p:xfrm>
          <a:off x="4516466" y="4338234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113" name="Table 112">
            <a:extLst>
              <a:ext uri="{FF2B5EF4-FFF2-40B4-BE49-F238E27FC236}">
                <a16:creationId xmlns:a16="http://schemas.microsoft.com/office/drawing/2014/main" id="{7A1A1349-F2D9-B6A4-E422-E8A0961C6557}"/>
              </a:ext>
            </a:extLst>
          </p:cNvPr>
          <p:cNvGraphicFramePr>
            <a:graphicFrameLocks noGrp="1"/>
          </p:cNvGraphicFramePr>
          <p:nvPr/>
        </p:nvGraphicFramePr>
        <p:xfrm>
          <a:off x="5057763" y="3261630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46A8A152-965F-7FA2-082A-4212496DED93}"/>
              </a:ext>
            </a:extLst>
          </p:cNvPr>
          <p:cNvGraphicFramePr>
            <a:graphicFrameLocks noGrp="1"/>
          </p:cNvGraphicFramePr>
          <p:nvPr/>
        </p:nvGraphicFramePr>
        <p:xfrm>
          <a:off x="5061625" y="3263256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endParaRPr lang="en-GB" sz="24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112" name="Table 111">
            <a:extLst>
              <a:ext uri="{FF2B5EF4-FFF2-40B4-BE49-F238E27FC236}">
                <a16:creationId xmlns:a16="http://schemas.microsoft.com/office/drawing/2014/main" id="{95F0F4F3-5767-2C7A-F511-78AB34DE4018}"/>
              </a:ext>
            </a:extLst>
          </p:cNvPr>
          <p:cNvGraphicFramePr>
            <a:graphicFrameLocks noGrp="1"/>
          </p:cNvGraphicFramePr>
          <p:nvPr/>
        </p:nvGraphicFramePr>
        <p:xfrm>
          <a:off x="5615280" y="3798522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111" name="Table 110">
            <a:extLst>
              <a:ext uri="{FF2B5EF4-FFF2-40B4-BE49-F238E27FC236}">
                <a16:creationId xmlns:a16="http://schemas.microsoft.com/office/drawing/2014/main" id="{F3DDE322-124F-70E4-5848-649896D28804}"/>
              </a:ext>
            </a:extLst>
          </p:cNvPr>
          <p:cNvGraphicFramePr>
            <a:graphicFrameLocks noGrp="1"/>
          </p:cNvGraphicFramePr>
          <p:nvPr/>
        </p:nvGraphicFramePr>
        <p:xfrm>
          <a:off x="6157605" y="3804903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78" name="Table 77">
            <a:extLst>
              <a:ext uri="{FF2B5EF4-FFF2-40B4-BE49-F238E27FC236}">
                <a16:creationId xmlns:a16="http://schemas.microsoft.com/office/drawing/2014/main" id="{606A8959-4D5F-8FA8-7D5E-5BBC9B3052C9}"/>
              </a:ext>
            </a:extLst>
          </p:cNvPr>
          <p:cNvGraphicFramePr>
            <a:graphicFrameLocks noGrp="1"/>
          </p:cNvGraphicFramePr>
          <p:nvPr/>
        </p:nvGraphicFramePr>
        <p:xfrm>
          <a:off x="6157606" y="3800148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110" name="Table 109">
            <a:extLst>
              <a:ext uri="{FF2B5EF4-FFF2-40B4-BE49-F238E27FC236}">
                <a16:creationId xmlns:a16="http://schemas.microsoft.com/office/drawing/2014/main" id="{55DECEE7-7F72-44FF-7E4B-429E628B447A}"/>
              </a:ext>
            </a:extLst>
          </p:cNvPr>
          <p:cNvGraphicFramePr>
            <a:graphicFrameLocks noGrp="1"/>
          </p:cNvGraphicFramePr>
          <p:nvPr/>
        </p:nvGraphicFramePr>
        <p:xfrm>
          <a:off x="6705596" y="3262486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753F48B3-501D-85C7-B887-CB57D6F9B802}"/>
                  </a:ext>
                </a:extLst>
              </p:cNvPr>
              <p:cNvSpPr txBox="1"/>
              <p:nvPr/>
            </p:nvSpPr>
            <p:spPr>
              <a:xfrm>
                <a:off x="1088018" y="3795033"/>
                <a:ext cx="32764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Bob: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𝑦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∈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cs typeface="Iskoola Pota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Iskoola Pota" panose="020B0502040204020203" pitchFamily="34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𝑚𝑛</m:t>
                        </m:r>
                      </m:sup>
                    </m:sSup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753F48B3-501D-85C7-B887-CB57D6F9B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018" y="3795033"/>
                <a:ext cx="3276459" cy="461665"/>
              </a:xfrm>
              <a:prstGeom prst="rect">
                <a:avLst/>
              </a:prstGeom>
              <a:blipFill>
                <a:blip r:embed="rId3"/>
                <a:stretch>
                  <a:fillRect l="-2788" t="-10667" b="-30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703D637A-E2DA-9987-87FD-116A5B5228EB}"/>
                  </a:ext>
                </a:extLst>
              </p:cNvPr>
              <p:cNvSpPr txBox="1"/>
              <p:nvPr/>
            </p:nvSpPr>
            <p:spPr>
              <a:xfrm>
                <a:off x="1088017" y="2411094"/>
                <a:ext cx="232963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Alice: 	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∈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cs typeface="Iskoola Pota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Iskoola Pota" panose="020B0502040204020203" pitchFamily="34" charset="0"/>
                              </a:rPr>
                              <m:t>𝑚</m:t>
                            </m:r>
                          </m:e>
                        </m:d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𝑛</m:t>
                        </m:r>
                      </m:sup>
                    </m:sSup>
                  </m:oMath>
                </a14:m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703D637A-E2DA-9987-87FD-116A5B5228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017" y="2411094"/>
                <a:ext cx="2329633" cy="461665"/>
              </a:xfrm>
              <a:prstGeom prst="rect">
                <a:avLst/>
              </a:prstGeom>
              <a:blipFill>
                <a:blip r:embed="rId4"/>
                <a:stretch>
                  <a:fillRect l="-3916" t="-10667" b="-30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7" name="Table 106">
            <a:extLst>
              <a:ext uri="{FF2B5EF4-FFF2-40B4-BE49-F238E27FC236}">
                <a16:creationId xmlns:a16="http://schemas.microsoft.com/office/drawing/2014/main" id="{B029DBFD-C858-CC87-70CC-0EB62DAC51E3}"/>
              </a:ext>
            </a:extLst>
          </p:cNvPr>
          <p:cNvGraphicFramePr>
            <a:graphicFrameLocks noGrp="1"/>
          </p:cNvGraphicFramePr>
          <p:nvPr/>
        </p:nvGraphicFramePr>
        <p:xfrm>
          <a:off x="3965642" y="3266848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8530584-254B-6785-2CC8-F7F5B053139A}"/>
                  </a:ext>
                </a:extLst>
              </p:cNvPr>
              <p:cNvSpPr txBox="1"/>
              <p:nvPr/>
            </p:nvSpPr>
            <p:spPr>
              <a:xfrm>
                <a:off x="5417425" y="5635743"/>
                <a:ext cx="625812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Iskoola Pota" panose="020B0502040204020203" pitchFamily="34" charset="0"/>
                        </a:rPr>
                        <m:t>)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8530584-254B-6785-2CC8-F7F5B0531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7425" y="5635743"/>
                <a:ext cx="6258126" cy="461665"/>
              </a:xfrm>
              <a:prstGeom prst="rect">
                <a:avLst/>
              </a:prstGeom>
              <a:blipFill>
                <a:blip r:embed="rId5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9" name="Table 98">
            <a:extLst>
              <a:ext uri="{FF2B5EF4-FFF2-40B4-BE49-F238E27FC236}">
                <a16:creationId xmlns:a16="http://schemas.microsoft.com/office/drawing/2014/main" id="{311263EC-F136-F4D9-EB90-E53A3EC7C52B}"/>
              </a:ext>
            </a:extLst>
          </p:cNvPr>
          <p:cNvGraphicFramePr>
            <a:graphicFrameLocks noGrp="1"/>
          </p:cNvGraphicFramePr>
          <p:nvPr/>
        </p:nvGraphicFramePr>
        <p:xfrm>
          <a:off x="3965643" y="5557463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100" name="Table 99">
            <a:extLst>
              <a:ext uri="{FF2B5EF4-FFF2-40B4-BE49-F238E27FC236}">
                <a16:creationId xmlns:a16="http://schemas.microsoft.com/office/drawing/2014/main" id="{410356FD-9B95-AA4B-DCA2-61C1A8FF07DF}"/>
              </a:ext>
            </a:extLst>
          </p:cNvPr>
          <p:cNvGraphicFramePr>
            <a:graphicFrameLocks noGrp="1"/>
          </p:cNvGraphicFramePr>
          <p:nvPr/>
        </p:nvGraphicFramePr>
        <p:xfrm>
          <a:off x="4513634" y="5557463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101" name="Table 100">
            <a:extLst>
              <a:ext uri="{FF2B5EF4-FFF2-40B4-BE49-F238E27FC236}">
                <a16:creationId xmlns:a16="http://schemas.microsoft.com/office/drawing/2014/main" id="{B3F5A296-CD6E-BF68-3284-A89FE4F53AF6}"/>
              </a:ext>
            </a:extLst>
          </p:cNvPr>
          <p:cNvGraphicFramePr>
            <a:graphicFrameLocks noGrp="1"/>
          </p:cNvGraphicFramePr>
          <p:nvPr/>
        </p:nvGraphicFramePr>
        <p:xfrm>
          <a:off x="5061625" y="5556812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endParaRPr lang="en-GB" sz="24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102" name="Table 101">
            <a:extLst>
              <a:ext uri="{FF2B5EF4-FFF2-40B4-BE49-F238E27FC236}">
                <a16:creationId xmlns:a16="http://schemas.microsoft.com/office/drawing/2014/main" id="{A0CB71BF-1F22-6212-8AFC-77FC133B35AB}"/>
              </a:ext>
            </a:extLst>
          </p:cNvPr>
          <p:cNvGraphicFramePr>
            <a:graphicFrameLocks noGrp="1"/>
          </p:cNvGraphicFramePr>
          <p:nvPr/>
        </p:nvGraphicFramePr>
        <p:xfrm>
          <a:off x="5609616" y="5556812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103" name="Table 102">
            <a:extLst>
              <a:ext uri="{FF2B5EF4-FFF2-40B4-BE49-F238E27FC236}">
                <a16:creationId xmlns:a16="http://schemas.microsoft.com/office/drawing/2014/main" id="{91105F9C-EF77-E99F-843B-99326EEEFBFD}"/>
              </a:ext>
            </a:extLst>
          </p:cNvPr>
          <p:cNvGraphicFramePr>
            <a:graphicFrameLocks noGrp="1"/>
          </p:cNvGraphicFramePr>
          <p:nvPr/>
        </p:nvGraphicFramePr>
        <p:xfrm>
          <a:off x="6157606" y="5556748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104" name="Table 103">
            <a:extLst>
              <a:ext uri="{FF2B5EF4-FFF2-40B4-BE49-F238E27FC236}">
                <a16:creationId xmlns:a16="http://schemas.microsoft.com/office/drawing/2014/main" id="{69AB0B52-12A3-EBFB-696A-CF45DFB24A62}"/>
              </a:ext>
            </a:extLst>
          </p:cNvPr>
          <p:cNvGraphicFramePr>
            <a:graphicFrameLocks noGrp="1"/>
          </p:cNvGraphicFramePr>
          <p:nvPr/>
        </p:nvGraphicFramePr>
        <p:xfrm>
          <a:off x="6705597" y="5556748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105" name="Table 104">
            <a:extLst>
              <a:ext uri="{FF2B5EF4-FFF2-40B4-BE49-F238E27FC236}">
                <a16:creationId xmlns:a16="http://schemas.microsoft.com/office/drawing/2014/main" id="{3BA41474-3257-E3BF-BD08-EBD5EBE4303F}"/>
              </a:ext>
            </a:extLst>
          </p:cNvPr>
          <p:cNvGraphicFramePr>
            <a:graphicFrameLocks noGrp="1"/>
          </p:cNvGraphicFramePr>
          <p:nvPr/>
        </p:nvGraphicFramePr>
        <p:xfrm>
          <a:off x="7253588" y="5556097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106" name="Table 105">
            <a:extLst>
              <a:ext uri="{FF2B5EF4-FFF2-40B4-BE49-F238E27FC236}">
                <a16:creationId xmlns:a16="http://schemas.microsoft.com/office/drawing/2014/main" id="{9C2F7C1D-AB01-BAAE-A1C5-7C7F2EF5CAAB}"/>
              </a:ext>
            </a:extLst>
          </p:cNvPr>
          <p:cNvGraphicFramePr>
            <a:graphicFrameLocks noGrp="1"/>
          </p:cNvGraphicFramePr>
          <p:nvPr/>
        </p:nvGraphicFramePr>
        <p:xfrm>
          <a:off x="7801579" y="5556097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F0B5FD-EE58-BACD-3C06-C77D29366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32</a:t>
            </a:fld>
            <a:endParaRPr lang="en-GB" dirty="0"/>
          </a:p>
        </p:txBody>
      </p:sp>
      <p:sp>
        <p:nvSpPr>
          <p:cNvPr id="10" name="Foliennummernplatzhalter 4">
            <a:extLst>
              <a:ext uri="{FF2B5EF4-FFF2-40B4-BE49-F238E27FC236}">
                <a16:creationId xmlns:a16="http://schemas.microsoft.com/office/drawing/2014/main" id="{8052403C-02D3-FB39-4A26-86CD5A88718B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530D112-B9FF-4E08-90B6-37EA964743A0}" type="slidenum">
              <a:rPr lang="en-GB" smtClean="0"/>
              <a:pPr/>
              <a:t>32</a:t>
            </a:fld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4A96A2-2A68-8DA5-D7B6-CACE4BE3AEBA}"/>
              </a:ext>
            </a:extLst>
          </p:cNvPr>
          <p:cNvSpPr txBox="1"/>
          <p:nvPr/>
        </p:nvSpPr>
        <p:spPr>
          <a:xfrm>
            <a:off x="909089" y="574132"/>
            <a:ext cx="881608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altLang="zh-CN" sz="28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Lifting with Indexing Gadget (for Functions)</a:t>
            </a:r>
            <a:endParaRPr lang="en-GB" altLang="zh-CN" sz="2400" dirty="0">
              <a:solidFill>
                <a:srgbClr val="3C28FB"/>
              </a:solidFill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F7A79D-0C17-F1AE-E329-410249763C0A}"/>
                  </a:ext>
                </a:extLst>
              </p:cNvPr>
              <p:cNvSpPr txBox="1"/>
              <p:nvPr/>
            </p:nvSpPr>
            <p:spPr>
              <a:xfrm>
                <a:off x="1088018" y="1321155"/>
                <a:ext cx="954911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𝑓</m:t>
                    </m:r>
                    <m:r>
                      <a:rPr lang="en-US" sz="2400" i="1" dirty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: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cs typeface="Iskoola Pota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Iskoola Pota" panose="020B0502040204020203" pitchFamily="34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𝑛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→{0,1}</m:t>
                    </m:r>
                  </m:oMath>
                </a14:m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Compose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IND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𝑚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×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cs typeface="Iskoola Pota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Iskoola Pota" panose="020B0502040204020203" pitchFamily="34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𝑚</m:t>
                        </m:r>
                      </m:sup>
                    </m:sSup>
                    <m:r>
                      <a:rPr lang="en-US" sz="2400" b="0" i="1" dirty="0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→{0,1}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dirty="0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IND</m:t>
                    </m:r>
                    <m:d>
                      <m:d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𝑥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,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𝑦</m:t>
                        </m:r>
                      </m:e>
                    </m:d>
                    <m:r>
                      <a:rPr lang="en-US" sz="2400" b="0" i="1" dirty="0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=</m:t>
                    </m:r>
                    <m:sSub>
                      <m:sSub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𝑥</m:t>
                        </m:r>
                      </m:sub>
                    </m:sSub>
                  </m:oMath>
                </a14:m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AF7A79D-0C17-F1AE-E329-410249763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018" y="1321155"/>
                <a:ext cx="9549114" cy="830997"/>
              </a:xfrm>
              <a:prstGeom prst="rect">
                <a:avLst/>
              </a:prstGeom>
              <a:blipFill>
                <a:blip r:embed="rId6"/>
                <a:stretch>
                  <a:fillRect l="-830" t="-2206" b="-1617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CC82F0F-1988-62E7-7701-768D59E063A9}"/>
                  </a:ext>
                </a:extLst>
              </p:cNvPr>
              <p:cNvSpPr txBox="1"/>
              <p:nvPr/>
            </p:nvSpPr>
            <p:spPr>
              <a:xfrm>
                <a:off x="1088018" y="2412460"/>
                <a:ext cx="232963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Alice: 	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𝑥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∈[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𝑚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  <a:cs typeface="Iskoola Pota" panose="020B0502040204020203" pitchFamily="34" charset="0"/>
                      </a:rPr>
                      <m:t>]</m:t>
                    </m:r>
                  </m:oMath>
                </a14:m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CC82F0F-1988-62E7-7701-768D59E06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018" y="2412460"/>
                <a:ext cx="2329633" cy="461665"/>
              </a:xfrm>
              <a:prstGeom prst="rect">
                <a:avLst/>
              </a:prstGeom>
              <a:blipFill>
                <a:blip r:embed="rId7"/>
                <a:stretch>
                  <a:fillRect l="-3916" t="-10667" b="-30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37C490-63B5-7552-2E2B-21752F1E0305}"/>
                  </a:ext>
                </a:extLst>
              </p:cNvPr>
              <p:cNvSpPr txBox="1"/>
              <p:nvPr/>
            </p:nvSpPr>
            <p:spPr>
              <a:xfrm>
                <a:off x="1088019" y="3794334"/>
                <a:ext cx="327645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Bob: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𝑦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∈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  <a:cs typeface="Iskoola Pota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cs typeface="Iskoola Pota" panose="020B0502040204020203" pitchFamily="34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  <a:cs typeface="Iskoola Pota" panose="020B0502040204020203" pitchFamily="34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37C490-63B5-7552-2E2B-21752F1E03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8019" y="3794334"/>
                <a:ext cx="3276459" cy="461665"/>
              </a:xfrm>
              <a:prstGeom prst="rect">
                <a:avLst/>
              </a:prstGeom>
              <a:blipFill>
                <a:blip r:embed="rId8"/>
                <a:stretch>
                  <a:fillRect l="-2788" t="-10526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38D5E8F-F0B4-0C23-F656-040A6E567B58}"/>
              </a:ext>
            </a:extLst>
          </p:cNvPr>
          <p:cNvGraphicFramePr>
            <a:graphicFrameLocks noGrp="1"/>
          </p:cNvGraphicFramePr>
          <p:nvPr/>
        </p:nvGraphicFramePr>
        <p:xfrm>
          <a:off x="3965643" y="2412460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1B1BFB8-8CD2-16E9-4AE7-BA7BB39CF04D}"/>
              </a:ext>
            </a:extLst>
          </p:cNvPr>
          <p:cNvGraphicFramePr>
            <a:graphicFrameLocks noGrp="1"/>
          </p:cNvGraphicFramePr>
          <p:nvPr/>
        </p:nvGraphicFramePr>
        <p:xfrm>
          <a:off x="4513634" y="2412460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2C39942-A91E-B445-3A9D-65D7770FEC15}"/>
              </a:ext>
            </a:extLst>
          </p:cNvPr>
          <p:cNvGraphicFramePr>
            <a:graphicFrameLocks noGrp="1"/>
          </p:cNvGraphicFramePr>
          <p:nvPr/>
        </p:nvGraphicFramePr>
        <p:xfrm>
          <a:off x="5061625" y="2411809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endParaRPr lang="en-GB" sz="24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D08AB351-F4BB-D493-C33E-693518D94408}"/>
              </a:ext>
            </a:extLst>
          </p:cNvPr>
          <p:cNvGraphicFramePr>
            <a:graphicFrameLocks noGrp="1"/>
          </p:cNvGraphicFramePr>
          <p:nvPr/>
        </p:nvGraphicFramePr>
        <p:xfrm>
          <a:off x="5609616" y="2411809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688C8B3-9091-EF9D-502C-FA7F781F3881}"/>
              </a:ext>
            </a:extLst>
          </p:cNvPr>
          <p:cNvGraphicFramePr>
            <a:graphicFrameLocks noGrp="1"/>
          </p:cNvGraphicFramePr>
          <p:nvPr/>
        </p:nvGraphicFramePr>
        <p:xfrm>
          <a:off x="6157606" y="2411745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FC566FA-4D55-72D8-8A28-94C17D8AC85C}"/>
              </a:ext>
            </a:extLst>
          </p:cNvPr>
          <p:cNvGraphicFramePr>
            <a:graphicFrameLocks noGrp="1"/>
          </p:cNvGraphicFramePr>
          <p:nvPr/>
        </p:nvGraphicFramePr>
        <p:xfrm>
          <a:off x="6705597" y="2411745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1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804CBA0-9761-FBD8-F093-F850A485F457}"/>
              </a:ext>
            </a:extLst>
          </p:cNvPr>
          <p:cNvGraphicFramePr>
            <a:graphicFrameLocks noGrp="1"/>
          </p:cNvGraphicFramePr>
          <p:nvPr/>
        </p:nvGraphicFramePr>
        <p:xfrm>
          <a:off x="7253588" y="2411094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3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6615532-CDC8-2656-084A-1C1A76BB434B}"/>
              </a:ext>
            </a:extLst>
          </p:cNvPr>
          <p:cNvGraphicFramePr>
            <a:graphicFrameLocks noGrp="1"/>
          </p:cNvGraphicFramePr>
          <p:nvPr/>
        </p:nvGraphicFramePr>
        <p:xfrm>
          <a:off x="7801579" y="2411094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/>
                        <a:t>2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C5DBABD3-6C58-251A-E4C7-BD85FE9F23E2}"/>
              </a:ext>
            </a:extLst>
          </p:cNvPr>
          <p:cNvGraphicFramePr>
            <a:graphicFrameLocks noGrp="1"/>
          </p:cNvGraphicFramePr>
          <p:nvPr/>
        </p:nvGraphicFramePr>
        <p:xfrm>
          <a:off x="3965643" y="3263907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CD66EC36-9BA1-1322-B2DE-1A1509EC41D3}"/>
              </a:ext>
            </a:extLst>
          </p:cNvPr>
          <p:cNvGraphicFramePr>
            <a:graphicFrameLocks noGrp="1"/>
          </p:cNvGraphicFramePr>
          <p:nvPr/>
        </p:nvGraphicFramePr>
        <p:xfrm>
          <a:off x="4513634" y="3263907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2207AA56-456A-1B69-5994-F548A84AA085}"/>
              </a:ext>
            </a:extLst>
          </p:cNvPr>
          <p:cNvGraphicFramePr>
            <a:graphicFrameLocks noGrp="1"/>
          </p:cNvGraphicFramePr>
          <p:nvPr/>
        </p:nvGraphicFramePr>
        <p:xfrm>
          <a:off x="5609616" y="3263256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A3F73901-66A1-E795-00E3-769A8F9C3ECA}"/>
              </a:ext>
            </a:extLst>
          </p:cNvPr>
          <p:cNvGraphicFramePr>
            <a:graphicFrameLocks noGrp="1"/>
          </p:cNvGraphicFramePr>
          <p:nvPr/>
        </p:nvGraphicFramePr>
        <p:xfrm>
          <a:off x="6157606" y="3263192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CF424CF2-771E-D5CF-1DA8-8A7CE6C9DF6D}"/>
              </a:ext>
            </a:extLst>
          </p:cNvPr>
          <p:cNvGraphicFramePr>
            <a:graphicFrameLocks noGrp="1"/>
          </p:cNvGraphicFramePr>
          <p:nvPr/>
        </p:nvGraphicFramePr>
        <p:xfrm>
          <a:off x="6705597" y="3263192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9221948F-D916-8FDC-1347-CC6B88DDB4D6}"/>
              </a:ext>
            </a:extLst>
          </p:cNvPr>
          <p:cNvGraphicFramePr>
            <a:graphicFrameLocks noGrp="1"/>
          </p:cNvGraphicFramePr>
          <p:nvPr/>
        </p:nvGraphicFramePr>
        <p:xfrm>
          <a:off x="7253588" y="3262541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E273B0A1-B8A1-A03F-574D-4B3BA19B8943}"/>
              </a:ext>
            </a:extLst>
          </p:cNvPr>
          <p:cNvGraphicFramePr>
            <a:graphicFrameLocks noGrp="1"/>
          </p:cNvGraphicFramePr>
          <p:nvPr/>
        </p:nvGraphicFramePr>
        <p:xfrm>
          <a:off x="7801579" y="3262541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1203643-D1F2-C108-6344-676F992E8006}"/>
                  </a:ext>
                </a:extLst>
              </p:cNvPr>
              <p:cNvSpPr txBox="1"/>
              <p:nvPr/>
            </p:nvSpPr>
            <p:spPr>
              <a:xfrm>
                <a:off x="-480720" y="5635743"/>
                <a:ext cx="6096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Iskoola Pota" panose="020B0502040204020203" pitchFamily="34" charset="0"/>
                        </a:rPr>
                        <m:t>𝑓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Iskoola Pota" panose="020B0502040204020203" pitchFamily="34" charset="0"/>
                        </a:rPr>
                        <m:t>∘</m:t>
                      </m:r>
                      <m:r>
                        <m:rPr>
                          <m:sty m:val="p"/>
                        </m:rPr>
                        <a:rPr lang="en-US" sz="2400" b="0" i="0" dirty="0" smtClean="0">
                          <a:latin typeface="Cambria Math" panose="02040503050406030204" pitchFamily="18" charset="0"/>
                          <a:cs typeface="Iskoola Pota" panose="020B0502040204020203" pitchFamily="34" charset="0"/>
                        </a:rPr>
                        <m:t>IND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  <a:cs typeface="Iskoola Pota" panose="020B0502040204020203" pitchFamily="34" charset="0"/>
                            </a:rPr>
                          </m:ctrlPr>
                        </m:d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Iskoola Pota" panose="020B0502040204020203" pitchFamily="34" charset="0"/>
                            </a:rPr>
                            <m:t>𝑥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Iskoola Pota" panose="020B0502040204020203" pitchFamily="34" charset="0"/>
                            </a:rPr>
                            <m:t>,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cs typeface="Iskoola Pota" panose="020B0502040204020203" pitchFamily="34" charset="0"/>
                            </a:rPr>
                            <m:t>𝑦</m:t>
                          </m:r>
                        </m:e>
                      </m:d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Iskoola Pota" panose="020B0502040204020203" pitchFamily="34" charset="0"/>
                        </a:rPr>
                        <m:t>=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Iskoola Pota" panose="020B0502040204020203" pitchFamily="34" charset="0"/>
                        </a:rPr>
                        <m:t>𝑓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  <a:cs typeface="Iskoola Pota" panose="020B0502040204020203" pitchFamily="34" charset="0"/>
                        </a:rPr>
                        <m:t> (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1203643-D1F2-C108-6344-676F992E8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80720" y="5635743"/>
                <a:ext cx="6096000" cy="461665"/>
              </a:xfrm>
              <a:prstGeom prst="rect">
                <a:avLst/>
              </a:prstGeom>
              <a:blipFill>
                <a:blip r:embed="rId9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4" name="Table 73">
            <a:extLst>
              <a:ext uri="{FF2B5EF4-FFF2-40B4-BE49-F238E27FC236}">
                <a16:creationId xmlns:a16="http://schemas.microsoft.com/office/drawing/2014/main" id="{FBF8357F-9655-587F-325C-68B97625C7D5}"/>
              </a:ext>
            </a:extLst>
          </p:cNvPr>
          <p:cNvGraphicFramePr>
            <a:graphicFrameLocks noGrp="1"/>
          </p:cNvGraphicFramePr>
          <p:nvPr/>
        </p:nvGraphicFramePr>
        <p:xfrm>
          <a:off x="3965643" y="3800863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75" name="Table 74">
            <a:extLst>
              <a:ext uri="{FF2B5EF4-FFF2-40B4-BE49-F238E27FC236}">
                <a16:creationId xmlns:a16="http://schemas.microsoft.com/office/drawing/2014/main" id="{528C832A-8BE3-CA3A-CED8-1151E71915FE}"/>
              </a:ext>
            </a:extLst>
          </p:cNvPr>
          <p:cNvGraphicFramePr>
            <a:graphicFrameLocks noGrp="1"/>
          </p:cNvGraphicFramePr>
          <p:nvPr/>
        </p:nvGraphicFramePr>
        <p:xfrm>
          <a:off x="4513634" y="3800863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76" name="Table 75">
            <a:extLst>
              <a:ext uri="{FF2B5EF4-FFF2-40B4-BE49-F238E27FC236}">
                <a16:creationId xmlns:a16="http://schemas.microsoft.com/office/drawing/2014/main" id="{E8D5E827-6913-E211-51F1-DD2CF30E1C71}"/>
              </a:ext>
            </a:extLst>
          </p:cNvPr>
          <p:cNvGraphicFramePr>
            <a:graphicFrameLocks noGrp="1"/>
          </p:cNvGraphicFramePr>
          <p:nvPr/>
        </p:nvGraphicFramePr>
        <p:xfrm>
          <a:off x="5061625" y="3800212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  <a:endParaRPr lang="en-GB" sz="24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77" name="Table 76">
            <a:extLst>
              <a:ext uri="{FF2B5EF4-FFF2-40B4-BE49-F238E27FC236}">
                <a16:creationId xmlns:a16="http://schemas.microsoft.com/office/drawing/2014/main" id="{94FEF73D-B436-98FC-CCB0-754FB7CB50D2}"/>
              </a:ext>
            </a:extLst>
          </p:cNvPr>
          <p:cNvGraphicFramePr>
            <a:graphicFrameLocks noGrp="1"/>
          </p:cNvGraphicFramePr>
          <p:nvPr/>
        </p:nvGraphicFramePr>
        <p:xfrm>
          <a:off x="5609616" y="3800212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79" name="Table 78">
            <a:extLst>
              <a:ext uri="{FF2B5EF4-FFF2-40B4-BE49-F238E27FC236}">
                <a16:creationId xmlns:a16="http://schemas.microsoft.com/office/drawing/2014/main" id="{7D4B9FE3-A4C0-459C-2CAE-1B724C9E3DD3}"/>
              </a:ext>
            </a:extLst>
          </p:cNvPr>
          <p:cNvGraphicFramePr>
            <a:graphicFrameLocks noGrp="1"/>
          </p:cNvGraphicFramePr>
          <p:nvPr/>
        </p:nvGraphicFramePr>
        <p:xfrm>
          <a:off x="6705597" y="3800148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80" name="Table 79">
            <a:extLst>
              <a:ext uri="{FF2B5EF4-FFF2-40B4-BE49-F238E27FC236}">
                <a16:creationId xmlns:a16="http://schemas.microsoft.com/office/drawing/2014/main" id="{35DC3E07-6320-30C5-23E0-E211775F7874}"/>
              </a:ext>
            </a:extLst>
          </p:cNvPr>
          <p:cNvGraphicFramePr>
            <a:graphicFrameLocks noGrp="1"/>
          </p:cNvGraphicFramePr>
          <p:nvPr/>
        </p:nvGraphicFramePr>
        <p:xfrm>
          <a:off x="7253588" y="3799497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81" name="Table 80">
            <a:extLst>
              <a:ext uri="{FF2B5EF4-FFF2-40B4-BE49-F238E27FC236}">
                <a16:creationId xmlns:a16="http://schemas.microsoft.com/office/drawing/2014/main" id="{AA477E80-E1CD-C8DF-6A48-34AE8A146EAA}"/>
              </a:ext>
            </a:extLst>
          </p:cNvPr>
          <p:cNvGraphicFramePr>
            <a:graphicFrameLocks noGrp="1"/>
          </p:cNvGraphicFramePr>
          <p:nvPr/>
        </p:nvGraphicFramePr>
        <p:xfrm>
          <a:off x="7801579" y="3799497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82" name="Table 81">
            <a:extLst>
              <a:ext uri="{FF2B5EF4-FFF2-40B4-BE49-F238E27FC236}">
                <a16:creationId xmlns:a16="http://schemas.microsoft.com/office/drawing/2014/main" id="{ECC8AA0E-8B42-24E0-C1B8-AEFBE8FDD168}"/>
              </a:ext>
            </a:extLst>
          </p:cNvPr>
          <p:cNvGraphicFramePr>
            <a:graphicFrameLocks noGrp="1"/>
          </p:cNvGraphicFramePr>
          <p:nvPr/>
        </p:nvGraphicFramePr>
        <p:xfrm>
          <a:off x="3965643" y="4341553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83" name="Table 82">
            <a:extLst>
              <a:ext uri="{FF2B5EF4-FFF2-40B4-BE49-F238E27FC236}">
                <a16:creationId xmlns:a16="http://schemas.microsoft.com/office/drawing/2014/main" id="{AE09A73B-5A3F-F858-7C9F-DDFAEC1F41BD}"/>
              </a:ext>
            </a:extLst>
          </p:cNvPr>
          <p:cNvGraphicFramePr>
            <a:graphicFrameLocks noGrp="1"/>
          </p:cNvGraphicFramePr>
          <p:nvPr/>
        </p:nvGraphicFramePr>
        <p:xfrm>
          <a:off x="4513634" y="4341553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84" name="Table 83">
            <a:extLst>
              <a:ext uri="{FF2B5EF4-FFF2-40B4-BE49-F238E27FC236}">
                <a16:creationId xmlns:a16="http://schemas.microsoft.com/office/drawing/2014/main" id="{6BFAFA89-EFB5-AC1C-36C0-0109CC2A0A3E}"/>
              </a:ext>
            </a:extLst>
          </p:cNvPr>
          <p:cNvGraphicFramePr>
            <a:graphicFrameLocks noGrp="1"/>
          </p:cNvGraphicFramePr>
          <p:nvPr/>
        </p:nvGraphicFramePr>
        <p:xfrm>
          <a:off x="5061625" y="4340902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endParaRPr lang="en-GB" sz="2400" dirty="0"/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85" name="Table 84">
            <a:extLst>
              <a:ext uri="{FF2B5EF4-FFF2-40B4-BE49-F238E27FC236}">
                <a16:creationId xmlns:a16="http://schemas.microsoft.com/office/drawing/2014/main" id="{6541461D-8A3F-B31D-ABB4-B588FB605689}"/>
              </a:ext>
            </a:extLst>
          </p:cNvPr>
          <p:cNvGraphicFramePr>
            <a:graphicFrameLocks noGrp="1"/>
          </p:cNvGraphicFramePr>
          <p:nvPr/>
        </p:nvGraphicFramePr>
        <p:xfrm>
          <a:off x="5609616" y="4340902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86" name="Table 85">
            <a:extLst>
              <a:ext uri="{FF2B5EF4-FFF2-40B4-BE49-F238E27FC236}">
                <a16:creationId xmlns:a16="http://schemas.microsoft.com/office/drawing/2014/main" id="{DDE8A466-D638-1950-33AB-AE0E8E748097}"/>
              </a:ext>
            </a:extLst>
          </p:cNvPr>
          <p:cNvGraphicFramePr>
            <a:graphicFrameLocks noGrp="1"/>
          </p:cNvGraphicFramePr>
          <p:nvPr/>
        </p:nvGraphicFramePr>
        <p:xfrm>
          <a:off x="6157606" y="4340838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87" name="Table 86">
            <a:extLst>
              <a:ext uri="{FF2B5EF4-FFF2-40B4-BE49-F238E27FC236}">
                <a16:creationId xmlns:a16="http://schemas.microsoft.com/office/drawing/2014/main" id="{3474AB9F-E254-BEEC-0CE5-41CF62CEFD72}"/>
              </a:ext>
            </a:extLst>
          </p:cNvPr>
          <p:cNvGraphicFramePr>
            <a:graphicFrameLocks noGrp="1"/>
          </p:cNvGraphicFramePr>
          <p:nvPr/>
        </p:nvGraphicFramePr>
        <p:xfrm>
          <a:off x="6705597" y="4340838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88" name="Table 87">
            <a:extLst>
              <a:ext uri="{FF2B5EF4-FFF2-40B4-BE49-F238E27FC236}">
                <a16:creationId xmlns:a16="http://schemas.microsoft.com/office/drawing/2014/main" id="{15D9586E-BD67-B37E-E8C9-AC7221CC3681}"/>
              </a:ext>
            </a:extLst>
          </p:cNvPr>
          <p:cNvGraphicFramePr>
            <a:graphicFrameLocks noGrp="1"/>
          </p:cNvGraphicFramePr>
          <p:nvPr/>
        </p:nvGraphicFramePr>
        <p:xfrm>
          <a:off x="7253588" y="4340187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  <p:graphicFrame>
        <p:nvGraphicFramePr>
          <p:cNvPr id="89" name="Table 88">
            <a:extLst>
              <a:ext uri="{FF2B5EF4-FFF2-40B4-BE49-F238E27FC236}">
                <a16:creationId xmlns:a16="http://schemas.microsoft.com/office/drawing/2014/main" id="{1E784588-0299-EF6B-1B35-A21A6C7A34BD}"/>
              </a:ext>
            </a:extLst>
          </p:cNvPr>
          <p:cNvGraphicFramePr>
            <a:graphicFrameLocks noGrp="1"/>
          </p:cNvGraphicFramePr>
          <p:nvPr/>
        </p:nvGraphicFramePr>
        <p:xfrm>
          <a:off x="7801579" y="4340187"/>
          <a:ext cx="547991" cy="533331"/>
        </p:xfrm>
        <a:graphic>
          <a:graphicData uri="http://schemas.openxmlformats.org/drawingml/2006/table">
            <a:tbl>
              <a:tblPr/>
              <a:tblGrid>
                <a:gridCol w="547991">
                  <a:extLst>
                    <a:ext uri="{9D8B030D-6E8A-4147-A177-3AD203B41FA5}">
                      <a16:colId xmlns:a16="http://schemas.microsoft.com/office/drawing/2014/main" val="981494657"/>
                    </a:ext>
                  </a:extLst>
                </a:gridCol>
              </a:tblGrid>
              <a:tr h="533331">
                <a:tc>
                  <a:txBody>
                    <a:bodyPr/>
                    <a:lstStyle/>
                    <a:p>
                      <a:pPr algn="ctr"/>
                      <a:r>
                        <a:rPr lang="en-GB" sz="2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0</a:t>
                      </a:r>
                    </a:p>
                  </a:txBody>
                  <a:tcPr anchor="ctr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5745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1935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" grpId="0"/>
      <p:bldP spid="109" grpId="0"/>
      <p:bldP spid="64" grpId="0"/>
      <p:bldP spid="2" grpId="0"/>
      <p:bldP spid="2" grpId="1"/>
      <p:bldP spid="3" grpId="0"/>
      <p:bldP spid="3" grpId="1"/>
      <p:bldP spid="6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83EED-B568-A944-281A-F06C2FF88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5E6B0A6-1731-CA34-19B1-D5599A56BAF8}"/>
              </a:ext>
            </a:extLst>
          </p:cNvPr>
          <p:cNvSpPr txBox="1"/>
          <p:nvPr/>
        </p:nvSpPr>
        <p:spPr>
          <a:xfrm>
            <a:off x="909089" y="574132"/>
            <a:ext cx="881608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altLang="zh-CN" sz="28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Lifting Resolution to Monotone Circuits</a:t>
            </a:r>
            <a:endParaRPr lang="en-GB" altLang="zh-CN" sz="2400" dirty="0">
              <a:solidFill>
                <a:srgbClr val="3C28FB"/>
              </a:solidFill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sp>
        <p:nvSpPr>
          <p:cNvPr id="108" name="Foliennummernplatzhalter 107">
            <a:extLst>
              <a:ext uri="{FF2B5EF4-FFF2-40B4-BE49-F238E27FC236}">
                <a16:creationId xmlns:a16="http://schemas.microsoft.com/office/drawing/2014/main" id="{AEADB392-CAD0-D05C-315C-7C248D860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24592" y="6146565"/>
            <a:ext cx="2743200" cy="365125"/>
          </a:xfrm>
        </p:spPr>
        <p:txBody>
          <a:bodyPr/>
          <a:lstStyle/>
          <a:p>
            <a:fld id="{4530D112-B9FF-4E08-90B6-37EA964743A0}" type="slidenum">
              <a:rPr lang="en-GB" smtClean="0"/>
              <a:t>33</a:t>
            </a:fld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848015-C81A-3708-F4EA-A6AFA83A5B45}"/>
              </a:ext>
            </a:extLst>
          </p:cNvPr>
          <p:cNvSpPr txBox="1"/>
          <p:nvPr/>
        </p:nvSpPr>
        <p:spPr>
          <a:xfrm>
            <a:off x="7107627" y="543354"/>
            <a:ext cx="48883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[Garg-Göös-Kamath-Sokolov ’18]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F95B4BE-7D5F-DADB-FD10-199197336831}"/>
                  </a:ext>
                </a:extLst>
              </p:cNvPr>
              <p:cNvSpPr txBox="1"/>
              <p:nvPr/>
            </p:nvSpPr>
            <p:spPr>
              <a:xfrm>
                <a:off x="971155" y="1526102"/>
                <a:ext cx="108055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Resolution width-depth trade-off  </a:t>
                </a:r>
                <a14:m>
                  <m:oMath xmlns:m="http://schemas.openxmlformats.org/officeDocument/2006/math">
                    <m:r>
                      <a:rPr lang="en-GB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monotone circuit size-depth trade-off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F95B4BE-7D5F-DADB-FD10-199197336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155" y="1526102"/>
                <a:ext cx="10805598" cy="461665"/>
              </a:xfrm>
              <a:prstGeom prst="rect">
                <a:avLst/>
              </a:prstGeom>
              <a:blipFill>
                <a:blip r:embed="rId3"/>
                <a:stretch>
                  <a:fillRect l="-733" t="-10526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F2FB62-AAE1-ED96-5B4D-EEA01E15B487}"/>
                  </a:ext>
                </a:extLst>
              </p:cNvPr>
              <p:cNvSpPr txBox="1"/>
              <p:nvPr/>
            </p:nvSpPr>
            <p:spPr>
              <a:xfrm>
                <a:off x="1016875" y="2322554"/>
                <a:ext cx="9955925" cy="169982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noFill/>
              </a:ln>
            </p:spPr>
            <p:txBody>
              <a:bodyPr wrap="square" lIns="91440" tIns="0" rIns="0" bIns="0" rtlCol="0">
                <a:spAutoFit/>
              </a:bodyPr>
              <a:lstStyle/>
              <a:p>
                <a:r>
                  <a:rPr lang="en-GB" sz="2400" b="1" dirty="0">
                    <a:solidFill>
                      <a:srgbClr val="3C28FB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Theorem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200" dirty="0">
                    <a:solidFill>
                      <a:srgbClr val="3C28FB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[GGKS </a:t>
                </a:r>
                <a:r>
                  <a:rPr lang="en-GB" sz="2000" dirty="0">
                    <a:solidFill>
                      <a:srgbClr val="3C28FB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’</a:t>
                </a:r>
                <a:r>
                  <a:rPr lang="en-GB" sz="2200" dirty="0">
                    <a:solidFill>
                      <a:srgbClr val="3C28FB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18]</a:t>
                </a:r>
                <a:endParaRPr lang="en-GB" sz="1000" dirty="0">
                  <a:latin typeface="Lato Light" panose="020F0502020204030203" pitchFamily="34" charset="0"/>
                  <a:ea typeface="Lato Light" panose="020F0502020204030203" pitchFamily="34" charset="0"/>
                  <a:cs typeface="Lato Light" panose="020F0502020204030203" pitchFamily="34" charset="0"/>
                </a:endParaRPr>
              </a:p>
              <a:p>
                <a:r>
                  <a:rPr lang="en-GB" sz="28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For CNF formula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  <a:ea typeface="Lato" panose="020F0502020204030203" pitchFamily="34" charset="0"/>
                        <a:cs typeface="Lato" panose="020F0502020204030203" pitchFamily="34" charset="0"/>
                      </a:rPr>
                      <m:t>𝐹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and large enough </a:t>
                </a:r>
                <a14:m>
                  <m:oMath xmlns:m="http://schemas.openxmlformats.org/officeDocument/2006/math">
                    <m:r>
                      <a:rPr lang="en-GB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, can construct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GB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</a:rPr>
                  <a:t> </a:t>
                </a:r>
                <a:r>
                  <a:rPr lang="en-GB" sz="2400" dirty="0" err="1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s.t.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endParaRPr lang="en-GB" sz="2400" b="0" i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  <a:p>
                <a:pPr>
                  <a:defRPr sz="4200" b="0"/>
                </a:pP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	size-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GB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sup>
                    </m:sSup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</a:rPr>
                  <a:t>,  </a:t>
                </a:r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depth-</a:t>
                </a:r>
                <a14:m>
                  <m:oMath xmlns:m="http://schemas.openxmlformats.org/officeDocument/2006/math">
                    <m:r>
                      <a:rPr lang="en-GB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monotone circuit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GB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GB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GB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</a:rPr>
                  <a:t> </a:t>
                </a:r>
              </a:p>
              <a:p>
                <a:pPr>
                  <a:defRPr sz="4200" b="0"/>
                </a:pPr>
                <a:r>
                  <a:rPr lang="en-GB" sz="2800" dirty="0">
                    <a:solidFill>
                      <a:srgbClr val="000000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n-GB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	width-</a:t>
                </a:r>
                <a14:m>
                  <m:oMath xmlns:m="http://schemas.openxmlformats.org/officeDocument/2006/math">
                    <m:r>
                      <a:rPr lang="en-GB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GB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, depth-</a:t>
                </a:r>
                <a14:m>
                  <m:oMath xmlns:m="http://schemas.openxmlformats.org/officeDocument/2006/math">
                    <m:r>
                      <a:rPr lang="en-GB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GB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𝑑𝑤</m:t>
                    </m:r>
                    <m:r>
                      <a:rPr lang="en-GB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resolution proof for </a:t>
                </a:r>
                <a14:m>
                  <m:oMath xmlns:m="http://schemas.openxmlformats.org/officeDocument/2006/math">
                    <m:r>
                      <a:rPr lang="en-GB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GB" sz="2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8F2FB62-AAE1-ED96-5B4D-EEA01E15B4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875" y="2322554"/>
                <a:ext cx="9955925" cy="1699824"/>
              </a:xfrm>
              <a:prstGeom prst="rect">
                <a:avLst/>
              </a:prstGeom>
              <a:blipFill>
                <a:blip r:embed="rId4"/>
                <a:stretch>
                  <a:fillRect l="-980" t="-5735" r="-306" b="-860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ne catch: #variables of function   #clauses in formula…">
                <a:extLst>
                  <a:ext uri="{FF2B5EF4-FFF2-40B4-BE49-F238E27FC236}">
                    <a16:creationId xmlns:a16="http://schemas.microsoft.com/office/drawing/2014/main" id="{69281448-6C16-145A-AB70-4217C3B83C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16875" y="4392624"/>
                <a:ext cx="11368035" cy="191418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5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01625" indent="-301625" defTabSz="392113">
                  <a:spcBef>
                    <a:spcPts val="2350"/>
                  </a:spcBef>
                  <a:defRPr sz="4560"/>
                </a:pPr>
                <a:r>
                  <a:rPr lang="en-GB" sz="4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Crucial issue: #variables of function </a:t>
                </a:r>
                <a14:m>
                  <m:oMath xmlns:m="http://schemas.openxmlformats.org/officeDocument/2006/math">
                    <m:r>
                      <a:rPr lang="en-GB" sz="4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GB" sz="4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#clauses in formula</a:t>
                </a:r>
              </a:p>
              <a:p>
                <a:pPr marL="301625" lvl="1" indent="0" defTabSz="392113">
                  <a:spcBef>
                    <a:spcPts val="1350"/>
                  </a:spcBef>
                  <a:buNone/>
                  <a:defRPr sz="4560"/>
                </a:pPr>
                <a:r>
                  <a:rPr lang="en-GB" sz="4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—</a:t>
                </a:r>
                <a:r>
                  <a:rPr lang="en-GB" sz="48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4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Previous supercritical trade-offs do not work </a:t>
                </a:r>
              </a:p>
              <a:p>
                <a:pPr marL="301625" lvl="1" indent="0" defTabSz="392113">
                  <a:spcBef>
                    <a:spcPts val="750"/>
                  </a:spcBef>
                  <a:buNone/>
                  <a:defRPr sz="4560"/>
                </a:pPr>
                <a:r>
                  <a:rPr lang="en-GB" sz="4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—</a:t>
                </a:r>
                <a:r>
                  <a:rPr lang="en-GB" sz="48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4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Crucial that depth-width</a:t>
                </a:r>
                <a:r>
                  <a:rPr lang="en-GB" sz="456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</a:t>
                </a:r>
                <a:r>
                  <a:rPr lang="en-GB" sz="4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trade-off is </a:t>
                </a:r>
                <a:r>
                  <a:rPr lang="en-GB" sz="4400" i="1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truly</a:t>
                </a:r>
                <a:r>
                  <a:rPr lang="en-GB" sz="4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 supercritical</a:t>
                </a:r>
              </a:p>
              <a:p>
                <a:pPr marL="301625" indent="-301625" defTabSz="392113">
                  <a:spcBef>
                    <a:spcPts val="2800"/>
                  </a:spcBef>
                  <a:defRPr sz="4560"/>
                </a:pPr>
                <a:r>
                  <a:rPr lang="en-GB" sz="4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Need tighter lifting theorem than </a:t>
                </a:r>
                <a:r>
                  <a:rPr lang="en-GB" sz="4400" dirty="0">
                    <a:solidFill>
                      <a:srgbClr val="3C28FB"/>
                    </a:solidFill>
                    <a:latin typeface="Lato Light" panose="020F0502020204030203" pitchFamily="34" charset="0"/>
                    <a:ea typeface="Lato Light" panose="020F0502020204030203" pitchFamily="34" charset="0"/>
                    <a:cs typeface="Lato Light" panose="020F0502020204030203" pitchFamily="34" charset="0"/>
                  </a:rPr>
                  <a:t>[GGKS ’18] </a:t>
                </a:r>
                <a:r>
                  <a:rPr lang="en-GB" sz="4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with better constants</a:t>
                </a:r>
              </a:p>
            </p:txBody>
          </p:sp>
        </mc:Choice>
        <mc:Fallback xmlns="">
          <p:sp>
            <p:nvSpPr>
              <p:cNvPr id="6" name="One catch: #variables of function   #clauses in formula…">
                <a:extLst>
                  <a:ext uri="{FF2B5EF4-FFF2-40B4-BE49-F238E27FC236}">
                    <a16:creationId xmlns:a16="http://schemas.microsoft.com/office/drawing/2014/main" id="{69281448-6C16-145A-AB70-4217C3B83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875" y="4392624"/>
                <a:ext cx="11368035" cy="1914188"/>
              </a:xfrm>
              <a:prstGeom prst="rect">
                <a:avLst/>
              </a:prstGeom>
              <a:blipFill>
                <a:blip r:embed="rId5"/>
                <a:stretch>
                  <a:fillRect l="-751" t="-7962" b="-12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7053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76B0A-AEEC-5019-197F-D3FEF9347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614D49FD-D9DD-7208-0C78-DD7A4CF3FE1D}"/>
              </a:ext>
            </a:extLst>
          </p:cNvPr>
          <p:cNvSpPr txBox="1"/>
          <p:nvPr/>
        </p:nvSpPr>
        <p:spPr>
          <a:xfrm>
            <a:off x="916252" y="795875"/>
            <a:ext cx="881608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altLang="zh-CN" sz="28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Tight Lifting for Resolution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A6C0313-17BC-DB77-5BDF-FD8B3C2AE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34</a:t>
            </a:fld>
            <a:endParaRPr lang="en-GB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3F30EBA-386F-5952-B089-DB274F8DE20A}"/>
              </a:ext>
            </a:extLst>
          </p:cNvPr>
          <p:cNvGrpSpPr/>
          <p:nvPr/>
        </p:nvGrpSpPr>
        <p:grpSpPr>
          <a:xfrm>
            <a:off x="916252" y="1913693"/>
            <a:ext cx="9394012" cy="1280159"/>
            <a:chOff x="1253049" y="1645892"/>
            <a:chExt cx="8901851" cy="128015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7956EE3-8511-15E3-079F-1EF918CB7198}"/>
                </a:ext>
              </a:extLst>
            </p:cNvPr>
            <p:cNvSpPr txBox="1"/>
            <p:nvPr/>
          </p:nvSpPr>
          <p:spPr>
            <a:xfrm>
              <a:off x="1253049" y="1645892"/>
              <a:ext cx="8901851" cy="126188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000" b="1" dirty="0">
                  <a:solidFill>
                    <a:srgbClr val="3C28FB"/>
                  </a:solidFill>
                  <a:latin typeface="Iskoola Pota" panose="020B0502040204020203" pitchFamily="34" charset="0"/>
                  <a:cs typeface="Iskoola Pota" panose="020B0502040204020203" pitchFamily="34" charset="0"/>
                </a:rPr>
                <a:t>  </a:t>
              </a:r>
            </a:p>
            <a:p>
              <a:r>
                <a:rPr lang="en-GB" sz="2400" b="1" dirty="0">
                  <a:solidFill>
                    <a:srgbClr val="3C28F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 </a:t>
              </a:r>
              <a:r>
                <a:rPr lang="en-GB" sz="2400" dirty="0">
                  <a:solidFill>
                    <a:srgbClr val="3C28F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Theorem</a:t>
              </a:r>
              <a:endParaRPr lang="en-GB" sz="2400" dirty="0">
                <a:latin typeface="Iskoola Pota" panose="020B0502040204020203" pitchFamily="34" charset="0"/>
                <a:cs typeface="Iskoola Pota" panose="020B0502040204020203" pitchFamily="34" charset="0"/>
              </a:endParaRPr>
            </a:p>
            <a:p>
              <a:r>
                <a:rPr lang="en-GB" sz="2400" dirty="0">
                  <a:latin typeface="Iskoola Pota" panose="020B0502040204020203" pitchFamily="34" charset="0"/>
                  <a:cs typeface="Iskoola Pota" panose="020B0502040204020203" pitchFamily="34" charset="0"/>
                </a:rPr>
                <a:t>      </a:t>
              </a:r>
            </a:p>
            <a:p>
              <a:endParaRPr lang="en-GB" sz="2400" dirty="0">
                <a:latin typeface="Iskoola Pota" panose="020B0502040204020203" pitchFamily="34" charset="0"/>
                <a:cs typeface="Iskoola Pota" panose="020B0502040204020203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4EA1913-1EE7-6894-6869-14CD5F81CAF9}"/>
                    </a:ext>
                  </a:extLst>
                </p:cNvPr>
                <p:cNvSpPr txBox="1"/>
                <p:nvPr/>
              </p:nvSpPr>
              <p:spPr>
                <a:xfrm>
                  <a:off x="1253049" y="2095054"/>
                  <a:ext cx="8857305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 sz="4200" b="0"/>
                  </a:pPr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	size-</a:t>
                  </a:r>
                  <a14:m>
                    <m:oMath xmlns:m="http://schemas.openxmlformats.org/officeDocument/2006/math"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/2</m:t>
                      </m:r>
                      <m:sSup>
                        <m:sSupPr>
                          <m:ctrlP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GB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p>
                      </m:sSup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</a:rPr>
                    <a:t>, </a:t>
                  </a:r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depth-</a:t>
                  </a:r>
                  <a14:m>
                    <m:oMath xmlns:m="http://schemas.openxmlformats.org/officeDocument/2006/math"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resolution refutation for </a:t>
                  </a:r>
                  <a14:m>
                    <m:oMath xmlns:m="http://schemas.openxmlformats.org/officeDocument/2006/math"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IN</m:t>
                      </m:r>
                      <m:sSub>
                        <m:sSubPr>
                          <m:ctrlPr>
                            <a:rPr lang="en-US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</a:rPr>
                    <a:t> </a:t>
                  </a:r>
                </a:p>
                <a:p>
                  <a:pPr>
                    <a:defRPr sz="4200" b="0"/>
                  </a:pPr>
                  <a:r>
                    <a:rPr lang="en-GB" sz="2400" dirty="0">
                      <a:solidFill>
                        <a:srgbClr val="000000"/>
                      </a:solidFill>
                    </a:rPr>
                    <a:t>     </a:t>
                  </a:r>
                  <a14:m>
                    <m:oMath xmlns:m="http://schemas.openxmlformats.org/officeDocument/2006/math"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	width-</a:t>
                  </a:r>
                  <a14:m>
                    <m:oMath xmlns:m="http://schemas.openxmlformats.org/officeDocument/2006/math"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, depth-</a:t>
                  </a:r>
                  <a14:m>
                    <m:oMath xmlns:m="http://schemas.openxmlformats.org/officeDocument/2006/math"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resolution refutation of </a:t>
                  </a:r>
                  <a14:m>
                    <m:oMath xmlns:m="http://schemas.openxmlformats.org/officeDocument/2006/math"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oMath>
                  </a14:m>
                  <a:endPara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4EA1913-1EE7-6894-6869-14CD5F81CA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3049" y="2095054"/>
                  <a:ext cx="8857305" cy="830997"/>
                </a:xfrm>
                <a:prstGeom prst="rect">
                  <a:avLst/>
                </a:prstGeom>
                <a:blipFill>
                  <a:blip r:embed="rId3"/>
                  <a:stretch>
                    <a:fillRect t="-5882" b="-1544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FD8B47D4-55AD-D4E7-D69E-CB980E4909A7}"/>
              </a:ext>
            </a:extLst>
          </p:cNvPr>
          <p:cNvSpPr txBox="1"/>
          <p:nvPr/>
        </p:nvSpPr>
        <p:spPr>
          <a:xfrm>
            <a:off x="5638800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88B6809-9516-6A4D-457E-A0C8348CD0FD}"/>
              </a:ext>
            </a:extLst>
          </p:cNvPr>
          <p:cNvSpPr txBox="1"/>
          <p:nvPr/>
        </p:nvSpPr>
        <p:spPr>
          <a:xfrm>
            <a:off x="1057541" y="3295376"/>
            <a:ext cx="66405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Essentially optimal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Simple proof via random restriction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CB8470B-9E3A-615A-1D69-CBA368AA5C87}"/>
              </a:ext>
            </a:extLst>
          </p:cNvPr>
          <p:cNvGrpSpPr/>
          <p:nvPr/>
        </p:nvGrpSpPr>
        <p:grpSpPr>
          <a:xfrm>
            <a:off x="916253" y="4658029"/>
            <a:ext cx="9593560" cy="2000548"/>
            <a:chOff x="1364055" y="1192697"/>
            <a:chExt cx="8640755" cy="20005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B4949D4-517D-93BF-E4EC-B93389EF3842}"/>
                    </a:ext>
                  </a:extLst>
                </p:cNvPr>
                <p:cNvSpPr txBox="1"/>
                <p:nvPr/>
              </p:nvSpPr>
              <p:spPr>
                <a:xfrm>
                  <a:off x="1364055" y="1192697"/>
                  <a:ext cx="8507387" cy="2000548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1"/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GB" sz="1000" b="1">
                      <a:solidFill>
                        <a:srgbClr val="3C28FB"/>
                      </a:solidFill>
                      <a:latin typeface="Iskoola Pota" panose="020B0502040204020203" pitchFamily="34" charset="0"/>
                      <a:cs typeface="Iskoola Pota" panose="020B0502040204020203" pitchFamily="34" charset="0"/>
                    </a:rPr>
                    <a:t>  </a:t>
                  </a:r>
                </a:p>
                <a:p>
                  <a:r>
                    <a:rPr lang="en-GB" sz="2400" b="1">
                      <a:solidFill>
                        <a:srgbClr val="3C28FB"/>
                      </a:solidFill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 </a:t>
                  </a:r>
                  <a:r>
                    <a:rPr lang="en-GB" sz="2400">
                      <a:solidFill>
                        <a:srgbClr val="3C28FB"/>
                      </a:solidFill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Corollary (size-depth trade-off for resolution)</a:t>
                  </a:r>
                  <a:endParaRPr lang="en-GB" sz="100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  <a:p>
                  <a:r>
                    <a:rPr lang="en-GB" sz="240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     </a:t>
                  </a:r>
                  <a14:m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  <a:cs typeface="Iskoola Pota" panose="020B0502040204020203" pitchFamily="34" charset="0"/>
                        </a:rPr>
                        <m:t>∃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a </a:t>
                  </a:r>
                  <a:r>
                    <a:rPr lang="en-GB" sz="240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CNF formula </a:t>
                  </a:r>
                  <a14:m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  <a:cs typeface="Iskoola Pota" panose="020B0502040204020203" pitchFamily="34" charset="0"/>
                        </a:rPr>
                        <m:t>𝐹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on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400" b="0" i="1" smtClean="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ℓ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clauses s.t.</a:t>
                  </a:r>
                </a:p>
                <a:p>
                  <a:endParaRPr lang="en-GB" sz="2400">
                    <a:latin typeface="Iskoola Pota" panose="020B0502040204020203" pitchFamily="34" charset="0"/>
                    <a:cs typeface="Iskoola Pota" panose="020B0502040204020203" pitchFamily="34" charset="0"/>
                  </a:endParaRPr>
                </a:p>
                <a:p>
                  <a:r>
                    <a:rPr lang="en-GB" sz="2400">
                      <a:latin typeface="Iskoola Pota" panose="020B0502040204020203" pitchFamily="34" charset="0"/>
                      <a:cs typeface="Iskoola Pota" panose="020B0502040204020203" pitchFamily="34" charset="0"/>
                    </a:rPr>
                    <a:t>      </a:t>
                  </a:r>
                </a:p>
                <a:p>
                  <a:endParaRPr lang="en-GB" sz="2400" dirty="0">
                    <a:latin typeface="Iskoola Pota" panose="020B0502040204020203" pitchFamily="34" charset="0"/>
                    <a:cs typeface="Iskoola Pota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B4949D4-517D-93BF-E4EC-B93389EF38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4055" y="1192697"/>
                  <a:ext cx="8507387" cy="2000548"/>
                </a:xfrm>
                <a:prstGeom prst="rect">
                  <a:avLst/>
                </a:prstGeom>
                <a:blipFill>
                  <a:blip r:embed="rId4"/>
                  <a:stretch>
                    <a:fillRect l="-322"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A4E49E2-40D4-54AC-EAAE-D3AEDED1E1FC}"/>
                    </a:ext>
                  </a:extLst>
                </p:cNvPr>
                <p:cNvSpPr txBox="1"/>
                <p:nvPr/>
              </p:nvSpPr>
              <p:spPr>
                <a:xfrm>
                  <a:off x="1878417" y="2057135"/>
                  <a:ext cx="8126393" cy="9441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  <a:cs typeface="Iskoola Pota" panose="020B0502040204020203" pitchFamily="34" charset="0"/>
                        </a:rPr>
                        <m:t>∃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resolution refutation of </a:t>
                  </a:r>
                  <a14:m>
                    <m:oMath xmlns:m="http://schemas.openxmlformats.org/officeDocument/2006/math"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in size </a:t>
                  </a:r>
                  <a14:m>
                    <m:oMath xmlns:m="http://schemas.openxmlformats.org/officeDocument/2006/math"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a14:m>
                  <a:endParaRPr lang="en-GB" sz="2400" b="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But size</a:t>
                  </a:r>
                  <a14:m>
                    <m:oMath xmlns:m="http://schemas.openxmlformats.org/officeDocument/2006/math">
                      <m:r>
                        <a:rPr lang="en-GB" sz="28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ℓ</m:t>
                      </m:r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</a:t>
                  </a:r>
                  <a:r>
                    <a:rPr lang="en-GB" sz="2400" dirty="0" err="1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superpolynomial</a:t>
                  </a:r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(in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ℓ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) depth</a:t>
                  </a: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4A4E49E2-40D4-54AC-EAAE-D3AEDED1E1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8417" y="2057135"/>
                  <a:ext cx="8126393" cy="944169"/>
                </a:xfrm>
                <a:prstGeom prst="rect">
                  <a:avLst/>
                </a:prstGeom>
                <a:blipFill>
                  <a:blip r:embed="rId5"/>
                  <a:stretch>
                    <a:fillRect l="-946" b="-12258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97719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F667C-68B5-8696-446B-34765733F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63B28DBE-BB84-8DFB-3CF0-088FD2F22D63}"/>
              </a:ext>
            </a:extLst>
          </p:cNvPr>
          <p:cNvSpPr txBox="1"/>
          <p:nvPr/>
        </p:nvSpPr>
        <p:spPr>
          <a:xfrm>
            <a:off x="916252" y="795875"/>
            <a:ext cx="881608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altLang="zh-CN" sz="28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Tight Lifting for Monotone Circuits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5DA60A6-763F-00CB-AB17-6334D7D91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35</a:t>
            </a:fld>
            <a:endParaRPr lang="en-GB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4FB8C80-55B7-7230-119E-EF4A8283D0F2}"/>
              </a:ext>
            </a:extLst>
          </p:cNvPr>
          <p:cNvGrpSpPr/>
          <p:nvPr/>
        </p:nvGrpSpPr>
        <p:grpSpPr>
          <a:xfrm>
            <a:off x="916252" y="1913693"/>
            <a:ext cx="9394012" cy="1341160"/>
            <a:chOff x="1253049" y="1645892"/>
            <a:chExt cx="8901851" cy="134116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EAC05A2-CF68-05E0-00A4-313759CF250E}"/>
                </a:ext>
              </a:extLst>
            </p:cNvPr>
            <p:cNvSpPr txBox="1"/>
            <p:nvPr/>
          </p:nvSpPr>
          <p:spPr>
            <a:xfrm>
              <a:off x="1253049" y="1645892"/>
              <a:ext cx="8901851" cy="126188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000" b="1">
                  <a:solidFill>
                    <a:srgbClr val="3C28FB"/>
                  </a:solidFill>
                  <a:latin typeface="Iskoola Pota" panose="020B0502040204020203" pitchFamily="34" charset="0"/>
                  <a:cs typeface="Iskoola Pota" panose="020B0502040204020203" pitchFamily="34" charset="0"/>
                </a:rPr>
                <a:t>  </a:t>
              </a:r>
            </a:p>
            <a:p>
              <a:r>
                <a:rPr lang="en-GB" sz="2400" b="1">
                  <a:solidFill>
                    <a:srgbClr val="3C28F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 </a:t>
              </a:r>
              <a:r>
                <a:rPr lang="en-GB" sz="2400">
                  <a:solidFill>
                    <a:srgbClr val="3C28F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Theorem</a:t>
              </a:r>
              <a:endParaRPr lang="en-GB" sz="2400">
                <a:latin typeface="Iskoola Pota" panose="020B0502040204020203" pitchFamily="34" charset="0"/>
                <a:cs typeface="Iskoola Pota" panose="020B0502040204020203" pitchFamily="34" charset="0"/>
              </a:endParaRPr>
            </a:p>
            <a:p>
              <a:r>
                <a:rPr lang="en-GB" sz="2400">
                  <a:latin typeface="Iskoola Pota" panose="020B0502040204020203" pitchFamily="34" charset="0"/>
                  <a:cs typeface="Iskoola Pota" panose="020B0502040204020203" pitchFamily="34" charset="0"/>
                </a:rPr>
                <a:t>      </a:t>
              </a:r>
            </a:p>
            <a:p>
              <a:endParaRPr lang="en-GB" sz="2400" dirty="0">
                <a:latin typeface="Iskoola Pota" panose="020B0502040204020203" pitchFamily="34" charset="0"/>
                <a:cs typeface="Iskoola Pota" panose="020B0502040204020203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34EC61C-FBA4-1910-47F2-28D398737DE2}"/>
                    </a:ext>
                  </a:extLst>
                </p:cNvPr>
                <p:cNvSpPr txBox="1"/>
                <p:nvPr/>
              </p:nvSpPr>
              <p:spPr>
                <a:xfrm>
                  <a:off x="1253049" y="2014029"/>
                  <a:ext cx="8857305" cy="97302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 sz="4200" b="0"/>
                  </a:pPr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	size-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GB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p>
                          <m:r>
                            <a:rPr lang="en-GB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GB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𝜖</m:t>
                          </m:r>
                          <m:r>
                            <a:rPr lang="en-GB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sup>
                      </m:sSup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</a:rPr>
                    <a:t>, </a:t>
                  </a:r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depth-</a:t>
                  </a:r>
                  <a14:m>
                    <m:oMath xmlns:m="http://schemas.openxmlformats.org/officeDocument/2006/math"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monotone circuit for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GB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</a:rPr>
                    <a:t> </a:t>
                  </a:r>
                </a:p>
                <a:p>
                  <a:pPr>
                    <a:defRPr sz="4200" b="0"/>
                  </a:pPr>
                  <a:r>
                    <a:rPr lang="en-GB" sz="2800" dirty="0">
                      <a:solidFill>
                        <a:srgbClr val="000000"/>
                      </a:solidFill>
                    </a:rPr>
                    <a:t>    </a:t>
                  </a:r>
                  <a14:m>
                    <m:oMath xmlns:m="http://schemas.openxmlformats.org/officeDocument/2006/math"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</a:rPr>
                    <a:t> 	</a:t>
                  </a:r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width-</a:t>
                  </a:r>
                  <a14:m>
                    <m:oMath xmlns:m="http://schemas.openxmlformats.org/officeDocument/2006/math"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, depth-</a:t>
                  </a:r>
                  <a14:m>
                    <m:oMath xmlns:m="http://schemas.openxmlformats.org/officeDocument/2006/math"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𝑤𝑑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resolution refutation of </a:t>
                  </a:r>
                  <a14:m>
                    <m:oMath xmlns:m="http://schemas.openxmlformats.org/officeDocument/2006/math"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oMath>
                  </a14:m>
                  <a:endPara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34EC61C-FBA4-1910-47F2-28D398737D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53049" y="2014029"/>
                  <a:ext cx="8857305" cy="973023"/>
                </a:xfrm>
                <a:prstGeom prst="rect">
                  <a:avLst/>
                </a:prstGeom>
                <a:blipFill>
                  <a:blip r:embed="rId3"/>
                  <a:stretch>
                    <a:fillRect t="-625" b="-1125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F982981-1C53-10B1-B2E5-BC1C5AABFA05}"/>
              </a:ext>
            </a:extLst>
          </p:cNvPr>
          <p:cNvSpPr txBox="1"/>
          <p:nvPr/>
        </p:nvSpPr>
        <p:spPr>
          <a:xfrm>
            <a:off x="5638800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3BB831-B396-95E8-2A49-385945AEFB1F}"/>
              </a:ext>
            </a:extLst>
          </p:cNvPr>
          <p:cNvSpPr txBox="1"/>
          <p:nvPr/>
        </p:nvSpPr>
        <p:spPr>
          <a:xfrm>
            <a:off x="1057541" y="3295376"/>
            <a:ext cx="94454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Also almost optimal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Applies also to cutting planes (and monotone real circuits)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118A75EA-D52E-707B-F611-C4D7402A3056}"/>
              </a:ext>
            </a:extLst>
          </p:cNvPr>
          <p:cNvGrpSpPr/>
          <p:nvPr/>
        </p:nvGrpSpPr>
        <p:grpSpPr>
          <a:xfrm>
            <a:off x="916253" y="4658029"/>
            <a:ext cx="9593560" cy="1695435"/>
            <a:chOff x="1364055" y="1192697"/>
            <a:chExt cx="8640755" cy="16954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169103D-3C87-CBAC-5243-B14BAA35608B}"/>
                    </a:ext>
                  </a:extLst>
                </p:cNvPr>
                <p:cNvSpPr txBox="1"/>
                <p:nvPr/>
              </p:nvSpPr>
              <p:spPr>
                <a:xfrm>
                  <a:off x="1364055" y="1192697"/>
                  <a:ext cx="8507387" cy="1631216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1"/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GB" sz="1000" b="1">
                      <a:solidFill>
                        <a:srgbClr val="3C28FB"/>
                      </a:solidFill>
                      <a:latin typeface="Iskoola Pota" panose="020B0502040204020203" pitchFamily="34" charset="0"/>
                      <a:cs typeface="Iskoola Pota" panose="020B0502040204020203" pitchFamily="34" charset="0"/>
                    </a:rPr>
                    <a:t>  </a:t>
                  </a:r>
                </a:p>
                <a:p>
                  <a:r>
                    <a:rPr lang="en-GB" sz="2400" b="1">
                      <a:solidFill>
                        <a:srgbClr val="3C28FB"/>
                      </a:solidFill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 </a:t>
                  </a:r>
                  <a:r>
                    <a:rPr lang="en-GB" sz="2400">
                      <a:solidFill>
                        <a:srgbClr val="3C28FB"/>
                      </a:solidFill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Corollary (size-depth trade-off for monotone circuits)</a:t>
                  </a:r>
                  <a:endParaRPr lang="en-GB" sz="100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  <a:p>
                  <a:pPr>
                    <a:defRPr sz="4200" b="0"/>
                  </a:pPr>
                  <a:r>
                    <a:rPr lang="en-GB" sz="240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     </a:t>
                  </a:r>
                  <a14:m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  <a:cs typeface="Iskoola Pota" panose="020B0502040204020203" pitchFamily="34" charset="0"/>
                        </a:rPr>
                        <m:t>∃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function </a:t>
                  </a:r>
                  <a14:m>
                    <m:oMath xmlns:m="http://schemas.openxmlformats.org/officeDocument/2006/math">
                      <m:r>
                        <a:rPr lang="en-GB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on </a:t>
                  </a:r>
                  <a14:m>
                    <m:oMath xmlns:m="http://schemas.openxmlformats.org/officeDocument/2006/math">
                      <m:r>
                        <a:rPr lang="en-GB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</a:t>
                  </a:r>
                  <a:r>
                    <a:rPr lang="en-GB" sz="240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variables s.t.</a:t>
                  </a:r>
                </a:p>
                <a:p>
                  <a:endParaRPr lang="en-GB" sz="2400">
                    <a:latin typeface="Iskoola Pota" panose="020B0502040204020203" pitchFamily="34" charset="0"/>
                    <a:cs typeface="Iskoola Pota" panose="020B0502040204020203" pitchFamily="34" charset="0"/>
                  </a:endParaRPr>
                </a:p>
                <a:p>
                  <a:r>
                    <a:rPr lang="en-GB" sz="2400">
                      <a:latin typeface="Iskoola Pota" panose="020B0502040204020203" pitchFamily="34" charset="0"/>
                      <a:cs typeface="Iskoola Pota" panose="020B0502040204020203" pitchFamily="34" charset="0"/>
                    </a:rPr>
                    <a:t>      </a:t>
                  </a:r>
                  <a:endParaRPr lang="en-GB" sz="2400" dirty="0">
                    <a:latin typeface="Iskoola Pota" panose="020B0502040204020203" pitchFamily="34" charset="0"/>
                    <a:cs typeface="Iskoola Pota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169103D-3C87-CBAC-5243-B14BAA35608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4055" y="1192697"/>
                  <a:ext cx="8507387" cy="1631216"/>
                </a:xfrm>
                <a:prstGeom prst="rect">
                  <a:avLst/>
                </a:prstGeom>
                <a:blipFill>
                  <a:blip r:embed="rId4"/>
                  <a:stretch>
                    <a:fillRect l="-322"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7308DB8-870E-8E05-426D-88B6453D00B9}"/>
                    </a:ext>
                  </a:extLst>
                </p:cNvPr>
                <p:cNvSpPr txBox="1"/>
                <p:nvPr/>
              </p:nvSpPr>
              <p:spPr>
                <a:xfrm>
                  <a:off x="1878417" y="2057135"/>
                  <a:ext cx="8126393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  <a:cs typeface="Iskoola Pota" panose="020B0502040204020203" pitchFamily="34" charset="0"/>
                        </a:rPr>
                        <m:t>∃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a monotone circuit for </a:t>
                  </a:r>
                  <a14:m>
                    <m:oMath xmlns:m="http://schemas.openxmlformats.org/officeDocument/2006/math"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of size </a:t>
                  </a:r>
                  <a14:m>
                    <m:oMath xmlns:m="http://schemas.openxmlformats.org/officeDocument/2006/math"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a14:m>
                  <a:endParaRPr lang="en-GB" sz="2400" b="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size </a:t>
                  </a:r>
                  <a14:m>
                    <m:oMath xmlns:m="http://schemas.openxmlformats.org/officeDocument/2006/math"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𝑛𝑠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GB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</a:t>
                  </a:r>
                  <a:r>
                    <a:rPr lang="en-GB" sz="2400" dirty="0" err="1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superpolynomial</a:t>
                  </a:r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</a:t>
                  </a:r>
                  <a:r>
                    <a:rPr lang="en-GB" sz="2400" dirty="0" err="1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depth</a:t>
                  </a:r>
                  <a:endPara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7308DB8-870E-8E05-426D-88B6453D00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8417" y="2057135"/>
                  <a:ext cx="8126393" cy="830997"/>
                </a:xfrm>
                <a:prstGeom prst="rect">
                  <a:avLst/>
                </a:prstGeom>
                <a:blipFill>
                  <a:blip r:embed="rId5"/>
                  <a:stretch>
                    <a:fillRect l="-946" t="-5882" b="-16176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23359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531AF-E93D-4EA8-6AB5-F9C05D12E7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>
            <a:extLst>
              <a:ext uri="{FF2B5EF4-FFF2-40B4-BE49-F238E27FC236}">
                <a16:creationId xmlns:a16="http://schemas.microsoft.com/office/drawing/2014/main" id="{EF668559-5380-E7CB-2ECB-86CE1037F2B4}"/>
              </a:ext>
            </a:extLst>
          </p:cNvPr>
          <p:cNvSpPr txBox="1"/>
          <p:nvPr/>
        </p:nvSpPr>
        <p:spPr>
          <a:xfrm>
            <a:off x="916252" y="795875"/>
            <a:ext cx="881608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altLang="zh-CN" sz="28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Lifting for Tree-like Resolution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75658720-0152-A9C4-11A5-2C7EAC81F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36</a:t>
            </a:fld>
            <a:endParaRPr lang="en-GB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01C8EF6-54FF-947A-7DC3-B313D9317DD4}"/>
              </a:ext>
            </a:extLst>
          </p:cNvPr>
          <p:cNvGrpSpPr/>
          <p:nvPr/>
        </p:nvGrpSpPr>
        <p:grpSpPr>
          <a:xfrm>
            <a:off x="916252" y="1910352"/>
            <a:ext cx="10840319" cy="1631216"/>
            <a:chOff x="1386936" y="1642551"/>
            <a:chExt cx="9756829" cy="163121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593020E-5156-7829-7A02-792FA1EDF7CC}"/>
                </a:ext>
              </a:extLst>
            </p:cNvPr>
            <p:cNvSpPr txBox="1"/>
            <p:nvPr/>
          </p:nvSpPr>
          <p:spPr>
            <a:xfrm>
              <a:off x="1386936" y="1642551"/>
              <a:ext cx="8901851" cy="16312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GB" sz="1000" b="1" dirty="0">
                  <a:solidFill>
                    <a:srgbClr val="3C28FB"/>
                  </a:solidFill>
                  <a:latin typeface="Iskoola Pota" panose="020B0502040204020203" pitchFamily="34" charset="0"/>
                  <a:cs typeface="Iskoola Pota" panose="020B0502040204020203" pitchFamily="34" charset="0"/>
                </a:rPr>
                <a:t>  </a:t>
              </a:r>
            </a:p>
            <a:p>
              <a:r>
                <a:rPr lang="en-GB" sz="2400" b="1" dirty="0">
                  <a:solidFill>
                    <a:srgbClr val="3C28F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 </a:t>
              </a:r>
              <a:r>
                <a:rPr lang="en-GB" sz="2400" dirty="0">
                  <a:solidFill>
                    <a:srgbClr val="3C28FB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Theorem</a:t>
              </a:r>
              <a:endParaRPr lang="en-GB" sz="2400" dirty="0">
                <a:latin typeface="Iskoola Pota" panose="020B0502040204020203" pitchFamily="34" charset="0"/>
                <a:cs typeface="Iskoola Pota" panose="020B0502040204020203" pitchFamily="34" charset="0"/>
              </a:endParaRPr>
            </a:p>
            <a:p>
              <a:r>
                <a:rPr lang="en-GB" sz="2400" dirty="0">
                  <a:latin typeface="Iskoola Pota" panose="020B0502040204020203" pitchFamily="34" charset="0"/>
                  <a:cs typeface="Iskoola Pota" panose="020B0502040204020203" pitchFamily="34" charset="0"/>
                </a:rPr>
                <a:t>      </a:t>
              </a:r>
            </a:p>
            <a:p>
              <a:endParaRPr lang="en-GB" sz="2400" dirty="0">
                <a:latin typeface="Iskoola Pota" panose="020B0502040204020203" pitchFamily="34" charset="0"/>
                <a:cs typeface="Iskoola Pota" panose="020B0502040204020203" pitchFamily="34" charset="0"/>
              </a:endParaRPr>
            </a:p>
            <a:p>
              <a:endParaRPr lang="en-GB" sz="2400" dirty="0">
                <a:latin typeface="Iskoola Pota" panose="020B0502040204020203" pitchFamily="34" charset="0"/>
                <a:cs typeface="Iskoola Pota" panose="020B0502040204020203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3452F8F-154E-AD51-3130-D39B3E7A113F}"/>
                    </a:ext>
                  </a:extLst>
                </p:cNvPr>
                <p:cNvSpPr txBox="1"/>
                <p:nvPr/>
              </p:nvSpPr>
              <p:spPr>
                <a:xfrm>
                  <a:off x="1575905" y="2165481"/>
                  <a:ext cx="9567860" cy="94416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defRPr sz="4200" b="0"/>
                  </a:pPr>
                  <a:r>
                    <a:rPr lang="en-GB" sz="2400" dirty="0"/>
                    <a:t>	</a:t>
                  </a:r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size-</a:t>
                  </a:r>
                  <a14:m>
                    <m:oMath xmlns:m="http://schemas.openxmlformats.org/officeDocument/2006/math"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, width-</a:t>
                  </a:r>
                  <a14:m>
                    <m:oMath xmlns:m="http://schemas.openxmlformats.org/officeDocument/2006/math"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tree-like resolution refutation for </a:t>
                  </a:r>
                  <a14:m>
                    <m:oMath xmlns:m="http://schemas.openxmlformats.org/officeDocument/2006/math"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∘</m:t>
                      </m:r>
                      <m:sSub>
                        <m:sSubPr>
                          <m:ctrlPr>
                            <a:rPr lang="en-GB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ato" panose="020F0502020204030203" pitchFamily="34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GB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Lato" panose="020F0502020204030203" pitchFamily="34" charset="0"/>
                            </a:rPr>
                            <m:t>XOR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GB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   </a:t>
                  </a:r>
                </a:p>
                <a:p>
                  <a:pPr>
                    <a:defRPr sz="4200" b="0"/>
                  </a:pPr>
                  <a:r>
                    <a:rPr lang="en-GB" sz="2800" dirty="0">
                      <a:solidFill>
                        <a:srgbClr val="000000"/>
                      </a:solidFill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   </a:t>
                  </a:r>
                  <a14:m>
                    <m:oMath xmlns:m="http://schemas.openxmlformats.org/officeDocument/2006/math"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	depth-</a:t>
                  </a:r>
                  <a14:m>
                    <m:oMath xmlns:m="http://schemas.openxmlformats.org/officeDocument/2006/math"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log</m:t>
                      </m:r>
                      <m:r>
                        <a:rPr lang="en-US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, width-</a:t>
                  </a:r>
                  <a14:m>
                    <m:oMath xmlns:m="http://schemas.openxmlformats.org/officeDocument/2006/math"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resolution refutation of </a:t>
                  </a:r>
                  <a14:m>
                    <m:oMath xmlns:m="http://schemas.openxmlformats.org/officeDocument/2006/math">
                      <m:r>
                        <a:rPr lang="en-GB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oMath>
                  </a14:m>
                  <a:endParaRPr lang="en-GB" sz="24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13452F8F-154E-AD51-3130-D39B3E7A11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5905" y="2165481"/>
                  <a:ext cx="9567860" cy="944169"/>
                </a:xfrm>
                <a:prstGeom prst="rect">
                  <a:avLst/>
                </a:prstGeom>
                <a:blipFill>
                  <a:blip r:embed="rId3"/>
                  <a:stretch>
                    <a:fillRect t="-1290" b="-12903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6D50122F-28B7-619C-072A-32238BF53515}"/>
              </a:ext>
            </a:extLst>
          </p:cNvPr>
          <p:cNvSpPr txBox="1"/>
          <p:nvPr/>
        </p:nvSpPr>
        <p:spPr>
          <a:xfrm>
            <a:off x="5497511" y="2971800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24ED8D-3844-7BAE-DE55-71AF4C8727B0}"/>
              </a:ext>
            </a:extLst>
          </p:cNvPr>
          <p:cNvSpPr txBox="1"/>
          <p:nvPr/>
        </p:nvSpPr>
        <p:spPr>
          <a:xfrm>
            <a:off x="1115669" y="3910319"/>
            <a:ext cx="66405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 that width is also reduced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E2A603D-F2BE-03C3-6F10-C8A32CA21C99}"/>
              </a:ext>
            </a:extLst>
          </p:cNvPr>
          <p:cNvGrpSpPr/>
          <p:nvPr/>
        </p:nvGrpSpPr>
        <p:grpSpPr>
          <a:xfrm>
            <a:off x="916251" y="4706859"/>
            <a:ext cx="9890396" cy="1649491"/>
            <a:chOff x="1497423" y="1241527"/>
            <a:chExt cx="8507387" cy="16494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F7BE74B-9C57-8250-2562-0B54166FC714}"/>
                    </a:ext>
                  </a:extLst>
                </p:cNvPr>
                <p:cNvSpPr txBox="1"/>
                <p:nvPr/>
              </p:nvSpPr>
              <p:spPr>
                <a:xfrm>
                  <a:off x="1497423" y="1241527"/>
                  <a:ext cx="8507387" cy="1631216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bg1"/>
                  </a:solidFill>
                </a:ln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GB" sz="1000" b="1" dirty="0">
                      <a:solidFill>
                        <a:srgbClr val="3C28FB"/>
                      </a:solidFill>
                      <a:latin typeface="Iskoola Pota" panose="020B0502040204020203" pitchFamily="34" charset="0"/>
                      <a:cs typeface="Iskoola Pota" panose="020B0502040204020203" pitchFamily="34" charset="0"/>
                    </a:rPr>
                    <a:t>  </a:t>
                  </a:r>
                </a:p>
                <a:p>
                  <a:r>
                    <a:rPr lang="en-GB" sz="2400" b="1" dirty="0">
                      <a:solidFill>
                        <a:srgbClr val="3C28FB"/>
                      </a:solidFill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 </a:t>
                  </a:r>
                  <a:r>
                    <a:rPr lang="en-GB" sz="2400" dirty="0">
                      <a:solidFill>
                        <a:srgbClr val="3C28FB"/>
                      </a:solidFill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Corollary (size-width trade-off for tree-like resolution)</a:t>
                  </a:r>
                  <a:endParaRPr lang="en-GB" sz="10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  <a:p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     </a:t>
                  </a:r>
                  <a14:m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  <a:cs typeface="Iskoola Pota" panose="020B0502040204020203" pitchFamily="34" charset="0"/>
                        </a:rPr>
                        <m:t>∃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a CNF formula </a:t>
                  </a:r>
                  <a14:m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  <a:cs typeface="Iskoola Pota" panose="020B0502040204020203" pitchFamily="34" charset="0"/>
                        </a:rPr>
                        <m:t>𝐹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on </a:t>
                  </a:r>
                  <a14:m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  <a:cs typeface="Iskoola Pota" panose="020B0502040204020203" pitchFamily="34" charset="0"/>
                        </a:rPr>
                        <m:t>𝑛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variables s.t.</a:t>
                  </a:r>
                </a:p>
                <a:p>
                  <a:endParaRPr lang="en-GB" sz="2400" dirty="0">
                    <a:latin typeface="Iskoola Pota" panose="020B0502040204020203" pitchFamily="34" charset="0"/>
                    <a:cs typeface="Iskoola Pota" panose="020B0502040204020203" pitchFamily="34" charset="0"/>
                  </a:endParaRPr>
                </a:p>
                <a:p>
                  <a:r>
                    <a:rPr lang="en-GB" sz="2400" dirty="0">
                      <a:latin typeface="Iskoola Pota" panose="020B0502040204020203" pitchFamily="34" charset="0"/>
                      <a:cs typeface="Iskoola Pota" panose="020B0502040204020203" pitchFamily="34" charset="0"/>
                    </a:rPr>
                    <a:t>      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5F7BE74B-9C57-8250-2562-0B54166FC7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7423" y="1241527"/>
                  <a:ext cx="8507387" cy="1631216"/>
                </a:xfrm>
                <a:prstGeom prst="rect">
                  <a:avLst/>
                </a:prstGeom>
                <a:blipFill>
                  <a:blip r:embed="rId4"/>
                  <a:stretch>
                    <a:fillRect l="-308"/>
                  </a:stretch>
                </a:blipFill>
                <a:ln>
                  <a:solidFill>
                    <a:schemeClr val="bg1"/>
                  </a:solidFill>
                </a:ln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8905B81-E14C-6568-C104-10AC20F292B7}"/>
                    </a:ext>
                  </a:extLst>
                </p:cNvPr>
                <p:cNvSpPr txBox="1"/>
                <p:nvPr/>
              </p:nvSpPr>
              <p:spPr>
                <a:xfrm>
                  <a:off x="1878417" y="2057135"/>
                  <a:ext cx="8126393" cy="83388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  <a:cs typeface="Iskoola Pota" panose="020B0502040204020203" pitchFamily="34" charset="0"/>
                        </a:rPr>
                        <m:t>∃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a tree-like resolution refutation of width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400" b="0" i="0" smtClean="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w</m:t>
                      </m:r>
                      <m:r>
                        <a:rPr lang="en-GB" sz="2400" b="0" i="0" smtClean="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sz="240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p</m:t>
                      </m:r>
                      <m:r>
                        <m:rPr>
                          <m:sty m:val="p"/>
                        </m:rPr>
                        <a:rPr lang="en-GB" sz="2400" b="0" i="0" smtClean="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oly</m:t>
                      </m:r>
                      <m:r>
                        <a:rPr lang="en-GB" sz="2400" b="0" i="0" smtClean="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GB" sz="2400" b="0" i="0" smtClean="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log</m:t>
                      </m:r>
                      <m:d>
                        <m:dPr>
                          <m:ctrlPr>
                            <a:rPr lang="en-GB" sz="2400" b="0" i="1" smtClean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Lato" panose="020F0502020204030203" pitchFamily="34" charset="0"/>
                              <a:cs typeface="Lato" panose="020F0502020204030203" pitchFamily="34" charset="0"/>
                            </a:rPr>
                            <m:t>𝑛</m:t>
                          </m:r>
                        </m:e>
                      </m:d>
                      <m:r>
                        <a:rPr lang="en-GB" sz="2400" b="0" i="1" smtClean="0">
                          <a:latin typeface="Cambria Math" panose="02040503050406030204" pitchFamily="18" charset="0"/>
                          <a:ea typeface="Lato" panose="020F0502020204030203" pitchFamily="34" charset="0"/>
                          <a:cs typeface="Lato" panose="020F0502020204030203" pitchFamily="34" charset="0"/>
                        </a:rPr>
                        <m:t>)</m:t>
                      </m:r>
                    </m:oMath>
                  </a14:m>
                  <a:endParaRPr lang="en-GB" sz="2400" b="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But width</a:t>
                  </a:r>
                  <a14:m>
                    <m:oMath xmlns:m="http://schemas.openxmlformats.org/officeDocument/2006/math">
                      <m:r>
                        <a:rPr lang="en-GB" sz="240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ad>
                        <m:radPr>
                          <m:degHide m:val="on"/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rad>
                      <m:r>
                        <a:rPr lang="en-GB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GB" sz="24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GB" sz="2400">
                          <a:latin typeface="Cambria Math" panose="02040503050406030204" pitchFamily="18" charset="0"/>
                        </a:rPr>
                        <m:t>superpoly</m:t>
                      </m:r>
                      <m:r>
                        <m:rPr>
                          <m:nor/>
                        </m:rPr>
                        <a:rPr lang="en-GB" sz="2400" i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GB" altLang="da-DK" sz="240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ato" panose="020F0502020204030203" pitchFamily="34" charset="0"/>
                        </a:rPr>
                        <m:t>|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𝐹</m:t>
                      </m:r>
                      <m:r>
                        <m:rPr>
                          <m:nor/>
                        </m:rPr>
                        <a:rPr lang="en-GB" altLang="da-DK" sz="2400" i="0" dirty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ato" panose="020F0502020204030203" pitchFamily="34" charset="0"/>
                        </a:rPr>
                        <m:t>|)</m:t>
                      </m:r>
                      <m:r>
                        <m:rPr>
                          <m:nor/>
                        </m:rPr>
                        <a:rPr lang="en-GB" altLang="da-DK" sz="2400" b="0" i="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Lato" panose="020F0502020204030203" pitchFamily="34" charset="0"/>
                        </a:rPr>
                        <m:t>)</m:t>
                      </m:r>
                    </m:oMath>
                  </a14:m>
                  <a:r>
                    <a:rPr lang="en-GB" sz="24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 size</a:t>
                  </a: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8905B81-E14C-6568-C104-10AC20F292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8417" y="2057135"/>
                  <a:ext cx="8126393" cy="833883"/>
                </a:xfrm>
                <a:prstGeom prst="rect">
                  <a:avLst/>
                </a:prstGeom>
                <a:blipFill>
                  <a:blip r:embed="rId5"/>
                  <a:stretch>
                    <a:fillRect l="-903" t="-5839" b="-15328"/>
                  </a:stretch>
                </a:blipFill>
              </p:spPr>
              <p:txBody>
                <a:bodyPr/>
                <a:lstStyle/>
                <a:p>
                  <a:r>
                    <a:rPr lang="en-SE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25428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274EEF-67B0-ACFD-E0F6-5D5596F99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79181-DDAB-8BA0-0C81-843FE0D6D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37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C16185-B555-3FB9-D786-E73387A83812}"/>
              </a:ext>
            </a:extLst>
          </p:cNvPr>
          <p:cNvSpPr txBox="1"/>
          <p:nvPr/>
        </p:nvSpPr>
        <p:spPr>
          <a:xfrm>
            <a:off x="1060212" y="615621"/>
            <a:ext cx="9598294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Concurrent Work</a:t>
            </a:r>
            <a:r>
              <a:rPr lang="en-GB" altLang="zh-CN" sz="28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 </a:t>
            </a:r>
            <a:r>
              <a:rPr lang="en-GB" altLang="zh-CN" sz="28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[G</a:t>
            </a:r>
            <a:r>
              <a:rPr lang="en-GB" sz="28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öös-Maystre-Risse-Sokolov </a:t>
            </a:r>
            <a:r>
              <a:rPr lang="en-GB" altLang="zh-CN" sz="28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‘24]</a:t>
            </a:r>
            <a:endParaRPr lang="en-GB" sz="2800" dirty="0">
              <a:solidFill>
                <a:srgbClr val="3C28FB"/>
              </a:solidFill>
            </a:endParaRPr>
          </a:p>
          <a:p>
            <a:endParaRPr lang="en-GB" sz="2400" dirty="0">
              <a:solidFill>
                <a:srgbClr val="3C28FB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556A56-9DC7-1E12-0EBE-8B3D7825516C}"/>
              </a:ext>
            </a:extLst>
          </p:cNvPr>
          <p:cNvSpPr txBox="1"/>
          <p:nvPr/>
        </p:nvSpPr>
        <p:spPr>
          <a:xfrm>
            <a:off x="1060211" y="1731021"/>
            <a:ext cx="959829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Independently obtained supercritical size-depth trade-offs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Natural formulas formalizing interesting combinatorial principle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More robust trade-offs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Can use existing lifting theorems as black box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0998A7-048D-EA81-F900-E7BCD9ACDFCC}"/>
              </a:ext>
            </a:extLst>
          </p:cNvPr>
          <p:cNvSpPr txBox="1"/>
          <p:nvPr/>
        </p:nvSpPr>
        <p:spPr>
          <a:xfrm>
            <a:off x="1060211" y="3719234"/>
            <a:ext cx="1096334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Our work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Different parameter regime, with trade-offs kicking in earlier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Robust supercritical trade-offs also for </a:t>
            </a:r>
            <a:r>
              <a:rPr lang="en-GB"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Weisfeiler</a:t>
            </a: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–Leman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Formula compression technique in </a:t>
            </a:r>
            <a:r>
              <a:rPr lang="en-GB" sz="24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[GLNS ‘23] </a:t>
            </a: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worth investigating further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Tighter lifting theorems also of independent interest</a:t>
            </a:r>
          </a:p>
        </p:txBody>
      </p:sp>
    </p:spTree>
    <p:extLst>
      <p:ext uri="{BB962C8B-B14F-4D97-AF65-F5344CB8AC3E}">
        <p14:creationId xmlns:p14="http://schemas.microsoft.com/office/powerpoint/2010/main" val="410478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5122F-8BE3-714E-6451-73EE8ED53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D4932-09BE-E090-6660-A86DAB15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38</a:t>
            </a:fld>
            <a:endParaRPr lang="en-GB" dirty="0"/>
          </a:p>
        </p:txBody>
      </p:sp>
      <p:sp>
        <p:nvSpPr>
          <p:cNvPr id="10" name="Foliennummernplatzhalter 4">
            <a:extLst>
              <a:ext uri="{FF2B5EF4-FFF2-40B4-BE49-F238E27FC236}">
                <a16:creationId xmlns:a16="http://schemas.microsoft.com/office/drawing/2014/main" id="{260FC494-B068-6232-D868-83C37366FA33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530D112-B9FF-4E08-90B6-37EA964743A0}" type="slidenum">
              <a:rPr lang="en-GB" smtClean="0"/>
              <a:pPr/>
              <a:t>38</a:t>
            </a:fld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448672-A550-9373-9DA8-ECA7A0739AF0}"/>
              </a:ext>
            </a:extLst>
          </p:cNvPr>
          <p:cNvSpPr txBox="1"/>
          <p:nvPr/>
        </p:nvSpPr>
        <p:spPr>
          <a:xfrm>
            <a:off x="909089" y="574132"/>
            <a:ext cx="8816082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altLang="zh-CN" sz="28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Some Open Problems</a:t>
            </a:r>
            <a:endParaRPr lang="en-GB" altLang="zh-CN" sz="2400" dirty="0">
              <a:solidFill>
                <a:srgbClr val="3C28FB"/>
              </a:solidFill>
              <a:latin typeface="Lato SemiBold" panose="020F0502020204030203" pitchFamily="34" charset="0"/>
              <a:ea typeface="Lato SemiBold" panose="020F0502020204030203" pitchFamily="34" charset="0"/>
              <a:cs typeface="Lato SemiBold" panose="020F050202020403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2AECB1-4B70-E7FC-AA6F-C321E6F339B9}"/>
              </a:ext>
            </a:extLst>
          </p:cNvPr>
          <p:cNvSpPr txBox="1"/>
          <p:nvPr/>
        </p:nvSpPr>
        <p:spPr>
          <a:xfrm>
            <a:off x="1060211" y="1731021"/>
            <a:ext cx="959829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Further applications of compression in proof complexity</a:t>
            </a:r>
          </a:p>
          <a:p>
            <a:pPr marL="800100" lvl="1" indent="-342900">
              <a:buFontTx/>
              <a:buChar char="─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Can pebbling formulas be compressed?</a:t>
            </a:r>
          </a:p>
          <a:p>
            <a:pPr marL="800100" lvl="1" indent="-342900">
              <a:buFontTx/>
              <a:buChar char="─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Can we find other graph compressions?</a:t>
            </a:r>
          </a:p>
          <a:p>
            <a:pPr marL="800100" lvl="1" indent="-342900">
              <a:buFontTx/>
              <a:buChar char="─"/>
            </a:pPr>
            <a:endParaRPr lang="en-GB" sz="24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Prove more supercritical trade-offs</a:t>
            </a:r>
          </a:p>
          <a:p>
            <a:pPr marL="800100" lvl="1" indent="-342900">
              <a:buFontTx/>
              <a:buChar char="─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Size vs space or similar</a:t>
            </a:r>
          </a:p>
          <a:p>
            <a:pPr marL="800100" lvl="1" indent="-342900">
              <a:buFontTx/>
              <a:buChar char="─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Unified parameter range with </a:t>
            </a:r>
            <a:r>
              <a:rPr lang="en-GB" sz="2400" dirty="0">
                <a:solidFill>
                  <a:srgbClr val="3C28FB"/>
                </a:solidFill>
                <a:latin typeface="Lato light" panose="020F0502020204030203" pitchFamily="34" charset="0"/>
                <a:ea typeface="Lato light" panose="020F0502020204030203" pitchFamily="34" charset="0"/>
                <a:cs typeface="Lato light" panose="020F0502020204030203" pitchFamily="34" charset="0"/>
              </a:rPr>
              <a:t>[GMRS ‘24]</a:t>
            </a:r>
          </a:p>
          <a:p>
            <a:pPr marL="800100" lvl="1" indent="-342900">
              <a:buFontTx/>
              <a:buChar char="─"/>
            </a:pPr>
            <a:endParaRPr lang="en-GB" sz="2400" dirty="0">
              <a:solidFill>
                <a:srgbClr val="3C28FB"/>
              </a:solidFill>
              <a:latin typeface="Lato light" panose="020F0502020204030203" pitchFamily="34" charset="0"/>
              <a:ea typeface="Lato light" panose="020F0502020204030203" pitchFamily="34" charset="0"/>
              <a:cs typeface="Lato light" panose="020F0502020204030203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Complexity of </a:t>
            </a:r>
            <a:r>
              <a:rPr lang="en-GB" sz="24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Tseitin</a:t>
            </a: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formulas for cutting planes</a:t>
            </a:r>
          </a:p>
          <a:p>
            <a:pPr marL="800100" lvl="1" indent="-342900">
              <a:buFontTx/>
              <a:buChar char="─"/>
            </a:pPr>
            <a:r>
              <a:rPr lang="en-GB" sz="24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Are there supercritical trade-offs?</a:t>
            </a:r>
          </a:p>
        </p:txBody>
      </p:sp>
    </p:spTree>
    <p:extLst>
      <p:ext uri="{BB962C8B-B14F-4D97-AF65-F5344CB8AC3E}">
        <p14:creationId xmlns:p14="http://schemas.microsoft.com/office/powerpoint/2010/main" val="819447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D14DD-CF60-D886-C902-2474B350A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7662D-F898-6A31-9F07-DECE9E83E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30D112-B9FF-4E08-90B6-37EA964743A0}" type="slidenum">
              <a:rPr lang="en-GB" smtClean="0"/>
              <a:t>39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481324-923E-D4AF-45B7-9CEE684E1A00}"/>
              </a:ext>
            </a:extLst>
          </p:cNvPr>
          <p:cNvSpPr txBox="1"/>
          <p:nvPr/>
        </p:nvSpPr>
        <p:spPr>
          <a:xfrm>
            <a:off x="1118945" y="412055"/>
            <a:ext cx="10559911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0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Conclusion</a:t>
            </a:r>
          </a:p>
          <a:p>
            <a:endParaRPr lang="en-GB" sz="1000" dirty="0">
              <a:solidFill>
                <a:srgbClr val="3C28FB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 give </a:t>
            </a:r>
            <a:r>
              <a:rPr lang="en-GB" sz="2200" i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truly</a:t>
            </a:r>
            <a:r>
              <a:rPr lang="en-GB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supercritical (in terms of size) trade-offs for </a:t>
            </a:r>
          </a:p>
          <a:p>
            <a:r>
              <a:rPr lang="en-GB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</a:t>
            </a:r>
            <a:r>
              <a:rPr lang="en-GB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— proof complexity (resolution and cutting planes)</a:t>
            </a:r>
          </a:p>
          <a:p>
            <a:r>
              <a:rPr lang="en-GB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 — monotone circuits</a:t>
            </a:r>
          </a:p>
          <a:p>
            <a:r>
              <a:rPr lang="en-GB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 — </a:t>
            </a:r>
            <a:r>
              <a:rPr lang="en-GB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Weisfeiler</a:t>
            </a:r>
            <a:r>
              <a:rPr lang="en-GB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–Leman algorithm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Proof in two steps:</a:t>
            </a:r>
          </a:p>
          <a:p>
            <a:r>
              <a:rPr lang="en-GB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 — Base trade-off width vs depth for </a:t>
            </a:r>
            <a:r>
              <a:rPr lang="en-GB" sz="2000" b="1" dirty="0">
                <a:solidFill>
                  <a:srgbClr val="3C28F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compressed</a:t>
            </a:r>
            <a:r>
              <a:rPr lang="en-GB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sz="20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Tseitin</a:t>
            </a:r>
            <a:r>
              <a:rPr lang="en-GB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formulas </a:t>
            </a:r>
          </a:p>
          <a:p>
            <a:r>
              <a:rPr lang="en-GB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	 — Lifting theorems with </a:t>
            </a:r>
            <a:r>
              <a:rPr lang="en-GB" sz="2000" b="1" dirty="0">
                <a:solidFill>
                  <a:srgbClr val="3C28F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improved parameters </a:t>
            </a:r>
            <a:r>
              <a:rPr lang="en-GB" sz="2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yield other results</a:t>
            </a:r>
          </a:p>
          <a:p>
            <a:endParaRPr lang="en-GB" sz="1000" dirty="0">
              <a:solidFill>
                <a:srgbClr val="3C28FB"/>
              </a:solidFill>
            </a:endParaRPr>
          </a:p>
          <a:p>
            <a:endParaRPr lang="en-GB" sz="1000" dirty="0">
              <a:solidFill>
                <a:srgbClr val="3C28FB"/>
              </a:solidFill>
            </a:endParaRPr>
          </a:p>
          <a:p>
            <a:endParaRPr lang="en-GB" sz="1000" dirty="0">
              <a:solidFill>
                <a:srgbClr val="3C28FB"/>
              </a:solidFill>
            </a:endParaRPr>
          </a:p>
          <a:p>
            <a:endParaRPr lang="en-GB" sz="1000" dirty="0">
              <a:solidFill>
                <a:srgbClr val="3C28FB"/>
              </a:solidFill>
            </a:endParaRPr>
          </a:p>
          <a:p>
            <a:r>
              <a:rPr lang="en-GB" sz="3000" dirty="0"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Future </a:t>
            </a:r>
            <a:r>
              <a:rPr lang="en-GB" sz="3000" dirty="0">
                <a:solidFill>
                  <a:srgbClr val="3C28FB"/>
                </a:solidFill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Supercritical</a:t>
            </a:r>
            <a:r>
              <a:rPr lang="en-GB" sz="3000" dirty="0">
                <a:latin typeface="Lato SemiBold" panose="020F0502020204030203" pitchFamily="34" charset="0"/>
                <a:ea typeface="Lato SemiBold" panose="020F0502020204030203" pitchFamily="34" charset="0"/>
                <a:cs typeface="Lato SemiBold" panose="020F0502020204030203" pitchFamily="34" charset="0"/>
              </a:rPr>
              <a:t> Research Directions</a:t>
            </a:r>
          </a:p>
          <a:p>
            <a:endParaRPr lang="en-GB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Via </a:t>
            </a:r>
            <a:r>
              <a:rPr lang="en-GB" sz="2200" b="1" dirty="0">
                <a:solidFill>
                  <a:srgbClr val="3C28F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compression</a:t>
            </a:r>
            <a:r>
              <a:rPr lang="en-GB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of other formulas or graphs?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Trade-offs for </a:t>
            </a:r>
            <a:r>
              <a:rPr lang="en-GB" sz="2200" b="1" dirty="0">
                <a:solidFill>
                  <a:srgbClr val="3C28F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other measures </a:t>
            </a:r>
            <a:r>
              <a:rPr lang="en-GB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(e.g. size vs space)?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2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Size-depth trade-offs for </a:t>
            </a:r>
            <a:r>
              <a:rPr lang="en-GB" sz="2200" b="1" dirty="0">
                <a:solidFill>
                  <a:srgbClr val="3C28F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(uncompressed) </a:t>
            </a:r>
            <a:r>
              <a:rPr lang="en-GB" sz="2200" b="1" dirty="0" err="1">
                <a:solidFill>
                  <a:srgbClr val="3C28F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Tseitin</a:t>
            </a:r>
            <a:r>
              <a:rPr lang="en-GB" sz="2200" b="1" dirty="0">
                <a:solidFill>
                  <a:srgbClr val="3C28F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r>
              <a:rPr lang="en-GB" sz="2200" b="1">
                <a:solidFill>
                  <a:srgbClr val="3C28FB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formulas</a:t>
            </a:r>
            <a:r>
              <a:rPr lang="en-GB" sz="2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?</a:t>
            </a:r>
            <a:endParaRPr lang="en-GB" sz="22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474E2C-3CB3-ACA6-AA12-45DD95796BEB}"/>
              </a:ext>
            </a:extLst>
          </p:cNvPr>
          <p:cNvSpPr txBox="1"/>
          <p:nvPr/>
        </p:nvSpPr>
        <p:spPr>
          <a:xfrm rot="20977230">
            <a:off x="8243371" y="3763449"/>
            <a:ext cx="375458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400" dirty="0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Thanks 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3557293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2">
      <a:majorFont>
        <a:latin typeface="Iskoola Pota"/>
        <a:ea typeface=""/>
        <a:cs typeface=""/>
      </a:majorFont>
      <a:minorFont>
        <a:latin typeface="Iskoola Pot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supercritical-miao-seminar</Template>
  <TotalTime>8552</TotalTime>
  <Words>3520</Words>
  <Application>Microsoft Office PowerPoint</Application>
  <PresentationFormat>Widescreen</PresentationFormat>
  <Paragraphs>713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0" baseType="lpstr">
      <vt:lpstr>Arial</vt:lpstr>
      <vt:lpstr>Calibri</vt:lpstr>
      <vt:lpstr>Cambria Math</vt:lpstr>
      <vt:lpstr>Courier New</vt:lpstr>
      <vt:lpstr>Iskoola Pota</vt:lpstr>
      <vt:lpstr>Lato</vt:lpstr>
      <vt:lpstr>Lato Light</vt:lpstr>
      <vt:lpstr>Lato Light</vt:lpstr>
      <vt:lpstr>Lato SemiBold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Duri Andrea Janett</dc:creator>
  <cp:lastModifiedBy>Jakob Nordström</cp:lastModifiedBy>
  <cp:revision>65</cp:revision>
  <cp:lastPrinted>2024-01-31T23:11:53Z</cp:lastPrinted>
  <dcterms:created xsi:type="dcterms:W3CDTF">2025-06-17T14:50:31Z</dcterms:created>
  <dcterms:modified xsi:type="dcterms:W3CDTF">2026-08-19T04:39:39Z</dcterms:modified>
</cp:coreProperties>
</file>